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10287000" cx="18288000"/>
  <p:notesSz cx="10287000" cy="18288000"/>
  <p:embeddedFontLst>
    <p:embeddedFont>
      <p:font typeface="Montserrat SemiBold"/>
      <p:regular r:id="rId63"/>
      <p:bold r:id="rId64"/>
      <p:italic r:id="rId65"/>
      <p:boldItalic r:id="rId66"/>
    </p:embeddedFont>
    <p:embeddedFont>
      <p:font typeface="Montserrat"/>
      <p:regular r:id="rId67"/>
      <p:bold r:id="rId68"/>
      <p:italic r:id="rId69"/>
      <p:boldItalic r:id="rId70"/>
    </p:embeddedFont>
    <p:embeddedFont>
      <p:font typeface="Inter"/>
      <p:regular r:id="rId71"/>
      <p:bold r:id="rId72"/>
      <p:italic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75" roundtripDataSignature="AMtx7mirhdcEzCTyofk7DFCcTD3zzUSA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023395-B522-4359-B800-2BFD0772FF41}">
  <a:tblStyle styleId="{82023395-B522-4359-B800-2BFD0772FF4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Inter-italic.fntdata"/><Relationship Id="rId72" Type="http://schemas.openxmlformats.org/officeDocument/2006/relationships/font" Target="fonts/Inter-bold.fntdata"/><Relationship Id="rId31" Type="http://schemas.openxmlformats.org/officeDocument/2006/relationships/slide" Target="slides/slide25.xml"/><Relationship Id="rId75" Type="http://customschemas.google.com/relationships/presentationmetadata" Target="metadata"/><Relationship Id="rId30" Type="http://schemas.openxmlformats.org/officeDocument/2006/relationships/slide" Target="slides/slide24.xml"/><Relationship Id="rId74" Type="http://schemas.openxmlformats.org/officeDocument/2006/relationships/font" Target="fonts/Inter-bold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Inter-regular.fntdata"/><Relationship Id="rId70" Type="http://schemas.openxmlformats.org/officeDocument/2006/relationships/font" Target="fonts/Montserrat-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MontserratSemiBold-bold.fntdata"/><Relationship Id="rId63" Type="http://schemas.openxmlformats.org/officeDocument/2006/relationships/font" Target="fonts/MontserratSemiBold-regular.fntdata"/><Relationship Id="rId22" Type="http://schemas.openxmlformats.org/officeDocument/2006/relationships/slide" Target="slides/slide16.xml"/><Relationship Id="rId66" Type="http://schemas.openxmlformats.org/officeDocument/2006/relationships/font" Target="fonts/MontserratSemiBold-boldItalic.fntdata"/><Relationship Id="rId21" Type="http://schemas.openxmlformats.org/officeDocument/2006/relationships/slide" Target="slides/slide15.xml"/><Relationship Id="rId65" Type="http://schemas.openxmlformats.org/officeDocument/2006/relationships/font" Target="fonts/MontserratSemiBold-italic.fntdata"/><Relationship Id="rId24" Type="http://schemas.openxmlformats.org/officeDocument/2006/relationships/slide" Target="slides/slide18.xml"/><Relationship Id="rId68" Type="http://schemas.openxmlformats.org/officeDocument/2006/relationships/font" Target="fonts/Montserrat-bold.fntdata"/><Relationship Id="rId23" Type="http://schemas.openxmlformats.org/officeDocument/2006/relationships/slide" Target="slides/slide17.xml"/><Relationship Id="rId67" Type="http://schemas.openxmlformats.org/officeDocument/2006/relationships/font" Target="fonts/Montserrat-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Montserrat-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 name="Shape 13"/>
        <p:cNvGrpSpPr/>
        <p:nvPr/>
      </p:nvGrpSpPr>
      <p:grpSpPr>
        <a:xfrm>
          <a:off x="0" y="0"/>
          <a:ext cx="0" cy="0"/>
          <a:chOff x="0" y="0"/>
          <a:chExt cx="0" cy="0"/>
        </a:xfrm>
      </p:grpSpPr>
      <p:sp>
        <p:nvSpPr>
          <p:cNvPr id="14" name="Google Shape;1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 name="Google Shape;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Hello everyone, we are Team EyeQ, and this is our Sprint 1 presentation for DUAL, an AI tool that screens for cataract and glaucoma from a single photo of the back of the eye. It’s a triage tool: it helps decide who should see an eye specialist. It does not give a diagnosis.</a:t>
            </a:r>
            <a:endParaRPr/>
          </a:p>
        </p:txBody>
      </p:sp>
      <p:sp>
        <p:nvSpPr>
          <p:cNvPr id="16" name="Google Shape;1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 name="Google Shape;4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Here’s our plan for today. We start with the team and the improvements we made after Sprint 0 feedback. Then a short recap of the project, and then the main part: what we did in Sprint 1. That covers our backlog, test cases, metrics and retrospective, followed by our Sprint 2 plan and a demo. Now each of us will introduce ourselves.</a:t>
            </a:r>
            <a:endParaRPr/>
          </a:p>
        </p:txBody>
      </p:sp>
      <p:sp>
        <p:nvSpPr>
          <p:cNvPr id="49" name="Google Shape;4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 name="Google Shape;10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582754c433727a4c_0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h582754c433727a4c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582754c433727a4c_0_2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h582754c433727a4c_0_2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First, a quick recap of the project for anyone who missed Sprint 0</a:t>
            </a:r>
            <a:endParaRPr/>
          </a:p>
        </p:txBody>
      </p:sp>
      <p:sp>
        <p:nvSpPr>
          <p:cNvPr id="176" name="Google Shape;176;h582754c433727a4c_0_2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Cataract and glaucoma cause a large share of the world’s vision loss, but in opposite ways. Cataract is treatable if it’s caught, and it causes about 45% of blindness worldwide. Glaucoma has no symptoms until the damage is permanent, and about half of people with glaucoma in the US don’t know they have it. Both need regular screening that many at-risk patients never get. AI screeners also tend to perform worse on photos from clinics they weren’t trained on, which is the problem we focus on.</a:t>
            </a:r>
            <a:endParaRPr/>
          </a:p>
        </p:txBody>
      </p:sp>
      <p:sp>
        <p:nvSpPr>
          <p:cNvPr id="185" name="Google Shape;18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Our hypothesis: if primary care and community screening sites have a single-photo tool that flags both conditions, more at-risk patients get referred before damage is done. We’ll know we’re right if the model holds up on photos from different cameras and patient groups it never trained on, not only on our own test data.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Next Negar</a:t>
            </a:r>
            <a:endParaRPr/>
          </a:p>
        </p:txBody>
      </p:sp>
      <p:sp>
        <p:nvSpPr>
          <p:cNvPr id="207" name="Google Shape;20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Project description — what the project IS.</a:t>
            </a:r>
            <a:endParaRPr/>
          </a:p>
        </p:txBody>
      </p:sp>
      <p:sp>
        <p:nvSpPr>
          <p:cNvPr id="226" name="Google Shape;22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Steps 3 and 4 of the screening flow, plus scope boundary.</a:t>
            </a:r>
            <a:endParaRPr/>
          </a:p>
        </p:txBody>
      </p:sp>
      <p:sp>
        <p:nvSpPr>
          <p:cNvPr id="250" name="Google Shape;2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Team working agreement.</a:t>
            </a:r>
            <a:endParaRPr/>
          </a:p>
        </p:txBody>
      </p:sp>
      <p:sp>
        <p:nvSpPr>
          <p:cNvPr id="275" name="Google Shape;27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Project schedule, cadence, and sprint deliverables.</a:t>
            </a:r>
            <a:endParaRPr/>
          </a:p>
        </p:txBody>
      </p:sp>
      <p:sp>
        <p:nvSpPr>
          <p:cNvPr id="296" name="Google Shape;29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Persona 1 of 3 — Helen Whitfield, at-risk older adult.</a:t>
            </a:r>
            <a:endParaRPr/>
          </a:p>
        </p:txBody>
      </p:sp>
      <p:sp>
        <p:nvSpPr>
          <p:cNvPr id="326" name="Google Shape;32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Persona 2 of 3 — Arun Desai, screening technician.</a:t>
            </a:r>
            <a:endParaRPr/>
          </a:p>
        </p:txBody>
      </p:sp>
      <p:sp>
        <p:nvSpPr>
          <p:cNvPr id="365" name="Google Shape;36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Persona 3 of 3 — Dr. Maya Rao, primary care 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hysician.</a:t>
            </a:r>
            <a:endParaRPr/>
          </a:p>
        </p:txBody>
      </p:sp>
      <p:sp>
        <p:nvSpPr>
          <p:cNvPr id="406" name="Google Shape;40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Walkthrough: capture, screen, review, next step.</a:t>
            </a:r>
            <a:endParaRPr/>
          </a:p>
        </p:txBody>
      </p:sp>
      <p:sp>
        <p:nvSpPr>
          <p:cNvPr id="447" name="Google Shape;44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h4b3dc0f200666b78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h4b3dc0f200666b78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6:notes"/>
          <p:cNvSpPr/>
          <p:nvPr>
            <p:ph idx="2" type="sldImg"/>
          </p:nvPr>
        </p:nvSpPr>
        <p:spPr>
          <a:xfrm>
            <a:off x="0" y="0"/>
            <a:ext cx="4500000" cy="45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6" name="Google Shape;526;p16:notes"/>
          <p:cNvSpPr txBox="1"/>
          <p:nvPr>
            <p:ph idx="1" type="body"/>
          </p:nvPr>
        </p:nvSpPr>
        <p:spPr>
          <a:xfrm>
            <a:off x="0" y="0"/>
            <a:ext cx="4500000" cy="4500000"/>
          </a:xfrm>
          <a:prstGeom prst="rect">
            <a:avLst/>
          </a:prstGeom>
          <a:noFill/>
          <a:ln>
            <a:noFill/>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SzPts val="1400"/>
              <a:buNone/>
            </a:pPr>
            <a:r>
              <a:t/>
            </a:r>
            <a:endParaRPr sz="1800">
              <a:solidFill>
                <a:schemeClr val="dk1"/>
              </a:solidFill>
              <a:latin typeface="Arial"/>
              <a:ea typeface="Arial"/>
              <a:cs typeface="Arial"/>
              <a:sym typeface="Arial"/>
            </a:endParaRPr>
          </a:p>
        </p:txBody>
      </p:sp>
      <p:sp>
        <p:nvSpPr>
          <p:cNvPr id="527" name="Google Shape;527;p16:notes"/>
          <p:cNvSpPr txBox="1"/>
          <p:nvPr>
            <p:ph idx="12" type="sldNum"/>
          </p:nvPr>
        </p:nvSpPr>
        <p:spPr>
          <a:xfrm>
            <a:off x="0" y="0"/>
            <a:ext cx="4500000" cy="4500000"/>
          </a:xfrm>
          <a:prstGeom prst="rect">
            <a:avLst/>
          </a:prstGeom>
          <a:noFill/>
          <a:ln>
            <a:noFill/>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SzPts val="2700"/>
              <a:buNone/>
            </a:pPr>
            <a:fld id="{00000000-1234-1234-1234-123412341234}" type="slidenum">
              <a:rPr lang="en-US" sz="2700">
                <a:solidFill>
                  <a:schemeClr val="dk1"/>
                </a:solidFill>
                <a:latin typeface="Arial"/>
                <a:ea typeface="Arial"/>
                <a:cs typeface="Arial"/>
                <a:sym typeface="Arial"/>
              </a:rPr>
              <a:t>‹#›</a:t>
            </a:fld>
            <a:endParaRPr sz="27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Algorithms and evaluation plan.</a:t>
            </a:r>
            <a:endParaRPr/>
          </a:p>
        </p:txBody>
      </p:sp>
      <p:sp>
        <p:nvSpPr>
          <p:cNvPr id="619" name="Google Shape;61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is the overall architecture of DUAL, read from left to right.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First, the data. We build one label per eye from the ODIR-5K spreadsheet and split patients into training, validation and test. Some eyes are held out on purpose, like media-opacity and low-quality photos, so we can use them later as safety checks. The external datasets have their own label files and are used only for testing, never for training or tuning.</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All photos go through the same preprocessing: we crop the fundus and resize it to 512 by 512.</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the middle are the models. For our ablation, we trained three versions on the same ResNet-50 backbone: a shared model with both heads, a glaucoma-only model and a cataract-only model, three seeds each. The best checkpoints are stored in GitHub Releases.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Next is calibration. It is fitted on validation data only, separately for each model, and sets the thresholds and when the model is not confident enough, which gives “Uncertain, refer”. The settings are now frozen: at least 90% of sick eyes found on validation, and seed 42 is the model the app will use. Next, we run the evaluation once on the internal test set and the external sets, plus our safety checks.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right is the screening app: a React web app talking toa FastAPI </a:t>
            </a:r>
            <a:r>
              <a:rPr lang="en-US" sz="1100">
                <a:latin typeface="Arial"/>
                <a:ea typeface="Arial"/>
                <a:cs typeface="Arial"/>
                <a:sym typeface="Arial"/>
              </a:rPr>
              <a:t>backend</a:t>
            </a:r>
            <a:r>
              <a:rPr lang="en-US" sz="1100">
                <a:latin typeface="Arial"/>
                <a:ea typeface="Arial"/>
                <a:cs typeface="Arial"/>
                <a:sym typeface="Arial"/>
              </a:rPr>
              <a:t> with a Supabase database and photo storage. In Sprint 1, it runs on a mock model; the real model comes in Sprint 3.</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667" name="Google Shape;66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h477ccb3d9d7ecdff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context diagram shows DUAL as one system and everything around it.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At the top are the </a:t>
            </a:r>
            <a:r>
              <a:rPr b="1" lang="en-US" sz="1100">
                <a:latin typeface="Arial"/>
                <a:ea typeface="Arial"/>
                <a:cs typeface="Arial"/>
                <a:sym typeface="Arial"/>
              </a:rPr>
              <a:t>inputs</a:t>
            </a:r>
            <a:r>
              <a:rPr lang="en-US" sz="1100">
                <a:latin typeface="Arial"/>
                <a:ea typeface="Arial"/>
                <a:cs typeface="Arial"/>
                <a:sym typeface="Arial"/>
              </a:rPr>
              <a:t>. Our team trains and evaluates the system. </a:t>
            </a:r>
            <a:r>
              <a:rPr b="1" lang="en-US" sz="1100">
                <a:latin typeface="Arial"/>
                <a:ea typeface="Arial"/>
                <a:cs typeface="Arial"/>
                <a:sym typeface="Arial"/>
              </a:rPr>
              <a:t>ODIR-5K</a:t>
            </a:r>
            <a:r>
              <a:rPr lang="en-US" sz="1100">
                <a:latin typeface="Arial"/>
                <a:ea typeface="Arial"/>
                <a:cs typeface="Arial"/>
                <a:sym typeface="Arial"/>
              </a:rPr>
              <a:t> gives the training, validation and internal test data, and the </a:t>
            </a:r>
            <a:r>
              <a:rPr b="1" lang="en-US" sz="1100">
                <a:latin typeface="Arial"/>
                <a:ea typeface="Arial"/>
                <a:cs typeface="Arial"/>
                <a:sym typeface="Arial"/>
              </a:rPr>
              <a:t>external datasets</a:t>
            </a:r>
            <a:r>
              <a:rPr lang="en-US" sz="1100">
                <a:latin typeface="Arial"/>
                <a:ea typeface="Arial"/>
                <a:cs typeface="Arial"/>
                <a:sym typeface="Arial"/>
              </a:rPr>
              <a:t> are used only for testing, after all settings are frozen. Training runs on </a:t>
            </a:r>
            <a:r>
              <a:rPr b="1" lang="en-US" sz="1100">
                <a:latin typeface="Arial"/>
                <a:ea typeface="Arial"/>
                <a:cs typeface="Arial"/>
                <a:sym typeface="Arial"/>
              </a:rPr>
              <a:t>Google Colab and Kaggle GPUs</a:t>
            </a:r>
            <a:r>
              <a:rPr lang="en-US" sz="1100">
                <a:latin typeface="Arial"/>
                <a:ea typeface="Arial"/>
                <a:cs typeface="Arial"/>
                <a:sym typeface="Arial"/>
              </a:rPr>
              <a:t>, and our code, labels and results live on </a:t>
            </a:r>
            <a:r>
              <a:rPr b="1" lang="en-US" sz="1100">
                <a:latin typeface="Arial"/>
                <a:ea typeface="Arial"/>
                <a:cs typeface="Arial"/>
                <a:sym typeface="Arial"/>
              </a:rPr>
              <a:t>GitHub</a:t>
            </a:r>
            <a:r>
              <a:rPr lang="en-US" sz="1100">
                <a:latin typeface="Arial"/>
                <a:ea typeface="Arial"/>
                <a:cs typeface="Arial"/>
                <a:sym typeface="Arial"/>
              </a:rPr>
              <a:t>. Hosting is planned for later.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At the bottom are the </a:t>
            </a:r>
            <a:r>
              <a:rPr b="1" lang="en-US" sz="1100">
                <a:latin typeface="Arial"/>
                <a:ea typeface="Arial"/>
                <a:cs typeface="Arial"/>
                <a:sym typeface="Arial"/>
              </a:rPr>
              <a:t>users and outputs</a:t>
            </a:r>
            <a:r>
              <a:rPr lang="en-US" sz="1100">
                <a:latin typeface="Arial"/>
                <a:ea typeface="Arial"/>
                <a:cs typeface="Arial"/>
                <a:sym typeface="Arial"/>
              </a:rPr>
              <a:t>. The </a:t>
            </a:r>
            <a:r>
              <a:rPr b="1" lang="en-US" sz="1100">
                <a:latin typeface="Arial"/>
                <a:ea typeface="Arial"/>
                <a:cs typeface="Arial"/>
                <a:sym typeface="Arial"/>
              </a:rPr>
              <a:t>optometrist</a:t>
            </a:r>
            <a:r>
              <a:rPr lang="en-US" sz="1100">
                <a:latin typeface="Arial"/>
                <a:ea typeface="Arial"/>
                <a:cs typeface="Arial"/>
                <a:sym typeface="Arial"/>
              </a:rPr>
              <a:t> uploads a fundus photo and gets back the scores, a heatmap and the result: Refer, No concern or Uncertain, refer. Screenings and photos are stored in Supabase, and our trained model weights are saved in </a:t>
            </a:r>
            <a:r>
              <a:rPr b="1" lang="en-US" sz="1100">
                <a:latin typeface="Arial"/>
                <a:ea typeface="Arial"/>
                <a:cs typeface="Arial"/>
                <a:sym typeface="Arial"/>
              </a:rPr>
              <a:t>GitHub Releases</a:t>
            </a:r>
            <a:endParaRPr b="1" sz="1100">
              <a:latin typeface="Arial"/>
              <a:ea typeface="Arial"/>
              <a:cs typeface="Arial"/>
              <a:sym typeface="Arial"/>
            </a:endParaRPr>
          </a:p>
          <a:p>
            <a:pPr indent="0" lvl="0" marL="0" rtl="0" algn="l">
              <a:spcBef>
                <a:spcPts val="1200"/>
              </a:spcBef>
              <a:spcAft>
                <a:spcPts val="0"/>
              </a:spcAft>
              <a:buNone/>
            </a:pPr>
            <a:r>
              <a:t/>
            </a:r>
            <a:endParaRPr/>
          </a:p>
        </p:txBody>
      </p:sp>
      <p:sp>
        <p:nvSpPr>
          <p:cNvPr id="677" name="Google Shape;677;h477ccb3d9d7ecdff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h477ccb3d9d7ecdff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ER diagram shows our data in two parts.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left is the research data. Each ODIR patient has two eyes, and each eye has its labels and belongs to one split: train, validation, test, holdout or excluded. We split by patient, so both eyes of a patient never end up in two different groups among train, validation and test, which avoids data leakage. The external test sets each have their own label file, with one row per image.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right is the app database. A user signs in and runs screenings. Each patient has images, and each image records whether it passed the quality check. A screening uses one image and has two condition results, cataract and glaucoma, unless the eye is skipped. Each result has a raw score, a calibrated score and a result. Each condition result can have a heatmap, and every screening records the model version that produced it. Right now that is the mock model, with placeholder thresholds.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read the tables: PK (primary key) is each table’s unique ID, like SCR-0001 for a screening, and FK (foreign key) is a link to another table’s ID, like a screening pointing to its patient. All patient data in the app is dummy data.</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687" name="Google Shape;687;h477ccb3d9d7ecdff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h477ccb3d9d7ecdff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diagram shows one screening, step by step, from top to bottom.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optometrist chooses a patient and an eye and uploads a photo in the </a:t>
            </a:r>
            <a:r>
              <a:rPr b="1" lang="en-US" sz="1100">
                <a:latin typeface="Arial"/>
                <a:ea typeface="Arial"/>
                <a:cs typeface="Arial"/>
                <a:sym typeface="Arial"/>
              </a:rPr>
              <a:t>React app</a:t>
            </a:r>
            <a:r>
              <a:rPr lang="en-US" sz="1100">
                <a:latin typeface="Arial"/>
                <a:ea typeface="Arial"/>
                <a:cs typeface="Arial"/>
                <a:sym typeface="Arial"/>
              </a:rPr>
              <a:t>. The app sends it to our </a:t>
            </a:r>
            <a:r>
              <a:rPr b="1" lang="en-US" sz="1100">
                <a:latin typeface="Arial"/>
                <a:ea typeface="Arial"/>
                <a:cs typeface="Arial"/>
                <a:sym typeface="Arial"/>
              </a:rPr>
              <a:t>FastAPI</a:t>
            </a:r>
            <a:r>
              <a:rPr lang="en-US" sz="1100">
                <a:latin typeface="Arial"/>
                <a:ea typeface="Arial"/>
                <a:cs typeface="Arial"/>
                <a:sym typeface="Arial"/>
              </a:rPr>
              <a:t> back end, which first runs the </a:t>
            </a:r>
            <a:r>
              <a:rPr b="1" lang="en-US" sz="1100">
                <a:latin typeface="Arial"/>
                <a:ea typeface="Arial"/>
                <a:cs typeface="Arial"/>
                <a:sym typeface="Arial"/>
              </a:rPr>
              <a:t>quality check</a:t>
            </a:r>
            <a:r>
              <a:rPr lang="en-US" sz="1100">
                <a:latin typeface="Arial"/>
                <a:ea typeface="Arial"/>
                <a:cs typeface="Arial"/>
                <a:sym typeface="Arial"/>
              </a:rPr>
              <a:t>. If the photo can’t be used, because the file won’t open, it’s almost black or it isn’t an eye photo, the app shows an alert and asks for a retake.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If the photo passes, the user clicks </a:t>
            </a:r>
            <a:r>
              <a:rPr b="1" lang="en-US" sz="1100">
                <a:latin typeface="Arial"/>
                <a:ea typeface="Arial"/>
                <a:cs typeface="Arial"/>
                <a:sym typeface="Arial"/>
              </a:rPr>
              <a:t>Screen this photo</a:t>
            </a:r>
            <a:r>
              <a:rPr lang="en-US" sz="1100">
                <a:latin typeface="Arial"/>
                <a:ea typeface="Arial"/>
                <a:cs typeface="Arial"/>
                <a:sym typeface="Arial"/>
              </a:rPr>
              <a:t>. The back end preprocesses it and sends it to the </a:t>
            </a:r>
            <a:r>
              <a:rPr b="1" lang="en-US" sz="1100">
                <a:latin typeface="Arial"/>
                <a:ea typeface="Arial"/>
                <a:cs typeface="Arial"/>
                <a:sym typeface="Arial"/>
              </a:rPr>
              <a:t>model</a:t>
            </a:r>
            <a:r>
              <a:rPr lang="en-US" sz="1100">
                <a:latin typeface="Arial"/>
                <a:ea typeface="Arial"/>
                <a:cs typeface="Arial"/>
                <a:sym typeface="Arial"/>
              </a:rPr>
              <a:t>, which gives a raw score for cataract and for glaucoma. The </a:t>
            </a:r>
            <a:r>
              <a:rPr b="1" lang="en-US" sz="1100">
                <a:latin typeface="Arial"/>
                <a:ea typeface="Arial"/>
                <a:cs typeface="Arial"/>
                <a:sym typeface="Arial"/>
              </a:rPr>
              <a:t>calibrator</a:t>
            </a:r>
            <a:r>
              <a:rPr lang="en-US" sz="1100">
                <a:latin typeface="Arial"/>
                <a:ea typeface="Arial"/>
                <a:cs typeface="Arial"/>
                <a:sym typeface="Arial"/>
              </a:rPr>
              <a:t> first checks whether the model is confident; if not, the result is </a:t>
            </a:r>
            <a:r>
              <a:rPr i="1" lang="en-US" sz="1100">
                <a:latin typeface="Arial"/>
                <a:ea typeface="Arial"/>
                <a:cs typeface="Arial"/>
                <a:sym typeface="Arial"/>
              </a:rPr>
              <a:t>Uncertain, refer</a:t>
            </a:r>
            <a:r>
              <a:rPr lang="en-US" sz="1100">
                <a:latin typeface="Arial"/>
                <a:ea typeface="Arial"/>
                <a:cs typeface="Arial"/>
                <a:sym typeface="Arial"/>
              </a:rPr>
              <a:t>. If it is, it applies the disease threshold: </a:t>
            </a:r>
            <a:r>
              <a:rPr b="1" lang="en-US" sz="1100">
                <a:latin typeface="Arial"/>
                <a:ea typeface="Arial"/>
                <a:cs typeface="Arial"/>
                <a:sym typeface="Arial"/>
              </a:rPr>
              <a:t>Refer</a:t>
            </a:r>
            <a:r>
              <a:rPr lang="en-US" sz="1100">
                <a:latin typeface="Arial"/>
                <a:ea typeface="Arial"/>
                <a:cs typeface="Arial"/>
                <a:sym typeface="Arial"/>
              </a:rPr>
              <a:t> or </a:t>
            </a:r>
            <a:r>
              <a:rPr b="1" lang="en-US" sz="1100">
                <a:latin typeface="Arial"/>
                <a:ea typeface="Arial"/>
                <a:cs typeface="Arial"/>
                <a:sym typeface="Arial"/>
              </a:rPr>
              <a:t>No concern</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1200"/>
              </a:spcAft>
              <a:buNone/>
            </a:pPr>
            <a:r>
              <a:rPr lang="en-US" sz="1100">
                <a:latin typeface="Arial"/>
                <a:ea typeface="Arial"/>
                <a:cs typeface="Arial"/>
                <a:sym typeface="Arial"/>
              </a:rPr>
              <a:t>The eye is referred if either condition is Refer or Uncertain. Then we create the </a:t>
            </a:r>
            <a:r>
              <a:rPr b="1" lang="en-US" sz="1100">
                <a:latin typeface="Arial"/>
                <a:ea typeface="Arial"/>
                <a:cs typeface="Arial"/>
                <a:sym typeface="Arial"/>
              </a:rPr>
              <a:t>heatmaps</a:t>
            </a:r>
            <a:r>
              <a:rPr lang="en-US" sz="1100">
                <a:latin typeface="Arial"/>
                <a:ea typeface="Arial"/>
                <a:cs typeface="Arial"/>
                <a:sym typeface="Arial"/>
              </a:rPr>
              <a:t>, save everything in the database, and the Results screen shows the overall result, one chip per condition and the heatmap.</a:t>
            </a:r>
            <a:endParaRPr/>
          </a:p>
        </p:txBody>
      </p:sp>
      <p:sp>
        <p:nvSpPr>
          <p:cNvPr id="696" name="Google Shape;696;h477ccb3d9d7ecdff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h477ccb3d9d7ecdff_0_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This state diagram explains how our EyeQ application processes a single eye image, starting from the upload and ending with the final screening result.</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First, when a user uploads an image, the system performs a quality check to make sure the photo is suitable for analysis. For example, if the image is completely black, unreadable, or not a retinal image, the system rejects it and asks the user to retake the photo.</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If the image passes the quality check, it moves to our DUAL model, which analyzes the image and generates separate prediction scores for cataract and glaucoma.</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These scores then go through a calibration step, which helps make the model's confidence values more reliable.</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Now, the important part is how the system makes its decisions. For each disease, it first checks whether the model is confident enough in its prediction.</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If the model is uncertain, instead of making a potentially incorrect decision, the system recommends a referral. If the model is confident, it compares the prediction score against the disease-specific threshold to determine whether to refer the patient or report no concern.</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Finally, the system combines the results for both diseases. If either cataract or glaucoma requires referral, or if the prediction is uncertain, the overall result becomes Refer. Only when both conditions show no concern does the system return No concern.</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The final result is then saved, and the system also records cases where an eye was skipped. So overall, this workflow is designed to prioritize patient safety by avoiding confident decisions when the model is uncertain.</a:t>
            </a:r>
            <a:endParaRPr sz="1100">
              <a:latin typeface="Arial"/>
              <a:ea typeface="Arial"/>
              <a:cs typeface="Arial"/>
              <a:sym typeface="Arial"/>
            </a:endParaRPr>
          </a:p>
        </p:txBody>
      </p:sp>
      <p:sp>
        <p:nvSpPr>
          <p:cNvPr id="705" name="Google Shape;705;h477ccb3d9d7ecdff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h477ccb3d9d7ecdff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This class diagram shows how the different components of our EyeQ project are organized and connected. Each box represents a component and shows its current status, such as built, in review, planned, or mock. Starting from the top, we have our </a:t>
            </a:r>
            <a:r>
              <a:rPr b="1" lang="en-US" sz="1100">
                <a:latin typeface="Arial"/>
                <a:ea typeface="Arial"/>
                <a:cs typeface="Arial"/>
                <a:sym typeface="Arial"/>
              </a:rPr>
              <a:t>Screening API</a:t>
            </a:r>
            <a:r>
              <a:rPr lang="en-US" sz="1100">
                <a:latin typeface="Arial"/>
                <a:ea typeface="Arial"/>
                <a:cs typeface="Arial"/>
                <a:sym typeface="Arial"/>
              </a:rPr>
              <a:t>, which handles image uploads, quality checks, and screening results. It also connects with Supabase for storing screening information. Currently, the application uses a mock model until the real trained model is integrated. Moving down, we have the </a:t>
            </a:r>
            <a:r>
              <a:rPr b="1" lang="en-US" sz="1100">
                <a:latin typeface="Arial"/>
                <a:ea typeface="Arial"/>
                <a:cs typeface="Arial"/>
                <a:sym typeface="Arial"/>
              </a:rPr>
              <a:t>Calibrator</a:t>
            </a:r>
            <a:r>
              <a:rPr lang="en-US" sz="1100">
                <a:latin typeface="Arial"/>
                <a:ea typeface="Arial"/>
                <a:cs typeface="Arial"/>
                <a:sym typeface="Arial"/>
              </a:rPr>
              <a:t>, which handles prediction scores, thresholds, and uncertain results. We also have Grad-CAM, which is planned for generating heatmaps, and the Evaluator, which will help us test model performance. At the bottom, we have our </a:t>
            </a:r>
            <a:r>
              <a:rPr b="1" lang="en-US" sz="1100">
                <a:latin typeface="Arial"/>
                <a:ea typeface="Arial"/>
                <a:cs typeface="Arial"/>
                <a:sym typeface="Arial"/>
              </a:rPr>
              <a:t>shared ResNet-50 backbone</a:t>
            </a:r>
            <a:r>
              <a:rPr lang="en-US" sz="1100">
                <a:latin typeface="Arial"/>
                <a:ea typeface="Arial"/>
                <a:cs typeface="Arial"/>
                <a:sym typeface="Arial"/>
              </a:rPr>
              <a:t>, which supports three models. DualNet predicts both cataract and glaucoma, while GlaucomaNet and CataractOnlyNet predict each disease separately. These individual models allow us to compare their performance with DualNet. We also have training scripts and FundusDataset, which loads our preprocessed retinal images and labels from the ODIR dataset. </a:t>
            </a:r>
            <a:r>
              <a:rPr lang="en-US">
                <a:latin typeface="Arial"/>
                <a:ea typeface="Arial"/>
                <a:cs typeface="Arial"/>
                <a:sym typeface="Arial"/>
              </a:rPr>
              <a:t>Overall, this diagram shows how our existing components and planned features connect to form the complete EyeQ screening application.</a:t>
            </a:r>
            <a:r>
              <a:rPr lang="en-US" sz="1100">
                <a:latin typeface="Arial"/>
                <a:ea typeface="Arial"/>
                <a:cs typeface="Arial"/>
                <a:sym typeface="Arial"/>
              </a:rPr>
              <a:t> </a:t>
            </a:r>
            <a:endParaRPr sz="1100">
              <a:latin typeface="Arial"/>
              <a:ea typeface="Arial"/>
              <a:cs typeface="Arial"/>
              <a:sym typeface="Arial"/>
            </a:endParaRPr>
          </a:p>
          <a:p>
            <a:pPr indent="0" lvl="0" marL="0" rtl="0" algn="l">
              <a:lnSpc>
                <a:spcPct val="115000"/>
              </a:lnSpc>
              <a:spcBef>
                <a:spcPts val="1200"/>
              </a:spcBef>
              <a:spcAft>
                <a:spcPts val="1200"/>
              </a:spcAft>
              <a:buNone/>
            </a:pPr>
            <a:r>
              <a:t/>
            </a:r>
            <a:endParaRPr sz="1100">
              <a:latin typeface="Arial"/>
              <a:ea typeface="Arial"/>
              <a:cs typeface="Arial"/>
              <a:sym typeface="Arial"/>
            </a:endParaRPr>
          </a:p>
        </p:txBody>
      </p:sp>
      <p:sp>
        <p:nvSpPr>
          <p:cNvPr id="714" name="Google Shape;714;h477ccb3d9d7ecdff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h582754c433727a4c_0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h582754c433727a4c_0_2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Now the main part: what we did in Sprint 1, starting with our product backlog.</a:t>
            </a:r>
            <a:endParaRPr/>
          </a:p>
        </p:txBody>
      </p:sp>
      <p:sp>
        <p:nvSpPr>
          <p:cNvPr id="724" name="Google Shape;724;h582754c433727a4c_0_2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h334fb147900af653_2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The product backlog is everything we need to build to finish DUAL, from the data pipeline to the final documentation. Jira is our source of truth, and this table is taken straight from it.</a:t>
            </a:r>
            <a:endParaRPr/>
          </a:p>
          <a:p>
            <a:pPr indent="0" lvl="0" marL="0" rtl="0" algn="l">
              <a:lnSpc>
                <a:spcPct val="115000"/>
              </a:lnSpc>
              <a:spcBef>
                <a:spcPts val="1200"/>
              </a:spcBef>
              <a:spcAft>
                <a:spcPts val="0"/>
              </a:spcAft>
              <a:buClr>
                <a:schemeClr val="dk1"/>
              </a:buClr>
              <a:buSzPts val="1100"/>
              <a:buFont typeface="Arial"/>
              <a:buNone/>
            </a:pPr>
            <a:r>
              <a:rPr lang="en-US"/>
              <a:t>Each row is one story: an ID, the feature it belongs to, the story itself, its acceptance criteria and its story points. Most are user stories, written from a real user’s point of view, like US_02: a screening technician gets both a cataract and a glaucoma result from one photo. A few are technical stories for the team, like the data pipeline.</a:t>
            </a:r>
            <a:endParaRPr/>
          </a:p>
          <a:p>
            <a:pPr indent="0" lvl="0" marL="0" rtl="0" algn="l">
              <a:lnSpc>
                <a:spcPct val="115000"/>
              </a:lnSpc>
              <a:spcBef>
                <a:spcPts val="1200"/>
              </a:spcBef>
              <a:spcAft>
                <a:spcPts val="0"/>
              </a:spcAft>
              <a:buClr>
                <a:schemeClr val="dk1"/>
              </a:buClr>
              <a:buSzPts val="1100"/>
              <a:buFont typeface="Arial"/>
              <a:buNone/>
            </a:pPr>
            <a:r>
              <a:rPr lang="en-US"/>
              <a:t>The acceptance criteria say exactly when a story counts as done, and story points are our estimate of how big it is compared with the others</a:t>
            </a:r>
            <a:endParaRPr/>
          </a:p>
          <a:p>
            <a:pPr indent="0" lvl="0" marL="0" rtl="0" algn="l">
              <a:lnSpc>
                <a:spcPct val="115000"/>
              </a:lnSpc>
              <a:spcBef>
                <a:spcPts val="1200"/>
              </a:spcBef>
              <a:spcAft>
                <a:spcPts val="0"/>
              </a:spcAft>
              <a:buClr>
                <a:schemeClr val="dk1"/>
              </a:buClr>
              <a:buSzPts val="1100"/>
              <a:buFont typeface="Arial"/>
              <a:buNone/>
            </a:pPr>
            <a:r>
              <a:rPr lang="en-US"/>
              <a:t>The backlog is grouped by sprint. Sprint 1 was about data, model and app: the data pipeline, the two-head model, the external test sets, the app prototype, the photo quality check, and the model ablation, which we added mid-sprint. That’s 6 stories and 83 points. Ansh will go through how Sprint 1 went in the next section</a:t>
            </a:r>
            <a:endParaRPr/>
          </a:p>
          <a:p>
            <a:pPr indent="0" lvl="0" marL="0" rtl="0" algn="l">
              <a:lnSpc>
                <a:spcPct val="100000"/>
              </a:lnSpc>
              <a:spcBef>
                <a:spcPts val="1200"/>
              </a:spcBef>
              <a:spcAft>
                <a:spcPts val="0"/>
              </a:spcAft>
              <a:buSzPts val="1400"/>
              <a:buNone/>
            </a:pPr>
            <a:r>
              <a:t/>
            </a:r>
            <a:endParaRPr/>
          </a:p>
        </p:txBody>
      </p:sp>
      <p:sp>
        <p:nvSpPr>
          <p:cNvPr id="732" name="Google Shape;732;h334fb147900af653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h65918b382aa025a3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Sprint 2 is about trusting the model’s results: calibration, so the tool can say ‘uncertain, refer’; one run on our internal test set and one on the outside datasets, which is the core of our hypothesis; the cataract haze check, which Smit has already started; the first draft of our technical paper. That’s 7 stories and 36 points, including the new cloud back-end story (US_18). Calibration is already finished; it was done early in Sprint 1.</a:t>
            </a:r>
            <a:endParaRPr/>
          </a:p>
        </p:txBody>
      </p:sp>
      <p:sp>
        <p:nvSpPr>
          <p:cNvPr id="741" name="Google Shape;741;h65918b382aa025a3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h65918b382aa025a3_0_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Sprint 3 finishes the product: the glaucoma heatmap check, comparing the shared and single-disease models, connecting the real trained model to the app, and the final documentation. That’s 5 stories and 29 points. In total, the backlog has 18 stories and 148 points.</a:t>
            </a:r>
            <a:endParaRPr/>
          </a:p>
          <a:p>
            <a:pPr indent="0" lvl="0" marL="0" rtl="0" algn="l">
              <a:lnSpc>
                <a:spcPct val="100000"/>
              </a:lnSpc>
              <a:spcBef>
                <a:spcPts val="0"/>
              </a:spcBef>
              <a:spcAft>
                <a:spcPts val="0"/>
              </a:spcAft>
              <a:buSzPts val="1400"/>
              <a:buNone/>
            </a:pPr>
            <a:r>
              <a:rPr lang="en-US"/>
              <a:t>Since Sprint 0 we rebuilt the backlog from Jira, added acceptance criteria to every story, and added a testing and review story to Sprint 2 and Sprint 3. That way every story is tested by someone who didn’t build it. Next, Ansh shows our Sprint 1 backlog.</a:t>
            </a:r>
            <a:endParaRPr/>
          </a:p>
        </p:txBody>
      </p:sp>
      <p:sp>
        <p:nvSpPr>
          <p:cNvPr id="750" name="Google Shape;750;h65918b382aa025a3_0_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h14c0d8afbf1f53da_11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h14c0d8afbf1f53da_1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8" name="Google Shape;76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h65918b382aa025a3_0_1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1" name="Google Shape;781;h65918b382aa025a3_0_1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h65918b382aa025a3_0_1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h65918b382aa025a3_0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h65918b382aa025a3_0_1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6" name="Google Shape;816;h65918b382aa025a3_0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h65918b382aa025a3_0_1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9" name="Google Shape;829;h65918b382aa025a3_0_1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h3b7de9c35ce554c9_3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2" name="Google Shape;842;h3b7de9c35ce554c9_3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h6db5fc64863a8577_8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For the frontend, we've outlined test cases covering the main functionality of our application, starting with navigation and image uploads.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We're checking that users can move between pages, select a patient and eye, upload a fundus photograph, and preview it before submitting it for screening.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We've also included negative test cases, because it's important to check what happens when something goes wrong. For example, unsupported files should be rejected, and a poor-quality fundus photograph should trigger a quality warning rather than continue through screening.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These cases focus on making the initial screening workflow functional and easy to use.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855" name="Google Shape;855;h6db5fc64863a8577_8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h6db5fc64863a8577_8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 remaining frontend test cases focus on how screening information is presented to the user.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 check that the Results page shows the overall screening outcome as well as separate cataract and glaucoma information. For Sprint 1 these outputs come from our mock model, so the purpose is to verify the interface rather than clinical accuracy.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 also cover screening history, the light and dark themes, phone-size responsiveness, and fictional patient records.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Most of these workflows were shown in our Sprint 1 demo. The cases labeled 'To verify' are specific scenarios that weren't established by the demo, rather than features we are claiming don't work.</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864" name="Google Shape;864;h6db5fc64863a8577_8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3" name="Google Shape;87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h582754c433727a4c_0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9" name="Google Shape;889;h582754c433727a4c_0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z="1200" u="none" cap="none" strike="noStrike">
                <a:solidFill>
                  <a:schemeClr val="dk1"/>
                </a:solidFill>
                <a:latin typeface="Calibri"/>
                <a:ea typeface="Calibri"/>
                <a:cs typeface="Calibri"/>
                <a:sym typeface="Calibri"/>
              </a:rPr>
              <a:t>Chapter divider, part 3 of 4: Metrics and retrospective. Hand over to the next presenter.</a:t>
            </a:r>
            <a:endParaRPr/>
          </a:p>
        </p:txBody>
      </p:sp>
      <p:sp>
        <p:nvSpPr>
          <p:cNvPr id="890" name="Google Shape;890;h582754c433727a4c_0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8" name="Google Shape;89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h582754c433727a4c_0_1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 name="Google Shape;912;h582754c433727a4c_0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h582754c433727a4c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7" name="Google Shape;927;h582754c433727a4c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Sprint 1 retrospective. Two actions feed the Sprint 2 backlog.</a:t>
            </a:r>
            <a:endParaRPr/>
          </a:p>
        </p:txBody>
      </p:sp>
      <p:sp>
        <p:nvSpPr>
          <p:cNvPr id="928" name="Google Shape;928;h582754c433727a4c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h582754c433727a4c_0_2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0" name="Google Shape;950;h582754c433727a4c_0_2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t/>
            </a:r>
            <a:endParaRPr/>
          </a:p>
        </p:txBody>
      </p:sp>
      <p:sp>
        <p:nvSpPr>
          <p:cNvPr id="951" name="Google Shape;951;h582754c433727a4c_0_2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h14c0d8afbf1f53da_13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9" name="Google Shape;959;h14c0d8afbf1f53da_1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h5f1514c4b633525f_1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Starting with the Home screen, this is the main entry point to DUAL.</a:t>
            </a:r>
            <a:endParaRPr/>
          </a:p>
          <a:p>
            <a:pPr indent="0" lvl="0" marL="0" rtl="0" algn="l">
              <a:spcBef>
                <a:spcPts val="0"/>
              </a:spcBef>
              <a:spcAft>
                <a:spcPts val="0"/>
              </a:spcAft>
              <a:buClr>
                <a:schemeClr val="dk1"/>
              </a:buClr>
              <a:buSzPts val="1100"/>
              <a:buFont typeface="Arial"/>
              <a:buNone/>
            </a:pPr>
            <a:r>
              <a:rPr lang="en-US"/>
              <a:t>We've kept the interface straightforward, with a clear introduction to the application and a three-step overview of the screening process: selecting a patient and eye, uploading a fundus photograph, and reviewing the results.</a:t>
            </a:r>
            <a:endParaRPr/>
          </a:p>
          <a:p>
            <a:pPr indent="0" lvl="0" marL="0" rtl="0" algn="l">
              <a:spcBef>
                <a:spcPts val="0"/>
              </a:spcBef>
              <a:spcAft>
                <a:spcPts val="0"/>
              </a:spcAft>
              <a:buClr>
                <a:schemeClr val="dk1"/>
              </a:buClr>
              <a:buSzPts val="1100"/>
              <a:buFont typeface="Arial"/>
              <a:buNone/>
            </a:pPr>
            <a:r>
              <a:rPr lang="en-US"/>
              <a:t>The Home screen also explains our three possible screening outcomes: No Concern, Refer, and Uncertain.</a:t>
            </a:r>
            <a:endParaRPr/>
          </a:p>
          <a:p>
            <a:pPr indent="0" lvl="0" marL="0" rtl="0" algn="l">
              <a:spcBef>
                <a:spcPts val="0"/>
              </a:spcBef>
              <a:spcAft>
                <a:spcPts val="0"/>
              </a:spcAft>
              <a:buClr>
                <a:schemeClr val="dk1"/>
              </a:buClr>
              <a:buSzPts val="1100"/>
              <a:buFont typeface="Arial"/>
              <a:buNone/>
            </a:pPr>
            <a:r>
              <a:rPr lang="en-US"/>
              <a:t>Here, we're showing both the dark and light themes, which are available throughout the application.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67" name="Google Shape;967;h5f1514c4b633525f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Moving on to the Upload screen, this is where the screening process begins.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clinician selects a patient, chooses the left or right eye, and uploads a fundus photograph.</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 support both file selection and drag-and-drop uploads, with a preview of the selected image before screening.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interface also displays the selected patient, eye, and file information, allowing the clinician to review everything before submitting the photograph.</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Both themes maintain the same functionality and layout.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77" name="Google Shape;97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h582754c433727a4c_0_1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Once a screening is complete, the clinician is directed to the Results screen.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At the top, we display the patient information, the selected eye, and the overall screening outcome.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Below that, cataract and glaucoma have separate results, including their risk scores and screening classifications.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 also display a heatmap alongside the photograph to visualize regions associated with the model's output.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For Sprint 1, these scores and heatmaps are generated using our mock model. They demonstrate how results will be presented once our trained models are integrated.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87" name="Google Shape;987;h582754c433727a4c_0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h582754c433727a4c_0_1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 History screen allows clinicians to access previous screening records.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Rather than losing the results after each screening, the application retrieves stored records and displays them in a table, with the most recent screenings appearing first.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Each entry includes the patient, eye, date, overall result, and individual cataract and glaucoma outcomes.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We've also included patient filtering and the ability to open a screening record to review its results in more detail.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997" name="Google Shape;997;h582754c433727a4c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h5f1514c4b633525f_1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 About screen provides more technical information about DUAL and its intended purpose.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It explains that the application is designed for screening and triage rather than medical diagnosis.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It also describes our current model approach, the datasets being used for training and evaluation, and the limitations we're working to address.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We've included the prototype version so that users can identify which version of the application they're using.</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007" name="Google Shape;1007;h5f1514c4b633525f_1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h5f1514c4b633525f_1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Finally, we've focused on making the application responsive across different screen sizes.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Here, we're showing how the Home, Upload, Results, History, and About pages adapt to a narrower, mobile-sized layout.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Rather than simply shrinking the desktop interface, the content reorganizes to fit the available space while keeping the main features accessible.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allows clinicians to navigate the application, upload photographs, and review screening information across different devices.</a:t>
            </a:r>
            <a:endParaRPr/>
          </a:p>
          <a:p>
            <a:pPr indent="0" lvl="0" marL="0" rtl="0" algn="l">
              <a:spcBef>
                <a:spcPts val="0"/>
              </a:spcBef>
              <a:spcAft>
                <a:spcPts val="0"/>
              </a:spcAft>
              <a:buNone/>
            </a:pPr>
            <a:r>
              <a:t/>
            </a:r>
            <a:endParaRPr/>
          </a:p>
        </p:txBody>
      </p:sp>
      <p:sp>
        <p:nvSpPr>
          <p:cNvPr id="1017" name="Google Shape;1017;h5f1514c4b633525f_1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h582754c433727a4c_0_1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0" name="Google Shape;1030;h582754c433727a4c_0_1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h582754c433727a4c_0_1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2" name="Google Shape;1042;h582754c433727a4c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h582754c433727a4c_0_1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5" name="Google Shape;1055;h582754c433727a4c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h28947ce295abaad3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h28947ce295abaad3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h28947ce295abaad3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4" name="Google Shape;108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Group wiki link on its own slide, per the checklist.</a:t>
            </a:r>
            <a:endParaRPr/>
          </a:p>
        </p:txBody>
      </p:sp>
      <p:sp>
        <p:nvSpPr>
          <p:cNvPr id="1085" name="Google Shape;1085;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7" name="Google Shape;109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Closing slide.</a:t>
            </a:r>
            <a:endParaRPr/>
          </a:p>
        </p:txBody>
      </p:sp>
      <p:sp>
        <p:nvSpPr>
          <p:cNvPr id="1098" name="Google Shape;109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 name="Shape 1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jpg"/><Relationship Id="rId11" Type="http://schemas.openxmlformats.org/officeDocument/2006/relationships/image" Target="../media/image8.jpg"/><Relationship Id="rId10" Type="http://schemas.openxmlformats.org/officeDocument/2006/relationships/image" Target="../media/image23.jpg"/><Relationship Id="rId12" Type="http://schemas.openxmlformats.org/officeDocument/2006/relationships/image" Target="../media/image15.jpg"/><Relationship Id="rId9"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4.jpg"/><Relationship Id="rId7" Type="http://schemas.openxmlformats.org/officeDocument/2006/relationships/image" Target="../media/image7.jpg"/><Relationship Id="rId8"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9.png"/><Relationship Id="rId10" Type="http://schemas.openxmlformats.org/officeDocument/2006/relationships/image" Target="../media/image10.png"/><Relationship Id="rId9" Type="http://schemas.openxmlformats.org/officeDocument/2006/relationships/image" Target="../media/image11.png"/><Relationship Id="rId5" Type="http://schemas.openxmlformats.org/officeDocument/2006/relationships/image" Target="../media/image18.png"/><Relationship Id="rId6" Type="http://schemas.openxmlformats.org/officeDocument/2006/relationships/image" Target="../media/image17.png"/><Relationship Id="rId7" Type="http://schemas.openxmlformats.org/officeDocument/2006/relationships/image" Target="../media/image9.png"/><Relationship Id="rId8"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8.jpg"/><Relationship Id="rId5" Type="http://schemas.openxmlformats.org/officeDocument/2006/relationships/image" Target="../media/image8.jpg"/><Relationship Id="rId6" Type="http://schemas.openxmlformats.org/officeDocument/2006/relationships/image" Target="../media/image4.jpg"/><Relationship Id="rId7" Type="http://schemas.openxmlformats.org/officeDocument/2006/relationships/image" Target="../media/image2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8.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2.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48.png"/><Relationship Id="rId5" Type="http://schemas.openxmlformats.org/officeDocument/2006/relationships/image" Target="../media/image20.png"/><Relationship Id="rId6" Type="http://schemas.openxmlformats.org/officeDocument/2006/relationships/image" Target="../media/image2.jpg"/><Relationship Id="rId7"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6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image" Target="../media/image6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png"/><Relationship Id="rId4" Type="http://schemas.openxmlformats.org/officeDocument/2006/relationships/image" Target="../media/image7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6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5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png"/><Relationship Id="rId4" Type="http://schemas.openxmlformats.org/officeDocument/2006/relationships/image" Target="../media/image74.png"/><Relationship Id="rId9" Type="http://schemas.openxmlformats.org/officeDocument/2006/relationships/image" Target="../media/image40.png"/><Relationship Id="rId5" Type="http://schemas.openxmlformats.org/officeDocument/2006/relationships/image" Target="../media/image38.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png"/><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png"/><Relationship Id="rId4" Type="http://schemas.openxmlformats.org/officeDocument/2006/relationships/image" Target="../media/image7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png"/><Relationship Id="rId4" Type="http://schemas.openxmlformats.org/officeDocument/2006/relationships/image" Target="../media/image7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png"/><Relationship Id="rId4" Type="http://schemas.openxmlformats.org/officeDocument/2006/relationships/image" Target="../media/image41.png"/><Relationship Id="rId5"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png"/><Relationship Id="rId4" Type="http://schemas.openxmlformats.org/officeDocument/2006/relationships/image" Target="../media/image7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png"/><Relationship Id="rId4" Type="http://schemas.openxmlformats.org/officeDocument/2006/relationships/image" Target="../media/image47.png"/><Relationship Id="rId5"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png"/><Relationship Id="rId4" Type="http://schemas.openxmlformats.org/officeDocument/2006/relationships/image" Target="../media/image46.png"/><Relationship Id="rId5" Type="http://schemas.openxmlformats.org/officeDocument/2006/relationships/image" Target="../media/image4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png"/><Relationship Id="rId4" Type="http://schemas.openxmlformats.org/officeDocument/2006/relationships/image" Target="../media/image50.png"/><Relationship Id="rId5" Type="http://schemas.openxmlformats.org/officeDocument/2006/relationships/image" Target="../media/image5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png"/><Relationship Id="rId4" Type="http://schemas.openxmlformats.org/officeDocument/2006/relationships/image" Target="../media/image49.png"/><Relationship Id="rId5" Type="http://schemas.openxmlformats.org/officeDocument/2006/relationships/image" Target="../media/image5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png"/><Relationship Id="rId4" Type="http://schemas.openxmlformats.org/officeDocument/2006/relationships/image" Target="../media/image59.png"/><Relationship Id="rId5" Type="http://schemas.openxmlformats.org/officeDocument/2006/relationships/image" Target="../media/image5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66.png"/><Relationship Id="rId7" Type="http://schemas.openxmlformats.org/officeDocument/2006/relationships/image" Target="../media/image58.png"/><Relationship Id="rId8" Type="http://schemas.openxmlformats.org/officeDocument/2006/relationships/image" Target="../media/image6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png"/><Relationship Id="rId4" Type="http://schemas.openxmlformats.org/officeDocument/2006/relationships/image" Target="../media/image63.png"/><Relationship Id="rId5" Type="http://schemas.openxmlformats.org/officeDocument/2006/relationships/image" Target="../media/image6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png"/><Relationship Id="rId4" Type="http://schemas.openxmlformats.org/officeDocument/2006/relationships/hyperlink" Target="http://www.youtube.com/watch?v=ofQa3knQR_A" TargetMode="External"/><Relationship Id="rId5" Type="http://schemas.openxmlformats.org/officeDocument/2006/relationships/image" Target="../media/image62.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3.png"/><Relationship Id="rId4" Type="http://schemas.openxmlformats.org/officeDocument/2006/relationships/hyperlink" Target="https://github.com/htmw/F2026-Team1/wiki" TargetMode="External"/><Relationship Id="rId5" Type="http://schemas.openxmlformats.org/officeDocument/2006/relationships/image" Target="../media/image1.jpg"/><Relationship Id="rId6" Type="http://schemas.openxmlformats.org/officeDocument/2006/relationships/image" Target="../media/image2.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 name="Shape 17"/>
        <p:cNvGrpSpPr/>
        <p:nvPr/>
      </p:nvGrpSpPr>
      <p:grpSpPr>
        <a:xfrm>
          <a:off x="0" y="0"/>
          <a:ext cx="0" cy="0"/>
          <a:chOff x="0" y="0"/>
          <a:chExt cx="0" cy="0"/>
        </a:xfrm>
      </p:grpSpPr>
      <p:pic>
        <p:nvPicPr>
          <p:cNvPr descr="preencoded.png" id="18" name="Google Shape;18;p1"/>
          <p:cNvPicPr preferRelativeResize="0"/>
          <p:nvPr/>
        </p:nvPicPr>
        <p:blipFill rotWithShape="1">
          <a:blip r:embed="rId3">
            <a:alphaModFix/>
          </a:blip>
          <a:srcRect b="-3807" l="0" r="0" t="-3807"/>
          <a:stretch/>
        </p:blipFill>
        <p:spPr>
          <a:xfrm>
            <a:off x="952500" y="2687985"/>
            <a:ext cx="1143000" cy="1143000"/>
          </a:xfrm>
          <a:prstGeom prst="rect">
            <a:avLst/>
          </a:prstGeom>
          <a:noFill/>
          <a:ln>
            <a:noFill/>
          </a:ln>
        </p:spPr>
      </p:pic>
      <p:sp>
        <p:nvSpPr>
          <p:cNvPr id="19" name="Google Shape;19;p1"/>
          <p:cNvSpPr/>
          <p:nvPr/>
        </p:nvSpPr>
        <p:spPr>
          <a:xfrm>
            <a:off x="2343150" y="2861816"/>
            <a:ext cx="9525" cy="795338"/>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1"/>
          <p:cNvSpPr/>
          <p:nvPr/>
        </p:nvSpPr>
        <p:spPr>
          <a:xfrm>
            <a:off x="2600325" y="2861816"/>
            <a:ext cx="1164654"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TEAM</a:t>
            </a:r>
            <a:endParaRPr b="0" i="0" sz="1800" u="none" cap="none" strike="noStrike">
              <a:solidFill>
                <a:schemeClr val="dk1"/>
              </a:solidFill>
              <a:latin typeface="Calibri"/>
              <a:ea typeface="Calibri"/>
              <a:cs typeface="Calibri"/>
              <a:sym typeface="Calibri"/>
            </a:endParaRPr>
          </a:p>
        </p:txBody>
      </p:sp>
      <p:sp>
        <p:nvSpPr>
          <p:cNvPr id="21" name="Google Shape;21;p1"/>
          <p:cNvSpPr/>
          <p:nvPr/>
        </p:nvSpPr>
        <p:spPr>
          <a:xfrm>
            <a:off x="2600325" y="3195191"/>
            <a:ext cx="1164654" cy="50006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3000"/>
              <a:buFont typeface="Montserrat"/>
              <a:buNone/>
            </a:pPr>
            <a:r>
              <a:rPr b="1" i="0" lang="en-US" sz="3000" u="none" cap="none" strike="noStrike">
                <a:solidFill>
                  <a:srgbClr val="111111"/>
                </a:solidFill>
                <a:latin typeface="Montserrat"/>
                <a:ea typeface="Montserrat"/>
                <a:cs typeface="Montserrat"/>
                <a:sym typeface="Montserrat"/>
              </a:rPr>
              <a:t>EyeQ</a:t>
            </a:r>
            <a:endParaRPr b="0" i="0" sz="3000" u="none" cap="none" strike="noStrike">
              <a:solidFill>
                <a:schemeClr val="dk1"/>
              </a:solidFill>
              <a:latin typeface="Calibri"/>
              <a:ea typeface="Calibri"/>
              <a:cs typeface="Calibri"/>
              <a:sym typeface="Calibri"/>
            </a:endParaRPr>
          </a:p>
        </p:txBody>
      </p:sp>
      <p:sp>
        <p:nvSpPr>
          <p:cNvPr id="22" name="Google Shape;22;p1"/>
          <p:cNvSpPr/>
          <p:nvPr/>
        </p:nvSpPr>
        <p:spPr>
          <a:xfrm>
            <a:off x="952500" y="4364385"/>
            <a:ext cx="8664647" cy="32861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75"/>
              <a:buFont typeface="Montserrat"/>
              <a:buNone/>
            </a:pPr>
            <a:r>
              <a:rPr b="1" i="0" lang="en-US" sz="1875" u="none" cap="none" strike="noStrike">
                <a:solidFill>
                  <a:srgbClr val="1E6FBF"/>
                </a:solidFill>
                <a:latin typeface="Montserrat"/>
                <a:ea typeface="Montserrat"/>
                <a:cs typeface="Montserrat"/>
                <a:sym typeface="Montserrat"/>
              </a:rPr>
              <a:t>SPRINT 1</a:t>
            </a:r>
            <a:endParaRPr b="0" i="0" sz="1875" u="none" cap="none" strike="noStrike">
              <a:solidFill>
                <a:schemeClr val="dk1"/>
              </a:solidFill>
              <a:latin typeface="Calibri"/>
              <a:ea typeface="Calibri"/>
              <a:cs typeface="Calibri"/>
              <a:sym typeface="Calibri"/>
            </a:endParaRPr>
          </a:p>
        </p:txBody>
      </p:sp>
      <p:sp>
        <p:nvSpPr>
          <p:cNvPr id="23" name="Google Shape;23;p1"/>
          <p:cNvSpPr/>
          <p:nvPr/>
        </p:nvSpPr>
        <p:spPr>
          <a:xfrm>
            <a:off x="952500" y="4883497"/>
            <a:ext cx="8664647" cy="838200"/>
          </a:xfrm>
          <a:prstGeom prst="rect">
            <a:avLst/>
          </a:prstGeom>
          <a:noFill/>
          <a:ln>
            <a:noFill/>
          </a:ln>
        </p:spPr>
        <p:txBody>
          <a:bodyPr anchorCtr="0" anchor="t" bIns="25400" lIns="25400" spcFirstLastPara="1" rIns="25400" wrap="square" tIns="25400">
            <a:noAutofit/>
          </a:bodyPr>
          <a:lstStyle/>
          <a:p>
            <a:pPr indent="0" lvl="0" marL="0" marR="0" rtl="0" algn="l">
              <a:lnSpc>
                <a:spcPct val="81951"/>
              </a:lnSpc>
              <a:spcBef>
                <a:spcPts val="0"/>
              </a:spcBef>
              <a:spcAft>
                <a:spcPts val="0"/>
              </a:spcAft>
              <a:buClr>
                <a:srgbClr val="111111"/>
              </a:buClr>
              <a:buSzPts val="6300"/>
              <a:buFont typeface="Montserrat"/>
              <a:buNone/>
            </a:pPr>
            <a:r>
              <a:rPr b="1" i="0" lang="en-US" sz="6300" u="none" cap="none" strike="noStrike">
                <a:solidFill>
                  <a:srgbClr val="111111"/>
                </a:solidFill>
                <a:latin typeface="Montserrat"/>
                <a:ea typeface="Montserrat"/>
                <a:cs typeface="Montserrat"/>
                <a:sym typeface="Montserrat"/>
              </a:rPr>
              <a:t>DUAL</a:t>
            </a:r>
            <a:endParaRPr b="0" i="0" sz="6300" u="none" cap="none" strike="noStrike">
              <a:solidFill>
                <a:schemeClr val="dk1"/>
              </a:solidFill>
              <a:latin typeface="Calibri"/>
              <a:ea typeface="Calibri"/>
              <a:cs typeface="Calibri"/>
              <a:sym typeface="Calibri"/>
            </a:endParaRPr>
          </a:p>
        </p:txBody>
      </p:sp>
      <p:sp>
        <p:nvSpPr>
          <p:cNvPr id="24" name="Google Shape;24;p1"/>
          <p:cNvSpPr/>
          <p:nvPr/>
        </p:nvSpPr>
        <p:spPr>
          <a:xfrm>
            <a:off x="952500" y="5912197"/>
            <a:ext cx="8664647" cy="38576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2250"/>
              <a:buFont typeface="Montserrat"/>
              <a:buNone/>
            </a:pPr>
            <a:r>
              <a:rPr b="0" i="0" lang="en-US" sz="2250" u="none" cap="none" strike="noStrike">
                <a:solidFill>
                  <a:srgbClr val="3D3D3D"/>
                </a:solidFill>
                <a:latin typeface="Montserrat"/>
                <a:ea typeface="Montserrat"/>
                <a:cs typeface="Montserrat"/>
                <a:sym typeface="Montserrat"/>
              </a:rPr>
              <a:t>OCULAR DISEASE SCREENER</a:t>
            </a:r>
            <a:endParaRPr b="0" i="0" sz="2250" u="none" cap="none" strike="noStrike">
              <a:solidFill>
                <a:schemeClr val="dk1"/>
              </a:solidFill>
              <a:latin typeface="Calibri"/>
              <a:ea typeface="Calibri"/>
              <a:cs typeface="Calibri"/>
              <a:sym typeface="Calibri"/>
            </a:endParaRPr>
          </a:p>
        </p:txBody>
      </p:sp>
      <p:sp>
        <p:nvSpPr>
          <p:cNvPr id="25" name="Google Shape;25;p1"/>
          <p:cNvSpPr/>
          <p:nvPr/>
        </p:nvSpPr>
        <p:spPr>
          <a:xfrm>
            <a:off x="952500" y="6488460"/>
            <a:ext cx="762000" cy="28575"/>
          </a:xfrm>
          <a:prstGeom prst="rect">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952500" y="6745635"/>
            <a:ext cx="7456170" cy="891480"/>
          </a:xfrm>
          <a:prstGeom prst="rect">
            <a:avLst/>
          </a:prstGeom>
          <a:noFill/>
          <a:ln>
            <a:noFill/>
          </a:ln>
        </p:spPr>
        <p:txBody>
          <a:bodyPr anchorCtr="0" anchor="t" bIns="25400" lIns="25400" spcFirstLastPara="1" rIns="25400" wrap="square" tIns="25400">
            <a:noAutofit/>
          </a:bodyPr>
          <a:lstStyle/>
          <a:p>
            <a:pPr indent="0" lvl="0" marL="0" marR="0" rtl="0" algn="l">
              <a:lnSpc>
                <a:spcPct val="131765"/>
              </a:lnSpc>
              <a:spcBef>
                <a:spcPts val="0"/>
              </a:spcBef>
              <a:spcAft>
                <a:spcPts val="0"/>
              </a:spcAft>
              <a:buClr>
                <a:srgbClr val="3D3D3D"/>
              </a:buClr>
              <a:buSzPts val="2100"/>
              <a:buFont typeface="Montserrat"/>
              <a:buNone/>
            </a:pPr>
            <a:r>
              <a:rPr b="0" i="0" lang="en-US" sz="2100" u="none" cap="none" strike="noStrike">
                <a:solidFill>
                  <a:srgbClr val="3D3D3D"/>
                </a:solidFill>
                <a:latin typeface="Montserrat"/>
                <a:ea typeface="Montserrat"/>
                <a:cs typeface="Montserrat"/>
                <a:sym typeface="Montserrat"/>
              </a:rPr>
              <a:t>AI-assisted screening for cataract and glaucoma from a single retinal photograph per eye.</a:t>
            </a:r>
            <a:endParaRPr b="0" i="0" sz="2100" u="none" cap="none" strike="noStrike">
              <a:solidFill>
                <a:schemeClr val="dk1"/>
              </a:solidFill>
              <a:latin typeface="Calibri"/>
              <a:ea typeface="Calibri"/>
              <a:cs typeface="Calibri"/>
              <a:sym typeface="Calibri"/>
            </a:endParaRPr>
          </a:p>
        </p:txBody>
      </p:sp>
      <p:sp>
        <p:nvSpPr>
          <p:cNvPr id="27" name="Google Shape;27;p1"/>
          <p:cNvSpPr/>
          <p:nvPr/>
        </p:nvSpPr>
        <p:spPr>
          <a:xfrm>
            <a:off x="9781952" y="0"/>
            <a:ext cx="8505974" cy="10287000"/>
          </a:xfrm>
          <a:prstGeom prst="rect">
            <a:avLst/>
          </a:prstGeom>
          <a:solidFill>
            <a:srgbClr val="11111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
          <p:cNvSpPr/>
          <p:nvPr/>
        </p:nvSpPr>
        <p:spPr>
          <a:xfrm>
            <a:off x="10825014" y="18764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 name="Google Shape;29;p1"/>
          <p:cNvPicPr preferRelativeResize="0"/>
          <p:nvPr/>
        </p:nvPicPr>
        <p:blipFill rotWithShape="1">
          <a:blip r:embed="rId4">
            <a:alphaModFix/>
          </a:blip>
          <a:srcRect b="0" l="0" r="0" t="0"/>
          <a:stretch/>
        </p:blipFill>
        <p:spPr>
          <a:xfrm>
            <a:off x="10844064" y="1895475"/>
            <a:ext cx="2000250" cy="2000250"/>
          </a:xfrm>
          <a:prstGeom prst="rect">
            <a:avLst/>
          </a:prstGeom>
          <a:noFill/>
          <a:ln>
            <a:noFill/>
          </a:ln>
        </p:spPr>
      </p:pic>
      <p:sp>
        <p:nvSpPr>
          <p:cNvPr id="30" name="Google Shape;30;p1"/>
          <p:cNvSpPr/>
          <p:nvPr/>
        </p:nvSpPr>
        <p:spPr>
          <a:xfrm>
            <a:off x="13034814" y="18764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 name="Google Shape;31;p1"/>
          <p:cNvPicPr preferRelativeResize="0"/>
          <p:nvPr/>
        </p:nvPicPr>
        <p:blipFill rotWithShape="1">
          <a:blip r:embed="rId5">
            <a:alphaModFix/>
          </a:blip>
          <a:srcRect b="0" l="1601" r="1601" t="0"/>
          <a:stretch/>
        </p:blipFill>
        <p:spPr>
          <a:xfrm>
            <a:off x="13053864" y="1895475"/>
            <a:ext cx="2000250" cy="2000250"/>
          </a:xfrm>
          <a:prstGeom prst="rect">
            <a:avLst/>
          </a:prstGeom>
          <a:noFill/>
          <a:ln>
            <a:noFill/>
          </a:ln>
        </p:spPr>
      </p:pic>
      <p:sp>
        <p:nvSpPr>
          <p:cNvPr id="32" name="Google Shape;32;p1"/>
          <p:cNvSpPr/>
          <p:nvPr/>
        </p:nvSpPr>
        <p:spPr>
          <a:xfrm>
            <a:off x="15244614" y="18764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 name="Google Shape;33;p1"/>
          <p:cNvPicPr preferRelativeResize="0"/>
          <p:nvPr/>
        </p:nvPicPr>
        <p:blipFill rotWithShape="1">
          <a:blip r:embed="rId6">
            <a:alphaModFix/>
          </a:blip>
          <a:srcRect b="0" l="0" r="0" t="0"/>
          <a:stretch/>
        </p:blipFill>
        <p:spPr>
          <a:xfrm>
            <a:off x="15263664" y="1895475"/>
            <a:ext cx="2000250" cy="2000250"/>
          </a:xfrm>
          <a:prstGeom prst="rect">
            <a:avLst/>
          </a:prstGeom>
          <a:noFill/>
          <a:ln>
            <a:noFill/>
          </a:ln>
        </p:spPr>
      </p:pic>
      <p:sp>
        <p:nvSpPr>
          <p:cNvPr id="34" name="Google Shape;34;p1"/>
          <p:cNvSpPr/>
          <p:nvPr/>
        </p:nvSpPr>
        <p:spPr>
          <a:xfrm>
            <a:off x="10825014" y="41243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 name="Google Shape;35;p1"/>
          <p:cNvPicPr preferRelativeResize="0"/>
          <p:nvPr/>
        </p:nvPicPr>
        <p:blipFill rotWithShape="1">
          <a:blip r:embed="rId7">
            <a:alphaModFix/>
          </a:blip>
          <a:srcRect b="0" l="1601" r="1601" t="0"/>
          <a:stretch/>
        </p:blipFill>
        <p:spPr>
          <a:xfrm>
            <a:off x="10844064" y="4143375"/>
            <a:ext cx="2000250" cy="2000250"/>
          </a:xfrm>
          <a:prstGeom prst="rect">
            <a:avLst/>
          </a:prstGeom>
          <a:noFill/>
          <a:ln>
            <a:noFill/>
          </a:ln>
        </p:spPr>
      </p:pic>
      <p:sp>
        <p:nvSpPr>
          <p:cNvPr id="36" name="Google Shape;36;p1"/>
          <p:cNvSpPr/>
          <p:nvPr/>
        </p:nvSpPr>
        <p:spPr>
          <a:xfrm>
            <a:off x="13034814" y="41243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 name="Google Shape;37;p1"/>
          <p:cNvPicPr preferRelativeResize="0"/>
          <p:nvPr/>
        </p:nvPicPr>
        <p:blipFill rotWithShape="1">
          <a:blip r:embed="rId8">
            <a:alphaModFix/>
          </a:blip>
          <a:srcRect b="0" l="0" r="0" t="0"/>
          <a:stretch/>
        </p:blipFill>
        <p:spPr>
          <a:xfrm>
            <a:off x="13053864" y="4143375"/>
            <a:ext cx="2000250" cy="2000250"/>
          </a:xfrm>
          <a:prstGeom prst="rect">
            <a:avLst/>
          </a:prstGeom>
          <a:noFill/>
          <a:ln>
            <a:noFill/>
          </a:ln>
        </p:spPr>
      </p:pic>
      <p:sp>
        <p:nvSpPr>
          <p:cNvPr id="38" name="Google Shape;38;p1"/>
          <p:cNvSpPr/>
          <p:nvPr/>
        </p:nvSpPr>
        <p:spPr>
          <a:xfrm>
            <a:off x="15244614" y="41243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 name="Google Shape;39;p1"/>
          <p:cNvPicPr preferRelativeResize="0"/>
          <p:nvPr/>
        </p:nvPicPr>
        <p:blipFill rotWithShape="1">
          <a:blip r:embed="rId9">
            <a:alphaModFix/>
          </a:blip>
          <a:srcRect b="0" l="0" r="0" t="0"/>
          <a:stretch/>
        </p:blipFill>
        <p:spPr>
          <a:xfrm>
            <a:off x="15263664" y="4143375"/>
            <a:ext cx="2000250" cy="2000250"/>
          </a:xfrm>
          <a:prstGeom prst="rect">
            <a:avLst/>
          </a:prstGeom>
          <a:noFill/>
          <a:ln>
            <a:noFill/>
          </a:ln>
        </p:spPr>
      </p:pic>
      <p:sp>
        <p:nvSpPr>
          <p:cNvPr id="40" name="Google Shape;40;p1"/>
          <p:cNvSpPr/>
          <p:nvPr/>
        </p:nvSpPr>
        <p:spPr>
          <a:xfrm>
            <a:off x="10825014" y="63722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1" name="Google Shape;41;p1"/>
          <p:cNvPicPr preferRelativeResize="0"/>
          <p:nvPr/>
        </p:nvPicPr>
        <p:blipFill rotWithShape="1">
          <a:blip r:embed="rId10">
            <a:alphaModFix/>
          </a:blip>
          <a:srcRect b="0" l="0" r="0" t="0"/>
          <a:stretch/>
        </p:blipFill>
        <p:spPr>
          <a:xfrm>
            <a:off x="10844064" y="6391275"/>
            <a:ext cx="2000250" cy="2000250"/>
          </a:xfrm>
          <a:prstGeom prst="rect">
            <a:avLst/>
          </a:prstGeom>
          <a:noFill/>
          <a:ln>
            <a:noFill/>
          </a:ln>
        </p:spPr>
      </p:pic>
      <p:sp>
        <p:nvSpPr>
          <p:cNvPr id="42" name="Google Shape;42;p1"/>
          <p:cNvSpPr/>
          <p:nvPr/>
        </p:nvSpPr>
        <p:spPr>
          <a:xfrm>
            <a:off x="13034814" y="63722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3" name="Google Shape;43;p1"/>
          <p:cNvPicPr preferRelativeResize="0"/>
          <p:nvPr/>
        </p:nvPicPr>
        <p:blipFill rotWithShape="1">
          <a:blip r:embed="rId11">
            <a:alphaModFix/>
          </a:blip>
          <a:srcRect b="0" l="422" r="422" t="0"/>
          <a:stretch/>
        </p:blipFill>
        <p:spPr>
          <a:xfrm>
            <a:off x="13053864" y="6391275"/>
            <a:ext cx="2000250" cy="2000250"/>
          </a:xfrm>
          <a:prstGeom prst="rect">
            <a:avLst/>
          </a:prstGeom>
          <a:noFill/>
          <a:ln>
            <a:noFill/>
          </a:ln>
        </p:spPr>
      </p:pic>
      <p:sp>
        <p:nvSpPr>
          <p:cNvPr id="44" name="Google Shape;44;p1"/>
          <p:cNvSpPr/>
          <p:nvPr/>
        </p:nvSpPr>
        <p:spPr>
          <a:xfrm>
            <a:off x="15244614" y="6372225"/>
            <a:ext cx="2038350" cy="2038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 name="Google Shape;45;p1"/>
          <p:cNvPicPr preferRelativeResize="0"/>
          <p:nvPr/>
        </p:nvPicPr>
        <p:blipFill rotWithShape="1">
          <a:blip r:embed="rId12">
            <a:alphaModFix/>
          </a:blip>
          <a:srcRect b="41" l="0" r="0" t="41"/>
          <a:stretch/>
        </p:blipFill>
        <p:spPr>
          <a:xfrm>
            <a:off x="15263664" y="6391275"/>
            <a:ext cx="2000250" cy="2000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2"/>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2"/>
          <p:cNvSpPr/>
          <p:nvPr/>
        </p:nvSpPr>
        <p:spPr>
          <a:xfrm>
            <a:off x="1047750" y="857250"/>
            <a:ext cx="14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AGENDA</a:t>
            </a:r>
            <a:endParaRPr b="0" i="0" sz="1800" u="none" cap="none" strike="noStrike">
              <a:solidFill>
                <a:schemeClr val="dk1"/>
              </a:solidFill>
              <a:latin typeface="Montserrat"/>
              <a:ea typeface="Montserrat"/>
              <a:cs typeface="Montserrat"/>
              <a:sym typeface="Montserrat"/>
            </a:endParaRPr>
          </a:p>
        </p:txBody>
      </p:sp>
      <p:sp>
        <p:nvSpPr>
          <p:cNvPr id="53" name="Google Shape;53;p2"/>
          <p:cNvSpPr/>
          <p:nvPr/>
        </p:nvSpPr>
        <p:spPr>
          <a:xfrm>
            <a:off x="1047750" y="1266825"/>
            <a:ext cx="140000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What we'll cover</a:t>
            </a:r>
            <a:endParaRPr b="0" i="0" sz="4200" u="none" cap="none" strike="noStrike">
              <a:solidFill>
                <a:schemeClr val="dk1"/>
              </a:solidFill>
              <a:latin typeface="Montserrat"/>
              <a:ea typeface="Montserrat"/>
              <a:cs typeface="Montserrat"/>
              <a:sym typeface="Montserrat"/>
            </a:endParaRPr>
          </a:p>
        </p:txBody>
      </p:sp>
      <p:pic>
        <p:nvPicPr>
          <p:cNvPr descr="preencoded.png" id="54" name="Google Shape;54;p2"/>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55" name="Google Shape;55;p2"/>
          <p:cNvSpPr txBox="1"/>
          <p:nvPr/>
        </p:nvSpPr>
        <p:spPr>
          <a:xfrm>
            <a:off x="1047750" y="275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01</a:t>
            </a:r>
            <a:endParaRPr/>
          </a:p>
        </p:txBody>
      </p:sp>
      <p:sp>
        <p:nvSpPr>
          <p:cNvPr id="56" name="Google Shape;56;p2"/>
          <p:cNvSpPr txBox="1"/>
          <p:nvPr/>
        </p:nvSpPr>
        <p:spPr>
          <a:xfrm>
            <a:off x="1676400" y="272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b="0" i="0" lang="en-US" sz="2175" u="none" cap="none" strike="noStrike">
                <a:solidFill>
                  <a:srgbClr val="111111"/>
                </a:solidFill>
                <a:latin typeface="Montserrat"/>
                <a:ea typeface="Montserrat"/>
                <a:cs typeface="Montserrat"/>
                <a:sym typeface="Montserrat"/>
              </a:rPr>
              <a:t>Team roles and responsibilities</a:t>
            </a:r>
            <a:endParaRPr/>
          </a:p>
        </p:txBody>
      </p:sp>
      <p:sp>
        <p:nvSpPr>
          <p:cNvPr id="57" name="Google Shape;57;p2"/>
          <p:cNvSpPr/>
          <p:nvPr/>
        </p:nvSpPr>
        <p:spPr>
          <a:xfrm>
            <a:off x="1047750" y="322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 name="Google Shape;58;p2"/>
          <p:cNvSpPr txBox="1"/>
          <p:nvPr/>
        </p:nvSpPr>
        <p:spPr>
          <a:xfrm>
            <a:off x="1047750" y="354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02</a:t>
            </a:r>
            <a:endParaRPr/>
          </a:p>
        </p:txBody>
      </p:sp>
      <p:sp>
        <p:nvSpPr>
          <p:cNvPr id="59" name="Google Shape;59;p2"/>
          <p:cNvSpPr txBox="1"/>
          <p:nvPr/>
        </p:nvSpPr>
        <p:spPr>
          <a:xfrm>
            <a:off x="1676400" y="351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b="0" i="0" lang="en-US" sz="2175" u="none" cap="none" strike="noStrike">
                <a:solidFill>
                  <a:srgbClr val="111111"/>
                </a:solidFill>
                <a:latin typeface="Montserrat"/>
                <a:ea typeface="Montserrat"/>
                <a:cs typeface="Montserrat"/>
                <a:sym typeface="Montserrat"/>
              </a:rPr>
              <a:t>Improvements from professor feedback</a:t>
            </a:r>
            <a:endParaRPr/>
          </a:p>
        </p:txBody>
      </p:sp>
      <p:sp>
        <p:nvSpPr>
          <p:cNvPr id="60" name="Google Shape;60;p2"/>
          <p:cNvSpPr/>
          <p:nvPr/>
        </p:nvSpPr>
        <p:spPr>
          <a:xfrm>
            <a:off x="1047750" y="401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 name="Google Shape;61;p2"/>
          <p:cNvSpPr txBox="1"/>
          <p:nvPr/>
        </p:nvSpPr>
        <p:spPr>
          <a:xfrm>
            <a:off x="1047750" y="433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03</a:t>
            </a:r>
            <a:endParaRPr/>
          </a:p>
        </p:txBody>
      </p:sp>
      <p:sp>
        <p:nvSpPr>
          <p:cNvPr id="62" name="Google Shape;62;p2"/>
          <p:cNvSpPr txBox="1"/>
          <p:nvPr/>
        </p:nvSpPr>
        <p:spPr>
          <a:xfrm>
            <a:off x="1676400" y="430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b="0" i="0" lang="en-US" sz="2175" u="none" cap="none" strike="noStrike">
                <a:solidFill>
                  <a:srgbClr val="111111"/>
                </a:solidFill>
                <a:latin typeface="Montserrat"/>
                <a:ea typeface="Montserrat"/>
                <a:cs typeface="Montserrat"/>
                <a:sym typeface="Montserrat"/>
              </a:rPr>
              <a:t>Project description</a:t>
            </a:r>
            <a:endParaRPr/>
          </a:p>
        </p:txBody>
      </p:sp>
      <p:sp>
        <p:nvSpPr>
          <p:cNvPr id="63" name="Google Shape;63;p2"/>
          <p:cNvSpPr/>
          <p:nvPr/>
        </p:nvSpPr>
        <p:spPr>
          <a:xfrm>
            <a:off x="1047750" y="480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 name="Google Shape;64;p2"/>
          <p:cNvSpPr txBox="1"/>
          <p:nvPr/>
        </p:nvSpPr>
        <p:spPr>
          <a:xfrm>
            <a:off x="1047750" y="512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04</a:t>
            </a:r>
            <a:endParaRPr/>
          </a:p>
        </p:txBody>
      </p:sp>
      <p:sp>
        <p:nvSpPr>
          <p:cNvPr id="65" name="Google Shape;65;p2"/>
          <p:cNvSpPr txBox="1"/>
          <p:nvPr/>
        </p:nvSpPr>
        <p:spPr>
          <a:xfrm>
            <a:off x="1676400" y="509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b="0" i="0" lang="en-US" sz="2175" u="none" cap="none" strike="noStrike">
                <a:solidFill>
                  <a:srgbClr val="111111"/>
                </a:solidFill>
                <a:latin typeface="Montserrat"/>
                <a:ea typeface="Montserrat"/>
                <a:cs typeface="Montserrat"/>
                <a:sym typeface="Montserrat"/>
              </a:rPr>
              <a:t>Team working agreement</a:t>
            </a:r>
            <a:endParaRPr/>
          </a:p>
        </p:txBody>
      </p:sp>
      <p:sp>
        <p:nvSpPr>
          <p:cNvPr id="66" name="Google Shape;66;p2"/>
          <p:cNvSpPr/>
          <p:nvPr/>
        </p:nvSpPr>
        <p:spPr>
          <a:xfrm>
            <a:off x="1047750" y="559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7" name="Google Shape;67;p2"/>
          <p:cNvSpPr txBox="1"/>
          <p:nvPr/>
        </p:nvSpPr>
        <p:spPr>
          <a:xfrm>
            <a:off x="1047750" y="591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05</a:t>
            </a:r>
            <a:endParaRPr/>
          </a:p>
        </p:txBody>
      </p:sp>
      <p:sp>
        <p:nvSpPr>
          <p:cNvPr id="68" name="Google Shape;68;p2"/>
          <p:cNvSpPr txBox="1"/>
          <p:nvPr/>
        </p:nvSpPr>
        <p:spPr>
          <a:xfrm>
            <a:off x="1676400" y="588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b="0" i="0" lang="en-US" sz="2175" u="none" cap="none" strike="noStrike">
                <a:solidFill>
                  <a:srgbClr val="111111"/>
                </a:solidFill>
                <a:latin typeface="Montserrat"/>
                <a:ea typeface="Montserrat"/>
                <a:cs typeface="Montserrat"/>
                <a:sym typeface="Montserrat"/>
              </a:rPr>
              <a:t>Personas</a:t>
            </a:r>
            <a:endParaRPr/>
          </a:p>
        </p:txBody>
      </p:sp>
      <p:sp>
        <p:nvSpPr>
          <p:cNvPr id="69" name="Google Shape;69;p2"/>
          <p:cNvSpPr/>
          <p:nvPr/>
        </p:nvSpPr>
        <p:spPr>
          <a:xfrm>
            <a:off x="1047750" y="638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 name="Google Shape;70;p2"/>
          <p:cNvSpPr txBox="1"/>
          <p:nvPr/>
        </p:nvSpPr>
        <p:spPr>
          <a:xfrm>
            <a:off x="1047750" y="670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06</a:t>
            </a:r>
            <a:endParaRPr/>
          </a:p>
        </p:txBody>
      </p:sp>
      <p:sp>
        <p:nvSpPr>
          <p:cNvPr id="71" name="Google Shape;71;p2"/>
          <p:cNvSpPr txBox="1"/>
          <p:nvPr/>
        </p:nvSpPr>
        <p:spPr>
          <a:xfrm>
            <a:off x="1676400" y="667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i="0" lang="en-US" sz="2175" u="none" cap="none" strike="noStrike">
                <a:solidFill>
                  <a:srgbClr val="111111"/>
                </a:solidFill>
                <a:latin typeface="Montserrat"/>
                <a:ea typeface="Montserrat"/>
                <a:cs typeface="Montserrat"/>
                <a:sym typeface="Montserrat"/>
              </a:rPr>
              <a:t>MVP</a:t>
            </a:r>
            <a:endParaRPr/>
          </a:p>
        </p:txBody>
      </p:sp>
      <p:sp>
        <p:nvSpPr>
          <p:cNvPr id="72" name="Google Shape;72;p2"/>
          <p:cNvSpPr/>
          <p:nvPr/>
        </p:nvSpPr>
        <p:spPr>
          <a:xfrm>
            <a:off x="1047750" y="717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 name="Google Shape;73;p2"/>
          <p:cNvSpPr txBox="1"/>
          <p:nvPr/>
        </p:nvSpPr>
        <p:spPr>
          <a:xfrm>
            <a:off x="1047750" y="749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07</a:t>
            </a:r>
            <a:endParaRPr/>
          </a:p>
        </p:txBody>
      </p:sp>
      <p:sp>
        <p:nvSpPr>
          <p:cNvPr id="74" name="Google Shape;74;p2"/>
          <p:cNvSpPr txBox="1"/>
          <p:nvPr/>
        </p:nvSpPr>
        <p:spPr>
          <a:xfrm>
            <a:off x="1676400" y="746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b="0" i="0" lang="en-US" sz="2175" u="none" cap="none" strike="noStrike">
                <a:solidFill>
                  <a:srgbClr val="111111"/>
                </a:solidFill>
                <a:latin typeface="Montserrat"/>
                <a:ea typeface="Montserrat"/>
                <a:cs typeface="Montserrat"/>
                <a:sym typeface="Montserrat"/>
              </a:rPr>
              <a:t>Technologies</a:t>
            </a:r>
            <a:endParaRPr/>
          </a:p>
        </p:txBody>
      </p:sp>
      <p:sp>
        <p:nvSpPr>
          <p:cNvPr id="75" name="Google Shape;75;p2"/>
          <p:cNvSpPr/>
          <p:nvPr/>
        </p:nvSpPr>
        <p:spPr>
          <a:xfrm>
            <a:off x="1047750" y="796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 name="Google Shape;76;p2"/>
          <p:cNvSpPr txBox="1"/>
          <p:nvPr/>
        </p:nvSpPr>
        <p:spPr>
          <a:xfrm>
            <a:off x="1047750" y="828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08</a:t>
            </a:r>
            <a:endParaRPr/>
          </a:p>
        </p:txBody>
      </p:sp>
      <p:sp>
        <p:nvSpPr>
          <p:cNvPr id="77" name="Google Shape;77;p2"/>
          <p:cNvSpPr txBox="1"/>
          <p:nvPr/>
        </p:nvSpPr>
        <p:spPr>
          <a:xfrm>
            <a:off x="1676400" y="825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b="0" i="0" lang="en-US" sz="2175" u="none" cap="none" strike="noStrike">
                <a:solidFill>
                  <a:srgbClr val="111111"/>
                </a:solidFill>
                <a:latin typeface="Montserrat"/>
                <a:ea typeface="Montserrat"/>
                <a:cs typeface="Montserrat"/>
                <a:sym typeface="Montserrat"/>
              </a:rPr>
              <a:t>Algorithms</a:t>
            </a:r>
            <a:endParaRPr/>
          </a:p>
        </p:txBody>
      </p:sp>
      <p:sp>
        <p:nvSpPr>
          <p:cNvPr id="78" name="Google Shape;78;p2"/>
          <p:cNvSpPr/>
          <p:nvPr/>
        </p:nvSpPr>
        <p:spPr>
          <a:xfrm>
            <a:off x="1047750" y="875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 name="Google Shape;79;p2"/>
          <p:cNvSpPr txBox="1"/>
          <p:nvPr/>
        </p:nvSpPr>
        <p:spPr>
          <a:xfrm>
            <a:off x="9477375" y="275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09</a:t>
            </a:r>
            <a:endParaRPr/>
          </a:p>
        </p:txBody>
      </p:sp>
      <p:sp>
        <p:nvSpPr>
          <p:cNvPr id="80" name="Google Shape;80;p2"/>
          <p:cNvSpPr txBox="1"/>
          <p:nvPr/>
        </p:nvSpPr>
        <p:spPr>
          <a:xfrm>
            <a:off x="10106025" y="272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i="0" lang="en-US" sz="2175" u="none" cap="none" strike="noStrike">
                <a:solidFill>
                  <a:srgbClr val="111111"/>
                </a:solidFill>
                <a:latin typeface="Montserrat"/>
                <a:ea typeface="Montserrat"/>
                <a:cs typeface="Montserrat"/>
                <a:sym typeface="Montserrat"/>
              </a:rPr>
              <a:t>Diagrams</a:t>
            </a:r>
            <a:endParaRPr/>
          </a:p>
        </p:txBody>
      </p:sp>
      <p:sp>
        <p:nvSpPr>
          <p:cNvPr id="81" name="Google Shape;81;p2"/>
          <p:cNvSpPr/>
          <p:nvPr/>
        </p:nvSpPr>
        <p:spPr>
          <a:xfrm>
            <a:off x="9477375" y="322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 name="Google Shape;82;p2"/>
          <p:cNvSpPr txBox="1"/>
          <p:nvPr/>
        </p:nvSpPr>
        <p:spPr>
          <a:xfrm>
            <a:off x="9477375" y="354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10</a:t>
            </a:r>
            <a:endParaRPr/>
          </a:p>
        </p:txBody>
      </p:sp>
      <p:sp>
        <p:nvSpPr>
          <p:cNvPr id="83" name="Google Shape;83;p2"/>
          <p:cNvSpPr txBox="1"/>
          <p:nvPr/>
        </p:nvSpPr>
        <p:spPr>
          <a:xfrm>
            <a:off x="10106025" y="351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i="0" lang="en-US" sz="2175" u="none" cap="none" strike="noStrike">
                <a:solidFill>
                  <a:srgbClr val="111111"/>
                </a:solidFill>
                <a:latin typeface="Montserrat"/>
                <a:ea typeface="Montserrat"/>
                <a:cs typeface="Montserrat"/>
                <a:sym typeface="Montserrat"/>
              </a:rPr>
              <a:t>Product backlog</a:t>
            </a:r>
            <a:endParaRPr/>
          </a:p>
        </p:txBody>
      </p:sp>
      <p:sp>
        <p:nvSpPr>
          <p:cNvPr id="84" name="Google Shape;84;p2"/>
          <p:cNvSpPr/>
          <p:nvPr/>
        </p:nvSpPr>
        <p:spPr>
          <a:xfrm>
            <a:off x="9477375" y="401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 name="Google Shape;85;p2"/>
          <p:cNvSpPr txBox="1"/>
          <p:nvPr/>
        </p:nvSpPr>
        <p:spPr>
          <a:xfrm>
            <a:off x="9477375" y="433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11</a:t>
            </a:r>
            <a:endParaRPr/>
          </a:p>
        </p:txBody>
      </p:sp>
      <p:sp>
        <p:nvSpPr>
          <p:cNvPr id="86" name="Google Shape;86;p2"/>
          <p:cNvSpPr txBox="1"/>
          <p:nvPr/>
        </p:nvSpPr>
        <p:spPr>
          <a:xfrm>
            <a:off x="10106025" y="430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i="0" lang="en-US" sz="2175" u="none" cap="none" strike="noStrike">
                <a:solidFill>
                  <a:srgbClr val="111111"/>
                </a:solidFill>
                <a:latin typeface="Montserrat"/>
                <a:ea typeface="Montserrat"/>
                <a:cs typeface="Montserrat"/>
                <a:sym typeface="Montserrat"/>
              </a:rPr>
              <a:t>Sprint 1 backlog and test cases</a:t>
            </a:r>
            <a:endParaRPr/>
          </a:p>
        </p:txBody>
      </p:sp>
      <p:sp>
        <p:nvSpPr>
          <p:cNvPr id="87" name="Google Shape;87;p2"/>
          <p:cNvSpPr/>
          <p:nvPr/>
        </p:nvSpPr>
        <p:spPr>
          <a:xfrm>
            <a:off x="9477375" y="480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 name="Google Shape;88;p2"/>
          <p:cNvSpPr txBox="1"/>
          <p:nvPr/>
        </p:nvSpPr>
        <p:spPr>
          <a:xfrm>
            <a:off x="9477375" y="512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12</a:t>
            </a:r>
            <a:endParaRPr/>
          </a:p>
        </p:txBody>
      </p:sp>
      <p:sp>
        <p:nvSpPr>
          <p:cNvPr id="89" name="Google Shape;89;p2"/>
          <p:cNvSpPr txBox="1"/>
          <p:nvPr/>
        </p:nvSpPr>
        <p:spPr>
          <a:xfrm>
            <a:off x="10106025" y="509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i="0" lang="en-US" sz="2175" u="none" cap="none" strike="noStrike">
                <a:solidFill>
                  <a:srgbClr val="111111"/>
                </a:solidFill>
                <a:latin typeface="Montserrat"/>
                <a:ea typeface="Montserrat"/>
                <a:cs typeface="Montserrat"/>
                <a:sym typeface="Montserrat"/>
              </a:rPr>
              <a:t>Metrics</a:t>
            </a:r>
            <a:endParaRPr/>
          </a:p>
        </p:txBody>
      </p:sp>
      <p:sp>
        <p:nvSpPr>
          <p:cNvPr id="90" name="Google Shape;90;p2"/>
          <p:cNvSpPr/>
          <p:nvPr/>
        </p:nvSpPr>
        <p:spPr>
          <a:xfrm>
            <a:off x="9477375" y="559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 name="Google Shape;91;p2"/>
          <p:cNvSpPr txBox="1"/>
          <p:nvPr/>
        </p:nvSpPr>
        <p:spPr>
          <a:xfrm>
            <a:off x="9477375" y="591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13</a:t>
            </a:r>
            <a:endParaRPr/>
          </a:p>
        </p:txBody>
      </p:sp>
      <p:sp>
        <p:nvSpPr>
          <p:cNvPr id="92" name="Google Shape;92;p2"/>
          <p:cNvSpPr txBox="1"/>
          <p:nvPr/>
        </p:nvSpPr>
        <p:spPr>
          <a:xfrm>
            <a:off x="10106025" y="588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b="0" i="0" lang="en-US" sz="2175" u="none" cap="none" strike="noStrike">
                <a:solidFill>
                  <a:srgbClr val="111111"/>
                </a:solidFill>
                <a:latin typeface="Montserrat"/>
                <a:ea typeface="Montserrat"/>
                <a:cs typeface="Montserrat"/>
                <a:sym typeface="Montserrat"/>
              </a:rPr>
              <a:t>Retrospective</a:t>
            </a:r>
            <a:endParaRPr/>
          </a:p>
        </p:txBody>
      </p:sp>
      <p:sp>
        <p:nvSpPr>
          <p:cNvPr id="93" name="Google Shape;93;p2"/>
          <p:cNvSpPr/>
          <p:nvPr/>
        </p:nvSpPr>
        <p:spPr>
          <a:xfrm>
            <a:off x="9477375" y="638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 name="Google Shape;94;p2"/>
          <p:cNvSpPr txBox="1"/>
          <p:nvPr/>
        </p:nvSpPr>
        <p:spPr>
          <a:xfrm>
            <a:off x="9477375" y="670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14</a:t>
            </a:r>
            <a:endParaRPr/>
          </a:p>
        </p:txBody>
      </p:sp>
      <p:sp>
        <p:nvSpPr>
          <p:cNvPr id="95" name="Google Shape;95;p2"/>
          <p:cNvSpPr txBox="1"/>
          <p:nvPr/>
        </p:nvSpPr>
        <p:spPr>
          <a:xfrm>
            <a:off x="10106025" y="667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i="0" lang="en-US" sz="2175" u="none" cap="none" strike="noStrike">
                <a:solidFill>
                  <a:srgbClr val="111111"/>
                </a:solidFill>
                <a:latin typeface="Montserrat"/>
                <a:ea typeface="Montserrat"/>
                <a:cs typeface="Montserrat"/>
                <a:sym typeface="Montserrat"/>
              </a:rPr>
              <a:t>Sprint 2 plan</a:t>
            </a:r>
            <a:endParaRPr/>
          </a:p>
        </p:txBody>
      </p:sp>
      <p:sp>
        <p:nvSpPr>
          <p:cNvPr id="96" name="Google Shape;96;p2"/>
          <p:cNvSpPr/>
          <p:nvPr/>
        </p:nvSpPr>
        <p:spPr>
          <a:xfrm>
            <a:off x="9477375" y="717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 name="Google Shape;97;p2"/>
          <p:cNvSpPr txBox="1"/>
          <p:nvPr/>
        </p:nvSpPr>
        <p:spPr>
          <a:xfrm>
            <a:off x="9477375" y="7490000"/>
            <a:ext cx="560000" cy="38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E6FBF"/>
                </a:solidFill>
                <a:latin typeface="Montserrat"/>
                <a:ea typeface="Montserrat"/>
                <a:cs typeface="Montserrat"/>
                <a:sym typeface="Montserrat"/>
              </a:rPr>
              <a:t>15</a:t>
            </a:r>
            <a:endParaRPr/>
          </a:p>
        </p:txBody>
      </p:sp>
      <p:sp>
        <p:nvSpPr>
          <p:cNvPr id="98" name="Google Shape;98;p2"/>
          <p:cNvSpPr txBox="1"/>
          <p:nvPr/>
        </p:nvSpPr>
        <p:spPr>
          <a:xfrm>
            <a:off x="10106025" y="7460000"/>
            <a:ext cx="7100000" cy="42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000000"/>
              </a:buClr>
              <a:buSzPts val="2175"/>
              <a:buFont typeface="Arial"/>
              <a:buNone/>
            </a:pPr>
            <a:r>
              <a:rPr i="0" lang="en-US" sz="2175" u="none" cap="none" strike="noStrike">
                <a:solidFill>
                  <a:srgbClr val="111111"/>
                </a:solidFill>
                <a:latin typeface="Montserrat"/>
                <a:ea typeface="Montserrat"/>
                <a:cs typeface="Montserrat"/>
                <a:sym typeface="Montserrat"/>
              </a:rPr>
              <a:t>Demo and GitHub</a:t>
            </a:r>
            <a:endParaRPr/>
          </a:p>
        </p:txBody>
      </p:sp>
      <p:sp>
        <p:nvSpPr>
          <p:cNvPr id="99" name="Google Shape;99;p2"/>
          <p:cNvSpPr/>
          <p:nvPr/>
        </p:nvSpPr>
        <p:spPr>
          <a:xfrm>
            <a:off x="9477375" y="7960000"/>
            <a:ext cx="7762875" cy="9525"/>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3"/>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
          <p:cNvSpPr/>
          <p:nvPr/>
        </p:nvSpPr>
        <p:spPr>
          <a:xfrm>
            <a:off x="1047750" y="857250"/>
            <a:ext cx="9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01 · TEAM</a:t>
            </a:r>
            <a:endParaRPr b="0" i="0" sz="1800" u="none" cap="none" strike="noStrike">
              <a:solidFill>
                <a:schemeClr val="dk1"/>
              </a:solidFill>
              <a:latin typeface="Calibri"/>
              <a:ea typeface="Calibri"/>
              <a:cs typeface="Calibri"/>
              <a:sym typeface="Calibri"/>
            </a:endParaRPr>
          </a:p>
        </p:txBody>
      </p:sp>
      <p:sp>
        <p:nvSpPr>
          <p:cNvPr id="107" name="Google Shape;107;p3"/>
          <p:cNvSpPr/>
          <p:nvPr/>
        </p:nvSpPr>
        <p:spPr>
          <a:xfrm>
            <a:off x="1047750" y="1266825"/>
            <a:ext cx="6943308"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Roles &amp; responsibilities</a:t>
            </a:r>
            <a:endParaRPr b="0" i="0" sz="4200" u="none" cap="none" strike="noStrike">
              <a:solidFill>
                <a:schemeClr val="dk1"/>
              </a:solidFill>
              <a:latin typeface="Calibri"/>
              <a:ea typeface="Calibri"/>
              <a:cs typeface="Calibri"/>
              <a:sym typeface="Calibri"/>
            </a:endParaRPr>
          </a:p>
        </p:txBody>
      </p:sp>
      <p:pic>
        <p:nvPicPr>
          <p:cNvPr descr="preencoded.png" id="108" name="Google Shape;108;p3"/>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109" name="Google Shape;109;p3"/>
          <p:cNvSpPr/>
          <p:nvPr/>
        </p:nvSpPr>
        <p:spPr>
          <a:xfrm>
            <a:off x="1047750" y="2457450"/>
            <a:ext cx="3905250" cy="3409950"/>
          </a:xfrm>
          <a:prstGeom prst="roundRect">
            <a:avLst>
              <a:gd fmla="val 4469"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a:off x="1219200" y="262890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1" name="Google Shape;111;p3"/>
          <p:cNvPicPr preferRelativeResize="0"/>
          <p:nvPr/>
        </p:nvPicPr>
        <p:blipFill rotWithShape="1">
          <a:blip r:embed="rId4">
            <a:alphaModFix/>
          </a:blip>
          <a:srcRect b="0" l="0" r="0" t="0"/>
          <a:stretch/>
        </p:blipFill>
        <p:spPr>
          <a:xfrm>
            <a:off x="1219200" y="2628900"/>
            <a:ext cx="1600200" cy="1600200"/>
          </a:xfrm>
          <a:prstGeom prst="rect">
            <a:avLst/>
          </a:prstGeom>
          <a:noFill/>
          <a:ln>
            <a:noFill/>
          </a:ln>
        </p:spPr>
      </p:pic>
      <p:sp>
        <p:nvSpPr>
          <p:cNvPr id="112" name="Google Shape;112;p3"/>
          <p:cNvSpPr/>
          <p:nvPr/>
        </p:nvSpPr>
        <p:spPr>
          <a:xfrm>
            <a:off x="1219200" y="4343400"/>
            <a:ext cx="3918585" cy="34669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Anel Bazarbayeva</a:t>
            </a:r>
            <a:endParaRPr b="0" i="0" sz="2025" u="none" cap="none" strike="noStrike">
              <a:solidFill>
                <a:schemeClr val="dk1"/>
              </a:solidFill>
              <a:latin typeface="Calibri"/>
              <a:ea typeface="Calibri"/>
              <a:cs typeface="Calibri"/>
              <a:sym typeface="Calibri"/>
            </a:endParaRPr>
          </a:p>
        </p:txBody>
      </p:sp>
      <p:sp>
        <p:nvSpPr>
          <p:cNvPr id="113" name="Google Shape;113;p3"/>
          <p:cNvSpPr/>
          <p:nvPr/>
        </p:nvSpPr>
        <p:spPr>
          <a:xfrm>
            <a:off x="1236225" y="4838704"/>
            <a:ext cx="3421500" cy="609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Scrum Master, MLOps/ Integration Developer</a:t>
            </a:r>
            <a:endParaRPr b="0" i="0" sz="1800" u="none" cap="none" strike="noStrike">
              <a:solidFill>
                <a:schemeClr val="dk1"/>
              </a:solidFill>
              <a:latin typeface="Calibri"/>
              <a:ea typeface="Calibri"/>
              <a:cs typeface="Calibri"/>
              <a:sym typeface="Calibri"/>
            </a:endParaRPr>
          </a:p>
        </p:txBody>
      </p:sp>
      <p:sp>
        <p:nvSpPr>
          <p:cNvPr id="114" name="Google Shape;114;p3"/>
          <p:cNvSpPr/>
          <p:nvPr/>
        </p:nvSpPr>
        <p:spPr>
          <a:xfrm>
            <a:off x="5143500" y="2457450"/>
            <a:ext cx="3905250" cy="3409950"/>
          </a:xfrm>
          <a:prstGeom prst="roundRect">
            <a:avLst>
              <a:gd fmla="val 4469"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3"/>
          <p:cNvSpPr/>
          <p:nvPr/>
        </p:nvSpPr>
        <p:spPr>
          <a:xfrm>
            <a:off x="5314950" y="262890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6" name="Google Shape;116;p3"/>
          <p:cNvPicPr preferRelativeResize="0"/>
          <p:nvPr/>
        </p:nvPicPr>
        <p:blipFill rotWithShape="1">
          <a:blip r:embed="rId5">
            <a:alphaModFix/>
          </a:blip>
          <a:srcRect b="0" l="0" r="0" t="0"/>
          <a:stretch/>
        </p:blipFill>
        <p:spPr>
          <a:xfrm>
            <a:off x="5314950" y="2628900"/>
            <a:ext cx="1600200" cy="1600200"/>
          </a:xfrm>
          <a:prstGeom prst="rect">
            <a:avLst/>
          </a:prstGeom>
          <a:noFill/>
          <a:ln>
            <a:noFill/>
          </a:ln>
        </p:spPr>
      </p:pic>
      <p:sp>
        <p:nvSpPr>
          <p:cNvPr id="117" name="Google Shape;117;p3"/>
          <p:cNvSpPr/>
          <p:nvPr/>
        </p:nvSpPr>
        <p:spPr>
          <a:xfrm>
            <a:off x="5314950" y="4324350"/>
            <a:ext cx="3918585" cy="34669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Negar Kamvij</a:t>
            </a:r>
            <a:endParaRPr b="0" i="0" sz="2025" u="none" cap="none" strike="noStrike">
              <a:solidFill>
                <a:schemeClr val="dk1"/>
              </a:solidFill>
              <a:latin typeface="Calibri"/>
              <a:ea typeface="Calibri"/>
              <a:cs typeface="Calibri"/>
              <a:sym typeface="Calibri"/>
            </a:endParaRPr>
          </a:p>
        </p:txBody>
      </p:sp>
      <p:sp>
        <p:nvSpPr>
          <p:cNvPr id="118" name="Google Shape;118;p3"/>
          <p:cNvSpPr/>
          <p:nvPr/>
        </p:nvSpPr>
        <p:spPr>
          <a:xfrm>
            <a:off x="5325652" y="4844045"/>
            <a:ext cx="3421500" cy="609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ML Developer, External Validation &amp; Calibration</a:t>
            </a:r>
            <a:endParaRPr b="0" i="0" sz="1800" u="none" cap="none" strike="noStrike">
              <a:solidFill>
                <a:schemeClr val="dk1"/>
              </a:solidFill>
              <a:latin typeface="Calibri"/>
              <a:ea typeface="Calibri"/>
              <a:cs typeface="Calibri"/>
              <a:sym typeface="Calibri"/>
            </a:endParaRPr>
          </a:p>
        </p:txBody>
      </p:sp>
      <p:sp>
        <p:nvSpPr>
          <p:cNvPr id="119" name="Google Shape;119;p3"/>
          <p:cNvSpPr/>
          <p:nvPr/>
        </p:nvSpPr>
        <p:spPr>
          <a:xfrm>
            <a:off x="9239250" y="2457450"/>
            <a:ext cx="3905250" cy="3409950"/>
          </a:xfrm>
          <a:prstGeom prst="roundRect">
            <a:avLst>
              <a:gd fmla="val 4469"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9410700" y="262890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1" name="Google Shape;121;p3"/>
          <p:cNvPicPr preferRelativeResize="0"/>
          <p:nvPr/>
        </p:nvPicPr>
        <p:blipFill rotWithShape="1">
          <a:blip r:embed="rId6">
            <a:alphaModFix/>
          </a:blip>
          <a:srcRect b="0" l="0" r="0" t="0"/>
          <a:stretch/>
        </p:blipFill>
        <p:spPr>
          <a:xfrm>
            <a:off x="9410700" y="2628900"/>
            <a:ext cx="1600200" cy="1600200"/>
          </a:xfrm>
          <a:prstGeom prst="rect">
            <a:avLst/>
          </a:prstGeom>
          <a:noFill/>
          <a:ln>
            <a:noFill/>
          </a:ln>
        </p:spPr>
      </p:pic>
      <p:sp>
        <p:nvSpPr>
          <p:cNvPr id="122" name="Google Shape;122;p3"/>
          <p:cNvSpPr/>
          <p:nvPr/>
        </p:nvSpPr>
        <p:spPr>
          <a:xfrm>
            <a:off x="9410700" y="4324350"/>
            <a:ext cx="3918585" cy="34669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Shridhi Patel</a:t>
            </a:r>
            <a:endParaRPr b="0" i="0" sz="2025" u="none" cap="none" strike="noStrike">
              <a:solidFill>
                <a:schemeClr val="dk1"/>
              </a:solidFill>
              <a:latin typeface="Calibri"/>
              <a:ea typeface="Calibri"/>
              <a:cs typeface="Calibri"/>
              <a:sym typeface="Calibri"/>
            </a:endParaRPr>
          </a:p>
        </p:txBody>
      </p:sp>
      <p:sp>
        <p:nvSpPr>
          <p:cNvPr id="123" name="Google Shape;123;p3"/>
          <p:cNvSpPr/>
          <p:nvPr/>
        </p:nvSpPr>
        <p:spPr>
          <a:xfrm>
            <a:off x="9395396" y="4851381"/>
            <a:ext cx="3421500" cy="856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Team Leader, ML Developer, Glaucoma Lead</a:t>
            </a:r>
            <a:endParaRPr b="0" i="0" sz="1800" u="none" cap="none" strike="noStrike">
              <a:solidFill>
                <a:schemeClr val="dk1"/>
              </a:solidFill>
              <a:latin typeface="Calibri"/>
              <a:ea typeface="Calibri"/>
              <a:cs typeface="Calibri"/>
              <a:sym typeface="Calibri"/>
            </a:endParaRPr>
          </a:p>
        </p:txBody>
      </p:sp>
      <p:sp>
        <p:nvSpPr>
          <p:cNvPr id="124" name="Google Shape;124;p3"/>
          <p:cNvSpPr/>
          <p:nvPr/>
        </p:nvSpPr>
        <p:spPr>
          <a:xfrm>
            <a:off x="13335000" y="2457450"/>
            <a:ext cx="3905250" cy="3409950"/>
          </a:xfrm>
          <a:prstGeom prst="roundRect">
            <a:avLst>
              <a:gd fmla="val 4469"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13506450" y="262890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6" name="Google Shape;126;p3"/>
          <p:cNvPicPr preferRelativeResize="0"/>
          <p:nvPr/>
        </p:nvPicPr>
        <p:blipFill rotWithShape="1">
          <a:blip r:embed="rId7">
            <a:alphaModFix/>
          </a:blip>
          <a:srcRect b="0" l="0" r="0" t="0"/>
          <a:stretch/>
        </p:blipFill>
        <p:spPr>
          <a:xfrm>
            <a:off x="13506450" y="2628900"/>
            <a:ext cx="1600200" cy="1600200"/>
          </a:xfrm>
          <a:prstGeom prst="rect">
            <a:avLst/>
          </a:prstGeom>
          <a:noFill/>
          <a:ln>
            <a:noFill/>
          </a:ln>
        </p:spPr>
      </p:pic>
      <p:sp>
        <p:nvSpPr>
          <p:cNvPr id="127" name="Google Shape;127;p3"/>
          <p:cNvSpPr/>
          <p:nvPr/>
        </p:nvSpPr>
        <p:spPr>
          <a:xfrm>
            <a:off x="13480880" y="4324350"/>
            <a:ext cx="3918600" cy="346800"/>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Bhoami Khona</a:t>
            </a:r>
            <a:endParaRPr b="0" i="0" sz="2025" u="none" cap="none" strike="noStrike">
              <a:solidFill>
                <a:schemeClr val="dk1"/>
              </a:solidFill>
              <a:latin typeface="Calibri"/>
              <a:ea typeface="Calibri"/>
              <a:cs typeface="Calibri"/>
              <a:sym typeface="Calibri"/>
            </a:endParaRPr>
          </a:p>
        </p:txBody>
      </p:sp>
      <p:sp>
        <p:nvSpPr>
          <p:cNvPr id="128" name="Google Shape;128;p3"/>
          <p:cNvSpPr/>
          <p:nvPr/>
        </p:nvSpPr>
        <p:spPr>
          <a:xfrm>
            <a:off x="13465138" y="4851386"/>
            <a:ext cx="34215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lang="en-US" sz="1800">
                <a:solidFill>
                  <a:srgbClr val="3D3D3D"/>
                </a:solidFill>
                <a:latin typeface="Montserrat"/>
                <a:ea typeface="Montserrat"/>
                <a:cs typeface="Montserrat"/>
                <a:sym typeface="Montserrat"/>
              </a:rPr>
              <a:t>Full Stack Developer</a:t>
            </a:r>
            <a:endParaRPr b="0" i="0" sz="1800" u="none" cap="none" strike="noStrike">
              <a:solidFill>
                <a:schemeClr val="dk1"/>
              </a:solidFill>
              <a:latin typeface="Calibri"/>
              <a:ea typeface="Calibri"/>
              <a:cs typeface="Calibri"/>
              <a:sym typeface="Calibri"/>
            </a:endParaRPr>
          </a:p>
        </p:txBody>
      </p:sp>
      <p:sp>
        <p:nvSpPr>
          <p:cNvPr id="129" name="Google Shape;129;p3"/>
          <p:cNvSpPr/>
          <p:nvPr/>
        </p:nvSpPr>
        <p:spPr>
          <a:xfrm>
            <a:off x="1047750" y="6057900"/>
            <a:ext cx="3905250" cy="3371850"/>
          </a:xfrm>
          <a:prstGeom prst="roundRect">
            <a:avLst>
              <a:gd fmla="val 4520"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
          <p:cNvSpPr/>
          <p:nvPr/>
        </p:nvSpPr>
        <p:spPr>
          <a:xfrm>
            <a:off x="1219200" y="622935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1" name="Google Shape;131;p3"/>
          <p:cNvPicPr preferRelativeResize="0"/>
          <p:nvPr/>
        </p:nvPicPr>
        <p:blipFill rotWithShape="1">
          <a:blip r:embed="rId8">
            <a:alphaModFix/>
          </a:blip>
          <a:srcRect b="0" l="0" r="0" t="0"/>
          <a:stretch/>
        </p:blipFill>
        <p:spPr>
          <a:xfrm>
            <a:off x="1219200" y="6229350"/>
            <a:ext cx="1600200" cy="1600200"/>
          </a:xfrm>
          <a:prstGeom prst="rect">
            <a:avLst/>
          </a:prstGeom>
          <a:noFill/>
          <a:ln>
            <a:noFill/>
          </a:ln>
        </p:spPr>
      </p:pic>
      <p:sp>
        <p:nvSpPr>
          <p:cNvPr id="132" name="Google Shape;132;p3"/>
          <p:cNvSpPr/>
          <p:nvPr/>
        </p:nvSpPr>
        <p:spPr>
          <a:xfrm>
            <a:off x="1219200" y="7924800"/>
            <a:ext cx="3918585" cy="34669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Krushiben Patel</a:t>
            </a:r>
            <a:endParaRPr b="0" i="0" sz="2025" u="none" cap="none" strike="noStrike">
              <a:solidFill>
                <a:schemeClr val="dk1"/>
              </a:solidFill>
              <a:latin typeface="Calibri"/>
              <a:ea typeface="Calibri"/>
              <a:cs typeface="Calibri"/>
              <a:sym typeface="Calibri"/>
            </a:endParaRPr>
          </a:p>
        </p:txBody>
      </p:sp>
      <p:sp>
        <p:nvSpPr>
          <p:cNvPr id="133" name="Google Shape;133;p3"/>
          <p:cNvSpPr/>
          <p:nvPr/>
        </p:nvSpPr>
        <p:spPr>
          <a:xfrm>
            <a:off x="1230556" y="8420577"/>
            <a:ext cx="3421500" cy="609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lang="en-US" sz="1800">
                <a:solidFill>
                  <a:srgbClr val="3D3D3D"/>
                </a:solidFill>
                <a:latin typeface="Montserrat"/>
                <a:ea typeface="Montserrat"/>
                <a:cs typeface="Montserrat"/>
                <a:sym typeface="Montserrat"/>
              </a:rPr>
              <a:t>Data Pipeline, MLOps &amp; Integration Developer</a:t>
            </a:r>
            <a:endParaRPr b="0" i="0" sz="1800" u="none" cap="none" strike="noStrike">
              <a:solidFill>
                <a:schemeClr val="dk1"/>
              </a:solidFill>
              <a:latin typeface="Calibri"/>
              <a:ea typeface="Calibri"/>
              <a:cs typeface="Calibri"/>
              <a:sym typeface="Calibri"/>
            </a:endParaRPr>
          </a:p>
        </p:txBody>
      </p:sp>
      <p:sp>
        <p:nvSpPr>
          <p:cNvPr id="134" name="Google Shape;134;p3"/>
          <p:cNvSpPr/>
          <p:nvPr/>
        </p:nvSpPr>
        <p:spPr>
          <a:xfrm>
            <a:off x="5143500" y="6057900"/>
            <a:ext cx="3905250" cy="3371850"/>
          </a:xfrm>
          <a:prstGeom prst="roundRect">
            <a:avLst>
              <a:gd fmla="val 4520"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5314950" y="622935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6" name="Google Shape;136;p3"/>
          <p:cNvPicPr preferRelativeResize="0"/>
          <p:nvPr/>
        </p:nvPicPr>
        <p:blipFill rotWithShape="1">
          <a:blip r:embed="rId9">
            <a:alphaModFix/>
          </a:blip>
          <a:srcRect b="0" l="0" r="0" t="0"/>
          <a:stretch/>
        </p:blipFill>
        <p:spPr>
          <a:xfrm>
            <a:off x="5314950" y="6229350"/>
            <a:ext cx="1600200" cy="1600200"/>
          </a:xfrm>
          <a:prstGeom prst="rect">
            <a:avLst/>
          </a:prstGeom>
          <a:noFill/>
          <a:ln>
            <a:noFill/>
          </a:ln>
        </p:spPr>
      </p:pic>
      <p:sp>
        <p:nvSpPr>
          <p:cNvPr id="137" name="Google Shape;137;p3"/>
          <p:cNvSpPr/>
          <p:nvPr/>
        </p:nvSpPr>
        <p:spPr>
          <a:xfrm>
            <a:off x="5347057" y="7924800"/>
            <a:ext cx="3918600" cy="346800"/>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Ansh Kevadiya</a:t>
            </a:r>
            <a:endParaRPr b="0" i="0" sz="2025" u="none" cap="none" strike="noStrike">
              <a:solidFill>
                <a:schemeClr val="dk1"/>
              </a:solidFill>
              <a:latin typeface="Calibri"/>
              <a:ea typeface="Calibri"/>
              <a:cs typeface="Calibri"/>
              <a:sym typeface="Calibri"/>
            </a:endParaRPr>
          </a:p>
        </p:txBody>
      </p:sp>
      <p:sp>
        <p:nvSpPr>
          <p:cNvPr id="138" name="Google Shape;138;p3"/>
          <p:cNvSpPr/>
          <p:nvPr/>
        </p:nvSpPr>
        <p:spPr>
          <a:xfrm>
            <a:off x="5330997" y="8414370"/>
            <a:ext cx="34215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ML Developer, </a:t>
            </a:r>
            <a:endParaRPr b="1" i="0" sz="1800" u="none" cap="none" strike="noStrike">
              <a:solidFill>
                <a:srgbClr val="3D3D3D"/>
              </a:solidFill>
              <a:latin typeface="Montserrat"/>
              <a:ea typeface="Montserrat"/>
              <a:cs typeface="Montserrat"/>
              <a:sym typeface="Montserrat"/>
            </a:endParaRPr>
          </a:p>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Cataract Lead</a:t>
            </a:r>
            <a:endParaRPr b="0" i="0" sz="1800" u="none" cap="none" strike="noStrike">
              <a:solidFill>
                <a:schemeClr val="dk1"/>
              </a:solidFill>
              <a:latin typeface="Calibri"/>
              <a:ea typeface="Calibri"/>
              <a:cs typeface="Calibri"/>
              <a:sym typeface="Calibri"/>
            </a:endParaRPr>
          </a:p>
        </p:txBody>
      </p:sp>
      <p:sp>
        <p:nvSpPr>
          <p:cNvPr id="139" name="Google Shape;139;p3"/>
          <p:cNvSpPr/>
          <p:nvPr/>
        </p:nvSpPr>
        <p:spPr>
          <a:xfrm>
            <a:off x="9239250" y="6057900"/>
            <a:ext cx="3905250" cy="3371850"/>
          </a:xfrm>
          <a:prstGeom prst="roundRect">
            <a:avLst>
              <a:gd fmla="val 4520"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
          <p:cNvSpPr/>
          <p:nvPr/>
        </p:nvSpPr>
        <p:spPr>
          <a:xfrm>
            <a:off x="9410700" y="6229350"/>
            <a:ext cx="1600200" cy="1600200"/>
          </a:xfrm>
          <a:prstGeom prst="roundRect">
            <a:avLst>
              <a:gd fmla="val 8333" name="adj"/>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1" name="Google Shape;141;p3"/>
          <p:cNvPicPr preferRelativeResize="0"/>
          <p:nvPr/>
        </p:nvPicPr>
        <p:blipFill rotWithShape="1">
          <a:blip r:embed="rId10">
            <a:alphaModFix/>
          </a:blip>
          <a:srcRect b="0" l="0" r="0" t="0"/>
          <a:stretch/>
        </p:blipFill>
        <p:spPr>
          <a:xfrm>
            <a:off x="9410700" y="6229350"/>
            <a:ext cx="1600200" cy="1600200"/>
          </a:xfrm>
          <a:prstGeom prst="rect">
            <a:avLst/>
          </a:prstGeom>
          <a:noFill/>
          <a:ln>
            <a:noFill/>
          </a:ln>
        </p:spPr>
      </p:pic>
      <p:sp>
        <p:nvSpPr>
          <p:cNvPr id="142" name="Google Shape;142;p3"/>
          <p:cNvSpPr/>
          <p:nvPr/>
        </p:nvSpPr>
        <p:spPr>
          <a:xfrm>
            <a:off x="9410700" y="7924800"/>
            <a:ext cx="3918585" cy="34669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Smit Meghapara</a:t>
            </a:r>
            <a:endParaRPr b="0" i="0" sz="2025" u="none" cap="none" strike="noStrike">
              <a:solidFill>
                <a:schemeClr val="dk1"/>
              </a:solidFill>
              <a:latin typeface="Calibri"/>
              <a:ea typeface="Calibri"/>
              <a:cs typeface="Calibri"/>
              <a:sym typeface="Calibri"/>
            </a:endParaRPr>
          </a:p>
        </p:txBody>
      </p:sp>
      <p:sp>
        <p:nvSpPr>
          <p:cNvPr id="143" name="Google Shape;143;p3"/>
          <p:cNvSpPr/>
          <p:nvPr/>
        </p:nvSpPr>
        <p:spPr>
          <a:xfrm>
            <a:off x="9411597" y="8420586"/>
            <a:ext cx="3421500" cy="6096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ML Developer, Interpretability &amp; Safety</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h582754c433727a4c_0_50"/>
          <p:cNvSpPr/>
          <p:nvPr/>
        </p:nvSpPr>
        <p:spPr>
          <a:xfrm>
            <a:off x="1054825" y="2199401"/>
            <a:ext cx="16571100" cy="108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h582754c433727a4c_0_50"/>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02 · IMPROVEMENTS</a:t>
            </a:r>
            <a:endParaRPr b="0" i="0" sz="1800" u="none" cap="none" strike="noStrike">
              <a:solidFill>
                <a:srgbClr val="000000"/>
              </a:solidFill>
              <a:latin typeface="Montserrat"/>
              <a:ea typeface="Montserrat"/>
              <a:cs typeface="Montserrat"/>
              <a:sym typeface="Montserrat"/>
            </a:endParaRPr>
          </a:p>
        </p:txBody>
      </p:sp>
      <p:sp>
        <p:nvSpPr>
          <p:cNvPr id="150" name="Google Shape;150;h582754c433727a4c_0_50"/>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Improvements from professor feedback</a:t>
            </a:r>
            <a:endParaRPr b="1" i="0" sz="4200" u="none" cap="none" strike="noStrike">
              <a:solidFill>
                <a:srgbClr val="FF0000"/>
              </a:solidFill>
              <a:highlight>
                <a:schemeClr val="lt1"/>
              </a:highlight>
              <a:latin typeface="Montserrat"/>
              <a:ea typeface="Montserrat"/>
              <a:cs typeface="Montserrat"/>
              <a:sym typeface="Montserrat"/>
            </a:endParaRPr>
          </a:p>
        </p:txBody>
      </p:sp>
      <p:pic>
        <p:nvPicPr>
          <p:cNvPr descr="preencoded.png" id="151" name="Google Shape;151;h582754c433727a4c_0_50"/>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sp>
        <p:nvSpPr>
          <p:cNvPr id="152" name="Google Shape;152;h582754c433727a4c_0_50"/>
          <p:cNvSpPr txBox="1"/>
          <p:nvPr/>
        </p:nvSpPr>
        <p:spPr>
          <a:xfrm>
            <a:off x="1054140" y="2328950"/>
            <a:ext cx="11042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pc="0" sz="1800" u="none" cap="none" strike="noStrike">
                <a:solidFill>
                  <a:srgbClr val="1E6FBF"/>
                </a:solidFill>
                <a:latin typeface="Montserrat"/>
                <a:ea typeface="Montserrat"/>
                <a:cs typeface="Montserrat"/>
                <a:sym typeface="Montserrat"/>
              </a:rPr>
              <a:t>SPRINT 0 FEEDBACK → CHANGES INCORPORATED IN SPRINT 1</a:t>
            </a:r>
            <a:endParaRPr b="0" i="0" spc="0" sz="1800" u="none" cap="none" strike="noStrike">
              <a:solidFill>
                <a:srgbClr val="000000"/>
              </a:solidFill>
              <a:latin typeface="Arial"/>
              <a:ea typeface="Arial"/>
              <a:cs typeface="Arial"/>
              <a:sym typeface="Arial"/>
            </a:endParaRPr>
          </a:p>
        </p:txBody>
      </p:sp>
      <p:sp>
        <p:nvSpPr>
          <p:cNvPr id="153" name="Google Shape;153;h582754c433727a4c_0_50"/>
          <p:cNvSpPr txBox="1"/>
          <p:nvPr/>
        </p:nvSpPr>
        <p:spPr>
          <a:xfrm>
            <a:off x="1054174" y="2804953"/>
            <a:ext cx="538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pc="0" sz="1800" u="none" cap="none" strike="noStrike">
                <a:solidFill>
                  <a:srgbClr val="1E6FBF"/>
                </a:solidFill>
                <a:latin typeface="Montserrat"/>
                <a:ea typeface="Montserrat"/>
                <a:cs typeface="Montserrat"/>
                <a:sym typeface="Montserrat"/>
              </a:rPr>
              <a:t>01</a:t>
            </a:r>
            <a:endParaRPr b="0" i="0" spc="0" sz="1800" u="none" cap="none" strike="noStrike">
              <a:solidFill>
                <a:srgbClr val="000000"/>
              </a:solidFill>
              <a:latin typeface="Arial"/>
              <a:ea typeface="Arial"/>
              <a:cs typeface="Arial"/>
              <a:sym typeface="Arial"/>
            </a:endParaRPr>
          </a:p>
        </p:txBody>
      </p:sp>
      <p:sp>
        <p:nvSpPr>
          <p:cNvPr id="154" name="Google Shape;154;h582754c433727a4c_0_50"/>
          <p:cNvSpPr txBox="1"/>
          <p:nvPr/>
        </p:nvSpPr>
        <p:spPr>
          <a:xfrm>
            <a:off x="1759065" y="2735163"/>
            <a:ext cx="5318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pc="0" sz="1800" u="none" cap="none" strike="noStrike">
                <a:solidFill>
                  <a:srgbClr val="111111"/>
                </a:solidFill>
                <a:latin typeface="Montserrat"/>
                <a:ea typeface="Montserrat"/>
                <a:cs typeface="Montserrat"/>
                <a:sym typeface="Montserrat"/>
              </a:rPr>
              <a:t>Retrospective process</a:t>
            </a:r>
            <a:endParaRPr b="0" i="0" spc="0" sz="1800" u="none" cap="none" strike="noStrike">
              <a:solidFill>
                <a:srgbClr val="000000"/>
              </a:solidFill>
              <a:latin typeface="Arial"/>
              <a:ea typeface="Arial"/>
              <a:cs typeface="Arial"/>
              <a:sym typeface="Arial"/>
            </a:endParaRPr>
          </a:p>
        </p:txBody>
      </p:sp>
      <p:sp>
        <p:nvSpPr>
          <p:cNvPr id="155" name="Google Shape;155;h582754c433727a4c_0_50"/>
          <p:cNvSpPr txBox="1"/>
          <p:nvPr/>
        </p:nvSpPr>
        <p:spPr>
          <a:xfrm>
            <a:off x="1759065" y="3157107"/>
            <a:ext cx="12367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pc="0" sz="1800" u="none" cap="none" strike="noStrike">
                <a:solidFill>
                  <a:srgbClr val="555555"/>
                </a:solidFill>
                <a:latin typeface="Montserrat"/>
                <a:ea typeface="Montserrat"/>
                <a:cs typeface="Montserrat"/>
                <a:sym typeface="Montserrat"/>
              </a:rPr>
              <a:t>Use silent individual reflection, group similar ideas, discuss as a team, and agree on the top improvement actions.</a:t>
            </a:r>
            <a:endParaRPr b="0" i="0" spc="0" sz="1800" u="none" cap="none" strike="noStrike">
              <a:solidFill>
                <a:srgbClr val="000000"/>
              </a:solidFill>
              <a:latin typeface="Arial"/>
              <a:ea typeface="Arial"/>
              <a:cs typeface="Arial"/>
              <a:sym typeface="Arial"/>
            </a:endParaRPr>
          </a:p>
        </p:txBody>
      </p:sp>
      <p:sp>
        <p:nvSpPr>
          <p:cNvPr id="156" name="Google Shape;156;h582754c433727a4c_0_50"/>
          <p:cNvSpPr/>
          <p:nvPr/>
        </p:nvSpPr>
        <p:spPr>
          <a:xfrm>
            <a:off x="1733433" y="3858160"/>
            <a:ext cx="14290200" cy="9900"/>
          </a:xfrm>
          <a:prstGeom prst="rect">
            <a:avLst/>
          </a:prstGeom>
          <a:solidFill>
            <a:srgbClr val="EBEFF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800" u="none" cap="none" strike="noStrike">
              <a:solidFill>
                <a:srgbClr val="FFFFFF"/>
              </a:solidFill>
              <a:latin typeface="Arial"/>
              <a:ea typeface="Arial"/>
              <a:cs typeface="Arial"/>
              <a:sym typeface="Arial"/>
            </a:endParaRPr>
          </a:p>
        </p:txBody>
      </p:sp>
      <p:sp>
        <p:nvSpPr>
          <p:cNvPr id="157" name="Google Shape;157;h582754c433727a4c_0_50"/>
          <p:cNvSpPr txBox="1"/>
          <p:nvPr/>
        </p:nvSpPr>
        <p:spPr>
          <a:xfrm>
            <a:off x="1054157" y="4045196"/>
            <a:ext cx="854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pc="0" sz="1800" u="none" cap="none" strike="noStrike">
                <a:solidFill>
                  <a:srgbClr val="1E6FBF"/>
                </a:solidFill>
                <a:latin typeface="Montserrat"/>
                <a:ea typeface="Montserrat"/>
                <a:cs typeface="Montserrat"/>
                <a:sym typeface="Montserrat"/>
              </a:rPr>
              <a:t>02</a:t>
            </a:r>
            <a:endParaRPr b="0" i="0" spc="0" sz="1800" u="none" cap="none" strike="noStrike">
              <a:solidFill>
                <a:srgbClr val="000000"/>
              </a:solidFill>
              <a:latin typeface="Arial"/>
              <a:ea typeface="Arial"/>
              <a:cs typeface="Arial"/>
              <a:sym typeface="Arial"/>
            </a:endParaRPr>
          </a:p>
        </p:txBody>
      </p:sp>
      <p:sp>
        <p:nvSpPr>
          <p:cNvPr id="158" name="Google Shape;158;h582754c433727a4c_0_50"/>
          <p:cNvSpPr txBox="1"/>
          <p:nvPr/>
        </p:nvSpPr>
        <p:spPr>
          <a:xfrm>
            <a:off x="1759065" y="4064926"/>
            <a:ext cx="5318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pc="0" sz="1800" u="none" cap="none" strike="noStrike">
                <a:solidFill>
                  <a:srgbClr val="111111"/>
                </a:solidFill>
                <a:latin typeface="Montserrat"/>
                <a:ea typeface="Montserrat"/>
                <a:cs typeface="Montserrat"/>
                <a:sym typeface="Montserrat"/>
              </a:rPr>
              <a:t>Clear action items</a:t>
            </a:r>
            <a:endParaRPr b="0" i="0" spc="0" sz="1800" u="none" cap="none" strike="noStrike">
              <a:solidFill>
                <a:srgbClr val="000000"/>
              </a:solidFill>
              <a:latin typeface="Arial"/>
              <a:ea typeface="Arial"/>
              <a:cs typeface="Arial"/>
              <a:sym typeface="Arial"/>
            </a:endParaRPr>
          </a:p>
        </p:txBody>
      </p:sp>
      <p:sp>
        <p:nvSpPr>
          <p:cNvPr id="159" name="Google Shape;159;h582754c433727a4c_0_50"/>
          <p:cNvSpPr txBox="1"/>
          <p:nvPr/>
        </p:nvSpPr>
        <p:spPr>
          <a:xfrm>
            <a:off x="1759065" y="4486870"/>
            <a:ext cx="12367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pc="0" sz="1800" u="none" cap="none" strike="noStrike">
                <a:solidFill>
                  <a:srgbClr val="555555"/>
                </a:solidFill>
                <a:latin typeface="Montserrat"/>
                <a:ea typeface="Montserrat"/>
                <a:cs typeface="Montserrat"/>
                <a:sym typeface="Montserrat"/>
              </a:rPr>
              <a:t>Each retro action fixes one “what can improve” item and has an owner and a check.</a:t>
            </a:r>
            <a:endParaRPr b="0" i="0" spc="0" sz="1800" u="none" cap="none" strike="noStrike">
              <a:solidFill>
                <a:srgbClr val="000000"/>
              </a:solidFill>
              <a:latin typeface="Arial"/>
              <a:ea typeface="Arial"/>
              <a:cs typeface="Arial"/>
              <a:sym typeface="Arial"/>
            </a:endParaRPr>
          </a:p>
        </p:txBody>
      </p:sp>
      <p:sp>
        <p:nvSpPr>
          <p:cNvPr id="160" name="Google Shape;160;h582754c433727a4c_0_50"/>
          <p:cNvSpPr/>
          <p:nvPr/>
        </p:nvSpPr>
        <p:spPr>
          <a:xfrm>
            <a:off x="1733433" y="5016962"/>
            <a:ext cx="14290200" cy="9900"/>
          </a:xfrm>
          <a:prstGeom prst="rect">
            <a:avLst/>
          </a:prstGeom>
          <a:solidFill>
            <a:srgbClr val="EBEFF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800" u="none" cap="none" strike="noStrike">
              <a:solidFill>
                <a:srgbClr val="FFFFFF"/>
              </a:solidFill>
              <a:latin typeface="Arial"/>
              <a:ea typeface="Arial"/>
              <a:cs typeface="Arial"/>
              <a:sym typeface="Arial"/>
            </a:endParaRPr>
          </a:p>
        </p:txBody>
      </p:sp>
      <p:sp>
        <p:nvSpPr>
          <p:cNvPr id="161" name="Google Shape;161;h582754c433727a4c_0_50"/>
          <p:cNvSpPr txBox="1"/>
          <p:nvPr/>
        </p:nvSpPr>
        <p:spPr>
          <a:xfrm>
            <a:off x="1054162" y="5401073"/>
            <a:ext cx="854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pc="0" sz="1800" u="none" cap="none" strike="noStrike">
                <a:solidFill>
                  <a:srgbClr val="1E6FBF"/>
                </a:solidFill>
                <a:latin typeface="Montserrat"/>
                <a:ea typeface="Montserrat"/>
                <a:cs typeface="Montserrat"/>
                <a:sym typeface="Montserrat"/>
              </a:rPr>
              <a:t>03</a:t>
            </a:r>
            <a:endParaRPr b="0" i="0" spc="0" sz="1800" u="none" cap="none" strike="noStrike">
              <a:solidFill>
                <a:srgbClr val="000000"/>
              </a:solidFill>
              <a:latin typeface="Arial"/>
              <a:ea typeface="Arial"/>
              <a:cs typeface="Arial"/>
              <a:sym typeface="Arial"/>
            </a:endParaRPr>
          </a:p>
        </p:txBody>
      </p:sp>
      <p:sp>
        <p:nvSpPr>
          <p:cNvPr id="162" name="Google Shape;162;h582754c433727a4c_0_50"/>
          <p:cNvSpPr txBox="1"/>
          <p:nvPr/>
        </p:nvSpPr>
        <p:spPr>
          <a:xfrm>
            <a:off x="1759065" y="5394689"/>
            <a:ext cx="5318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pc="0" sz="1800" u="none" cap="none" strike="noStrike">
                <a:solidFill>
                  <a:srgbClr val="111111"/>
                </a:solidFill>
                <a:latin typeface="Montserrat"/>
                <a:ea typeface="Montserrat"/>
                <a:cs typeface="Montserrat"/>
                <a:sym typeface="Montserrat"/>
              </a:rPr>
              <a:t>Task ownership in planning</a:t>
            </a:r>
            <a:endParaRPr b="0" i="0" spc="0" sz="1800" u="none" cap="none" strike="noStrike">
              <a:solidFill>
                <a:srgbClr val="000000"/>
              </a:solidFill>
              <a:latin typeface="Arial"/>
              <a:ea typeface="Arial"/>
              <a:cs typeface="Arial"/>
              <a:sym typeface="Arial"/>
            </a:endParaRPr>
          </a:p>
        </p:txBody>
      </p:sp>
      <p:sp>
        <p:nvSpPr>
          <p:cNvPr id="163" name="Google Shape;163;h582754c433727a4c_0_50"/>
          <p:cNvSpPr txBox="1"/>
          <p:nvPr/>
        </p:nvSpPr>
        <p:spPr>
          <a:xfrm>
            <a:off x="1759065" y="5816633"/>
            <a:ext cx="123675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pc="0" sz="1800" u="none" cap="none" strike="noStrike">
                <a:solidFill>
                  <a:srgbClr val="555555"/>
                </a:solidFill>
                <a:latin typeface="Montserrat"/>
                <a:ea typeface="Montserrat"/>
                <a:cs typeface="Montserrat"/>
                <a:sym typeface="Montserrat"/>
              </a:rPr>
              <a:t>In sprint planning, each member picks their own items in Jira. No work is assigned before the meeting.</a:t>
            </a:r>
            <a:endParaRPr b="0" i="0" spc="0" sz="1800" u="none" cap="none" strike="noStrike">
              <a:solidFill>
                <a:srgbClr val="000000"/>
              </a:solidFill>
              <a:latin typeface="Arial"/>
              <a:ea typeface="Arial"/>
              <a:cs typeface="Arial"/>
              <a:sym typeface="Arial"/>
            </a:endParaRPr>
          </a:p>
        </p:txBody>
      </p:sp>
      <p:sp>
        <p:nvSpPr>
          <p:cNvPr id="164" name="Google Shape;164;h582754c433727a4c_0_50"/>
          <p:cNvSpPr/>
          <p:nvPr/>
        </p:nvSpPr>
        <p:spPr>
          <a:xfrm>
            <a:off x="1733433" y="6346725"/>
            <a:ext cx="14290200" cy="9900"/>
          </a:xfrm>
          <a:prstGeom prst="rect">
            <a:avLst/>
          </a:prstGeom>
          <a:solidFill>
            <a:srgbClr val="EBEFF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800" u="none" cap="none" strike="noStrike">
              <a:solidFill>
                <a:srgbClr val="FFFFFF"/>
              </a:solidFill>
              <a:latin typeface="Arial"/>
              <a:ea typeface="Arial"/>
              <a:cs typeface="Arial"/>
              <a:sym typeface="Arial"/>
            </a:endParaRPr>
          </a:p>
        </p:txBody>
      </p:sp>
      <p:sp>
        <p:nvSpPr>
          <p:cNvPr id="165" name="Google Shape;165;h582754c433727a4c_0_50"/>
          <p:cNvSpPr txBox="1"/>
          <p:nvPr/>
        </p:nvSpPr>
        <p:spPr>
          <a:xfrm>
            <a:off x="1054156" y="6730838"/>
            <a:ext cx="854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pc="0" sz="1800" u="none" cap="none" strike="noStrike">
                <a:solidFill>
                  <a:srgbClr val="1E6FBF"/>
                </a:solidFill>
                <a:latin typeface="Montserrat"/>
                <a:ea typeface="Montserrat"/>
                <a:cs typeface="Montserrat"/>
                <a:sym typeface="Montserrat"/>
              </a:rPr>
              <a:t>04</a:t>
            </a:r>
            <a:endParaRPr b="0" i="0" spc="0" sz="1800" u="none" cap="none" strike="noStrike">
              <a:solidFill>
                <a:srgbClr val="000000"/>
              </a:solidFill>
              <a:latin typeface="Arial"/>
              <a:ea typeface="Arial"/>
              <a:cs typeface="Arial"/>
              <a:sym typeface="Arial"/>
            </a:endParaRPr>
          </a:p>
        </p:txBody>
      </p:sp>
      <p:sp>
        <p:nvSpPr>
          <p:cNvPr id="166" name="Google Shape;166;h582754c433727a4c_0_50"/>
          <p:cNvSpPr txBox="1"/>
          <p:nvPr/>
        </p:nvSpPr>
        <p:spPr>
          <a:xfrm>
            <a:off x="1759065" y="6724452"/>
            <a:ext cx="5318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pc="0" sz="1800" u="none" cap="none" strike="noStrike">
                <a:solidFill>
                  <a:srgbClr val="111111"/>
                </a:solidFill>
                <a:latin typeface="Montserrat"/>
                <a:ea typeface="Montserrat"/>
                <a:cs typeface="Montserrat"/>
                <a:sym typeface="Montserrat"/>
              </a:rPr>
              <a:t>Capacity-based planning</a:t>
            </a:r>
            <a:endParaRPr b="0" i="0" spc="0" sz="1800" u="none" cap="none" strike="noStrike">
              <a:solidFill>
                <a:srgbClr val="000000"/>
              </a:solidFill>
              <a:latin typeface="Arial"/>
              <a:ea typeface="Arial"/>
              <a:cs typeface="Arial"/>
              <a:sym typeface="Arial"/>
            </a:endParaRPr>
          </a:p>
        </p:txBody>
      </p:sp>
      <p:sp>
        <p:nvSpPr>
          <p:cNvPr id="167" name="Google Shape;167;h582754c433727a4c_0_50"/>
          <p:cNvSpPr txBox="1"/>
          <p:nvPr/>
        </p:nvSpPr>
        <p:spPr>
          <a:xfrm>
            <a:off x="1759065" y="7146396"/>
            <a:ext cx="12367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pc="0" sz="1800" u="none" cap="none" strike="noStrike">
                <a:solidFill>
                  <a:srgbClr val="555555"/>
                </a:solidFill>
                <a:latin typeface="Montserrat"/>
                <a:ea typeface="Montserrat"/>
                <a:cs typeface="Montserrat"/>
                <a:sym typeface="Montserrat"/>
              </a:rPr>
              <a:t>Consider each member’s availability and workload before the team commits to Sprint 2 stories and story points.</a:t>
            </a:r>
            <a:endParaRPr b="0" i="0" spc="0" sz="1800" u="none" cap="none" strike="noStrike">
              <a:solidFill>
                <a:srgbClr val="000000"/>
              </a:solidFill>
              <a:latin typeface="Arial"/>
              <a:ea typeface="Arial"/>
              <a:cs typeface="Arial"/>
              <a:sym typeface="Arial"/>
            </a:endParaRPr>
          </a:p>
        </p:txBody>
      </p:sp>
      <p:sp>
        <p:nvSpPr>
          <p:cNvPr id="168" name="Google Shape;168;h582754c433727a4c_0_50"/>
          <p:cNvSpPr/>
          <p:nvPr/>
        </p:nvSpPr>
        <p:spPr>
          <a:xfrm>
            <a:off x="1733433" y="7853988"/>
            <a:ext cx="14290200" cy="9900"/>
          </a:xfrm>
          <a:prstGeom prst="rect">
            <a:avLst/>
          </a:prstGeom>
          <a:solidFill>
            <a:srgbClr val="EBEFF3"/>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800" u="none" cap="none" strike="noStrike">
              <a:solidFill>
                <a:srgbClr val="FFFFFF"/>
              </a:solidFill>
              <a:latin typeface="Arial"/>
              <a:ea typeface="Arial"/>
              <a:cs typeface="Arial"/>
              <a:sym typeface="Arial"/>
            </a:endParaRPr>
          </a:p>
        </p:txBody>
      </p:sp>
      <p:sp>
        <p:nvSpPr>
          <p:cNvPr id="169" name="Google Shape;169;h582754c433727a4c_0_50"/>
          <p:cNvSpPr txBox="1"/>
          <p:nvPr/>
        </p:nvSpPr>
        <p:spPr>
          <a:xfrm>
            <a:off x="1047750" y="8124010"/>
            <a:ext cx="854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300"/>
              <a:buFont typeface="Arial"/>
              <a:buNone/>
            </a:pPr>
            <a:r>
              <a:rPr b="1" i="0" lang="en-US" spc="0" sz="1800" u="none" cap="none" strike="noStrike">
                <a:solidFill>
                  <a:srgbClr val="1E6FBF"/>
                </a:solidFill>
                <a:latin typeface="Montserrat"/>
                <a:ea typeface="Montserrat"/>
                <a:cs typeface="Montserrat"/>
                <a:sym typeface="Montserrat"/>
              </a:rPr>
              <a:t>05</a:t>
            </a:r>
            <a:endParaRPr b="0" i="0" spc="0" sz="1800" u="none" cap="none" strike="noStrike">
              <a:solidFill>
                <a:srgbClr val="000000"/>
              </a:solidFill>
              <a:latin typeface="Arial"/>
              <a:ea typeface="Arial"/>
              <a:cs typeface="Arial"/>
              <a:sym typeface="Arial"/>
            </a:endParaRPr>
          </a:p>
        </p:txBody>
      </p:sp>
      <p:sp>
        <p:nvSpPr>
          <p:cNvPr id="170" name="Google Shape;170;h582754c433727a4c_0_50"/>
          <p:cNvSpPr txBox="1"/>
          <p:nvPr/>
        </p:nvSpPr>
        <p:spPr>
          <a:xfrm>
            <a:off x="1759065" y="8054214"/>
            <a:ext cx="5318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US" spc="0" sz="1800" u="none" cap="none" strike="noStrike">
                <a:solidFill>
                  <a:srgbClr val="111111"/>
                </a:solidFill>
                <a:latin typeface="Montserrat"/>
                <a:ea typeface="Montserrat"/>
                <a:cs typeface="Montserrat"/>
                <a:sym typeface="Montserrat"/>
              </a:rPr>
              <a:t>Commitments vs. impediments</a:t>
            </a:r>
            <a:endParaRPr b="0" i="0" spc="0" sz="1800" u="none" cap="none" strike="noStrike">
              <a:solidFill>
                <a:srgbClr val="000000"/>
              </a:solidFill>
              <a:latin typeface="Arial"/>
              <a:ea typeface="Arial"/>
              <a:cs typeface="Arial"/>
              <a:sym typeface="Arial"/>
            </a:endParaRPr>
          </a:p>
        </p:txBody>
      </p:sp>
      <p:sp>
        <p:nvSpPr>
          <p:cNvPr id="171" name="Google Shape;171;h582754c433727a4c_0_50"/>
          <p:cNvSpPr txBox="1"/>
          <p:nvPr/>
        </p:nvSpPr>
        <p:spPr>
          <a:xfrm>
            <a:off x="1759065" y="8476158"/>
            <a:ext cx="123675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50"/>
              <a:buFont typeface="Arial"/>
              <a:buNone/>
            </a:pPr>
            <a:r>
              <a:rPr b="0" i="0" lang="en-US" spc="0" sz="1800" u="none" cap="none" strike="noStrike">
                <a:solidFill>
                  <a:srgbClr val="555555"/>
                </a:solidFill>
                <a:latin typeface="Montserrat"/>
                <a:ea typeface="Montserrat"/>
                <a:cs typeface="Montserrat"/>
                <a:sym typeface="Montserrat"/>
              </a:rPr>
              <a:t>Distinguish an unfulfilled commitment from a genuine blocker and define how impediments are communicated and resolved.</a:t>
            </a:r>
            <a:endParaRPr b="0" i="0" spc="0" sz="1800" u="none" cap="none" strike="noStrike">
              <a:solidFill>
                <a:srgbClr val="000000"/>
              </a:solidFill>
              <a:latin typeface="Arial"/>
              <a:ea typeface="Arial"/>
              <a:cs typeface="Arial"/>
              <a:sym typeface="Arial"/>
            </a:endParaRPr>
          </a:p>
        </p:txBody>
      </p:sp>
      <p:sp>
        <p:nvSpPr>
          <p:cNvPr id="172" name="Google Shape;172;h582754c433727a4c_0_50"/>
          <p:cNvSpPr txBox="1"/>
          <p:nvPr/>
        </p:nvSpPr>
        <p:spPr>
          <a:xfrm>
            <a:off x="1908841" y="9364250"/>
            <a:ext cx="15761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800" u="none" cap="none" strike="noStrike">
                <a:solidFill>
                  <a:srgbClr val="555555"/>
                </a:solidFill>
                <a:latin typeface="Montserrat"/>
                <a:ea typeface="Montserrat"/>
                <a:cs typeface="Montserrat"/>
                <a:sym typeface="Montserrat"/>
              </a:rPr>
              <a:t>Slides changed because of this feedback carry an “Updated after Sprint 0 feedback” tag at the top right.</a:t>
            </a:r>
            <a:endParaRPr b="0" i="0" spc="0" sz="1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111"/>
        </a:solidFill>
      </p:bgPr>
    </p:bg>
    <p:spTree>
      <p:nvGrpSpPr>
        <p:cNvPr id="177" name="Shape 177"/>
        <p:cNvGrpSpPr/>
        <p:nvPr/>
      </p:nvGrpSpPr>
      <p:grpSpPr>
        <a:xfrm>
          <a:off x="0" y="0"/>
          <a:ext cx="0" cy="0"/>
          <a:chOff x="0" y="0"/>
          <a:chExt cx="0" cy="0"/>
        </a:xfrm>
      </p:grpSpPr>
      <p:pic>
        <p:nvPicPr>
          <p:cNvPr descr="preencoded.png" id="178" name="Google Shape;178;h582754c433727a4c_0_216"/>
          <p:cNvPicPr preferRelativeResize="0"/>
          <p:nvPr/>
        </p:nvPicPr>
        <p:blipFill rotWithShape="1">
          <a:blip r:embed="rId3">
            <a:alphaModFix/>
          </a:blip>
          <a:srcRect b="-3810" l="0" r="0" t="-3810"/>
          <a:stretch/>
        </p:blipFill>
        <p:spPr>
          <a:xfrm>
            <a:off x="8572500" y="3355181"/>
            <a:ext cx="1143000" cy="1143001"/>
          </a:xfrm>
          <a:prstGeom prst="rect">
            <a:avLst/>
          </a:prstGeom>
          <a:noFill/>
          <a:ln>
            <a:noFill/>
          </a:ln>
        </p:spPr>
      </p:pic>
      <p:sp>
        <p:nvSpPr>
          <p:cNvPr id="179" name="Google Shape;179;h582754c433727a4c_0_216"/>
          <p:cNvSpPr/>
          <p:nvPr/>
        </p:nvSpPr>
        <p:spPr>
          <a:xfrm>
            <a:off x="1371600" y="4879181"/>
            <a:ext cx="15544800" cy="952500"/>
          </a:xfrm>
          <a:prstGeom prst="rect">
            <a:avLst/>
          </a:prstGeom>
          <a:noFill/>
          <a:ln>
            <a:noFill/>
          </a:ln>
        </p:spPr>
        <p:txBody>
          <a:bodyPr anchorCtr="0" anchor="t" bIns="25400" lIns="25400" spcFirstLastPara="1" rIns="25400" wrap="square" tIns="25400">
            <a:noAutofit/>
          </a:bodyPr>
          <a:lstStyle/>
          <a:p>
            <a:pPr indent="0" lvl="0" marL="0" marR="0" rtl="0" algn="ctr">
              <a:lnSpc>
                <a:spcPct val="82051"/>
              </a:lnSpc>
              <a:spcBef>
                <a:spcPts val="0"/>
              </a:spcBef>
              <a:spcAft>
                <a:spcPts val="0"/>
              </a:spcAft>
              <a:buClr>
                <a:srgbClr val="FFFFFF"/>
              </a:buClr>
              <a:buSzPts val="7200"/>
              <a:buFont typeface="Montserrat"/>
              <a:buNone/>
            </a:pPr>
            <a:r>
              <a:rPr b="1" i="0" lang="en-US" sz="7200" u="none" cap="none" strike="noStrike">
                <a:solidFill>
                  <a:srgbClr val="FFFFFF"/>
                </a:solidFill>
                <a:latin typeface="Montserrat"/>
                <a:ea typeface="Montserrat"/>
                <a:cs typeface="Montserrat"/>
                <a:sym typeface="Montserrat"/>
              </a:rPr>
              <a:t>Project recap</a:t>
            </a:r>
            <a:endParaRPr b="0" i="0" sz="7200" u="none" cap="none" strike="noStrike">
              <a:solidFill>
                <a:schemeClr val="dk1"/>
              </a:solidFill>
              <a:latin typeface="Calibri"/>
              <a:ea typeface="Calibri"/>
              <a:cs typeface="Calibri"/>
              <a:sym typeface="Calibri"/>
            </a:endParaRPr>
          </a:p>
        </p:txBody>
      </p:sp>
      <p:sp>
        <p:nvSpPr>
          <p:cNvPr id="180" name="Google Shape;180;h582754c433727a4c_0_216"/>
          <p:cNvSpPr/>
          <p:nvPr/>
        </p:nvSpPr>
        <p:spPr>
          <a:xfrm>
            <a:off x="8572500" y="6174581"/>
            <a:ext cx="1143000" cy="28500"/>
          </a:xfrm>
          <a:prstGeom prst="rect">
            <a:avLst/>
          </a:prstGeom>
          <a:solidFill>
            <a:srgbClr val="7DB7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h582754c433727a4c_0_216"/>
          <p:cNvSpPr/>
          <p:nvPr/>
        </p:nvSpPr>
        <p:spPr>
          <a:xfrm>
            <a:off x="2286000" y="6584156"/>
            <a:ext cx="13716000" cy="14631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E5E5E5"/>
              </a:buClr>
              <a:buSzPts val="2250"/>
              <a:buFont typeface="Montserrat"/>
              <a:buNone/>
            </a:pPr>
            <a:r>
              <a:rPr b="1" i="0" lang="en-US" sz="1800" u="none" cap="none" strike="noStrike">
                <a:solidFill>
                  <a:srgbClr val="7DB7F6"/>
                </a:solidFill>
                <a:latin typeface="Montserrat"/>
                <a:ea typeface="Montserrat"/>
                <a:cs typeface="Montserrat"/>
                <a:sym typeface="Montserrat"/>
              </a:rPr>
              <a:t>PART 1 OF 4</a:t>
            </a:r>
            <a:endParaRPr b="0" i="0" sz="2250" u="none" cap="none" strike="noStrike">
              <a:solidFill>
                <a:schemeClr val="dk1"/>
              </a:solidFill>
              <a:latin typeface="Calibri"/>
              <a:ea typeface="Calibri"/>
              <a:cs typeface="Calibri"/>
              <a:sym typeface="Calibri"/>
            </a:endParaRPr>
          </a:p>
          <a:p>
            <a:pPr indent="0" lvl="0" marL="0" marR="0" rtl="0" algn="ctr">
              <a:lnSpc>
                <a:spcPct val="100000"/>
              </a:lnSpc>
              <a:spcBef>
                <a:spcPts val="1000"/>
              </a:spcBef>
              <a:spcAft>
                <a:spcPts val="0"/>
              </a:spcAft>
              <a:buClr>
                <a:srgbClr val="E5E5E5"/>
              </a:buClr>
              <a:buSzPts val="2250"/>
              <a:buFont typeface="Montserrat"/>
              <a:buNone/>
            </a:pPr>
            <a:r>
              <a:rPr b="0" i="0" lang="en-US" sz="2250" u="none" cap="none" strike="noStrike">
                <a:solidFill>
                  <a:srgbClr val="E5E5E5"/>
                </a:solidFill>
                <a:latin typeface="Montserrat"/>
                <a:ea typeface="Montserrat"/>
                <a:cs typeface="Montserrat"/>
                <a:sym typeface="Montserrat"/>
              </a:rPr>
              <a:t>03 Project description · 04 Working agreement · 05 Personas · 06 MVP</a:t>
            </a:r>
            <a:endParaRPr b="0" i="0" sz="22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E5E5E5"/>
              </a:buClr>
              <a:buSzPts val="2250"/>
              <a:buFont typeface="Montserrat"/>
              <a:buNone/>
            </a:pPr>
            <a:r>
              <a:rPr b="0" i="0" lang="en-US" sz="2250" u="none" cap="none" strike="noStrike">
                <a:solidFill>
                  <a:srgbClr val="E5E5E5"/>
                </a:solidFill>
                <a:latin typeface="Montserrat"/>
                <a:ea typeface="Montserrat"/>
                <a:cs typeface="Montserrat"/>
                <a:sym typeface="Montserrat"/>
              </a:rPr>
              <a:t>07 Technologies · 08 Algorithms · 09 Diagrams</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5"/>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5"/>
          <p:cNvSpPr/>
          <p:nvPr/>
        </p:nvSpPr>
        <p:spPr>
          <a:xfrm>
            <a:off x="1047750" y="857250"/>
            <a:ext cx="9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03 · PROJECT DESCRIPTION</a:t>
            </a:r>
            <a:endParaRPr b="0" i="0" sz="1800" u="none" cap="none" strike="noStrike">
              <a:solidFill>
                <a:schemeClr val="dk1"/>
              </a:solidFill>
              <a:latin typeface="Calibri"/>
              <a:ea typeface="Calibri"/>
              <a:cs typeface="Calibri"/>
              <a:sym typeface="Calibri"/>
            </a:endParaRPr>
          </a:p>
        </p:txBody>
      </p:sp>
      <p:sp>
        <p:nvSpPr>
          <p:cNvPr id="189" name="Google Shape;189;p5"/>
          <p:cNvSpPr/>
          <p:nvPr/>
        </p:nvSpPr>
        <p:spPr>
          <a:xfrm>
            <a:off x="1047750" y="1266825"/>
            <a:ext cx="5887209"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Problem statement</a:t>
            </a:r>
            <a:endParaRPr b="0" i="0" sz="4200" u="none" cap="none" strike="noStrike">
              <a:solidFill>
                <a:schemeClr val="dk1"/>
              </a:solidFill>
              <a:latin typeface="Calibri"/>
              <a:ea typeface="Calibri"/>
              <a:cs typeface="Calibri"/>
              <a:sym typeface="Calibri"/>
            </a:endParaRPr>
          </a:p>
        </p:txBody>
      </p:sp>
      <p:pic>
        <p:nvPicPr>
          <p:cNvPr descr="preencoded.png" id="190" name="Google Shape;190;p5"/>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191" name="Google Shape;191;p5"/>
          <p:cNvSpPr/>
          <p:nvPr/>
        </p:nvSpPr>
        <p:spPr>
          <a:xfrm>
            <a:off x="1047750" y="2495550"/>
            <a:ext cx="9604348"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PROBLEM STATEMENT</a:t>
            </a:r>
            <a:endParaRPr b="0" i="0" sz="1800" u="none" cap="none" strike="noStrike">
              <a:solidFill>
                <a:schemeClr val="dk1"/>
              </a:solidFill>
              <a:latin typeface="Calibri"/>
              <a:ea typeface="Calibri"/>
              <a:cs typeface="Calibri"/>
              <a:sym typeface="Calibri"/>
            </a:endParaRPr>
          </a:p>
        </p:txBody>
      </p:sp>
      <p:sp>
        <p:nvSpPr>
          <p:cNvPr id="192" name="Google Shape;192;p5"/>
          <p:cNvSpPr/>
          <p:nvPr/>
        </p:nvSpPr>
        <p:spPr>
          <a:xfrm>
            <a:off x="1047750" y="2905125"/>
            <a:ext cx="8731225" cy="3267075"/>
          </a:xfrm>
          <a:prstGeom prst="roundRect">
            <a:avLst>
              <a:gd fmla="val 4665"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5"/>
          <p:cNvSpPr/>
          <p:nvPr/>
        </p:nvSpPr>
        <p:spPr>
          <a:xfrm>
            <a:off x="1352550" y="3209925"/>
            <a:ext cx="8383562" cy="2695575"/>
          </a:xfrm>
          <a:prstGeom prst="rect">
            <a:avLst/>
          </a:prstGeom>
          <a:noFill/>
          <a:ln>
            <a:noFill/>
          </a:ln>
        </p:spPr>
        <p:txBody>
          <a:bodyPr anchorCtr="0" anchor="t" bIns="25400" lIns="25400" spcFirstLastPara="1" rIns="25400" wrap="square" tIns="25400">
            <a:noAutofit/>
          </a:bodyPr>
          <a:lstStyle/>
          <a:p>
            <a:pPr indent="0" lvl="0" marL="0" marR="0" rtl="0" algn="l">
              <a:lnSpc>
                <a:spcPct val="122368"/>
              </a:lnSpc>
              <a:spcBef>
                <a:spcPts val="0"/>
              </a:spcBef>
              <a:spcAft>
                <a:spcPts val="0"/>
              </a:spcAft>
              <a:buClr>
                <a:srgbClr val="3D3D3D"/>
              </a:buClr>
              <a:buSzPts val="2325"/>
              <a:buFont typeface="Montserrat"/>
              <a:buNone/>
            </a:pPr>
            <a:r>
              <a:rPr b="0" i="0" lang="en-US" sz="2325" u="none" cap="none" strike="noStrike">
                <a:solidFill>
                  <a:srgbClr val="3D3D3D"/>
                </a:solidFill>
                <a:latin typeface="Montserrat"/>
                <a:ea typeface="Montserrat"/>
                <a:cs typeface="Montserrat"/>
                <a:sym typeface="Montserrat"/>
              </a:rPr>
              <a:t>Cataract and glaucoma cause a large share of the world's vision loss, but they fail patients in opposite ways: cataract is treatable if caught, glaucoma has no symptoms until the damage is already permanent. Both require routine screening that many at-risk patients never get.</a:t>
            </a:r>
            <a:endParaRPr b="0" i="0" sz="2325" u="none" cap="none" strike="noStrike">
              <a:solidFill>
                <a:schemeClr val="dk1"/>
              </a:solidFill>
              <a:latin typeface="Calibri"/>
              <a:ea typeface="Calibri"/>
              <a:cs typeface="Calibri"/>
              <a:sym typeface="Calibri"/>
            </a:endParaRPr>
          </a:p>
        </p:txBody>
      </p:sp>
      <p:sp>
        <p:nvSpPr>
          <p:cNvPr id="194" name="Google Shape;194;p5"/>
          <p:cNvSpPr/>
          <p:nvPr/>
        </p:nvSpPr>
        <p:spPr>
          <a:xfrm>
            <a:off x="10255225" y="2495550"/>
            <a:ext cx="7683445"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EVIDENCE TO CITE</a:t>
            </a:r>
            <a:endParaRPr b="0" i="0" sz="1800" u="none" cap="none" strike="noStrike">
              <a:solidFill>
                <a:schemeClr val="dk1"/>
              </a:solidFill>
              <a:latin typeface="Calibri"/>
              <a:ea typeface="Calibri"/>
              <a:cs typeface="Calibri"/>
              <a:sym typeface="Calibri"/>
            </a:endParaRPr>
          </a:p>
        </p:txBody>
      </p:sp>
      <p:sp>
        <p:nvSpPr>
          <p:cNvPr id="195" name="Google Shape;195;p5"/>
          <p:cNvSpPr/>
          <p:nvPr/>
        </p:nvSpPr>
        <p:spPr>
          <a:xfrm>
            <a:off x="10255225" y="2943225"/>
            <a:ext cx="6984950" cy="5171926"/>
          </a:xfrm>
          <a:prstGeom prst="roundRect">
            <a:avLst>
              <a:gd fmla="val 2947"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5"/>
          <p:cNvSpPr/>
          <p:nvPr/>
        </p:nvSpPr>
        <p:spPr>
          <a:xfrm>
            <a:off x="10521925" y="3209925"/>
            <a:ext cx="7096705" cy="647700"/>
          </a:xfrm>
          <a:prstGeom prst="rect">
            <a:avLst/>
          </a:prstGeom>
          <a:noFill/>
          <a:ln>
            <a:noFill/>
          </a:ln>
        </p:spPr>
        <p:txBody>
          <a:bodyPr anchorCtr="0" anchor="t" bIns="25400" lIns="25400" spcFirstLastPara="1" rIns="25400" wrap="square" tIns="25400">
            <a:noAutofit/>
          </a:bodyPr>
          <a:lstStyle/>
          <a:p>
            <a:pPr indent="0" lvl="0" marL="0" marR="0" rtl="0" algn="l">
              <a:lnSpc>
                <a:spcPct val="82051"/>
              </a:lnSpc>
              <a:spcBef>
                <a:spcPts val="0"/>
              </a:spcBef>
              <a:spcAft>
                <a:spcPts val="0"/>
              </a:spcAft>
              <a:buClr>
                <a:srgbClr val="1E6FBF"/>
              </a:buClr>
              <a:buSzPts val="4800"/>
              <a:buFont typeface="Montserrat"/>
              <a:buNone/>
            </a:pPr>
            <a:r>
              <a:rPr b="1" i="0" lang="en-US" sz="4800" u="none" cap="none" strike="noStrike">
                <a:solidFill>
                  <a:srgbClr val="1E6FBF"/>
                </a:solidFill>
                <a:latin typeface="Montserrat"/>
                <a:ea typeface="Montserrat"/>
                <a:cs typeface="Montserrat"/>
                <a:sym typeface="Montserrat"/>
              </a:rPr>
              <a:t>45%</a:t>
            </a:r>
            <a:endParaRPr b="0" i="0" sz="4800" u="none" cap="none" strike="noStrike">
              <a:solidFill>
                <a:schemeClr val="dk1"/>
              </a:solidFill>
              <a:latin typeface="Calibri"/>
              <a:ea typeface="Calibri"/>
              <a:cs typeface="Calibri"/>
              <a:sym typeface="Calibri"/>
            </a:endParaRPr>
          </a:p>
        </p:txBody>
      </p:sp>
      <p:sp>
        <p:nvSpPr>
          <p:cNvPr id="197" name="Google Shape;197;p5"/>
          <p:cNvSpPr/>
          <p:nvPr/>
        </p:nvSpPr>
        <p:spPr>
          <a:xfrm>
            <a:off x="10521925" y="3895725"/>
            <a:ext cx="6645097"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11111"/>
              </a:buClr>
              <a:buSzPts val="2025"/>
              <a:buFont typeface="Montserrat"/>
              <a:buNone/>
            </a:pPr>
            <a:r>
              <a:rPr b="0" i="0" lang="en-US" sz="2025" u="none" cap="none" strike="noStrike">
                <a:solidFill>
                  <a:srgbClr val="111111"/>
                </a:solidFill>
                <a:latin typeface="Montserrat"/>
                <a:ea typeface="Montserrat"/>
                <a:cs typeface="Montserrat"/>
                <a:sym typeface="Montserrat"/>
              </a:rPr>
              <a:t>of global blindness caused by cataract </a:t>
            </a:r>
            <a:r>
              <a:rPr b="0" i="0" lang="en-US" sz="2025" u="none" cap="none" strike="noStrike">
                <a:solidFill>
                  <a:srgbClr val="3D3D3D"/>
                </a:solidFill>
                <a:latin typeface="Montserrat"/>
                <a:ea typeface="Montserrat"/>
                <a:cs typeface="Montserrat"/>
                <a:sym typeface="Montserrat"/>
              </a:rPr>
              <a:t>(WHO / GBD 2020)</a:t>
            </a:r>
            <a:endParaRPr b="0" i="0" sz="2025" u="none" cap="none" strike="noStrike">
              <a:solidFill>
                <a:schemeClr val="dk1"/>
              </a:solidFill>
              <a:latin typeface="Calibri"/>
              <a:ea typeface="Calibri"/>
              <a:cs typeface="Calibri"/>
              <a:sym typeface="Calibri"/>
            </a:endParaRPr>
          </a:p>
        </p:txBody>
      </p:sp>
      <p:sp>
        <p:nvSpPr>
          <p:cNvPr id="198" name="Google Shape;198;p5"/>
          <p:cNvSpPr/>
          <p:nvPr/>
        </p:nvSpPr>
        <p:spPr>
          <a:xfrm>
            <a:off x="10521925" y="4806255"/>
            <a:ext cx="645155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5"/>
          <p:cNvSpPr/>
          <p:nvPr/>
        </p:nvSpPr>
        <p:spPr>
          <a:xfrm>
            <a:off x="10521925" y="5006280"/>
            <a:ext cx="7096705" cy="647700"/>
          </a:xfrm>
          <a:prstGeom prst="rect">
            <a:avLst/>
          </a:prstGeom>
          <a:noFill/>
          <a:ln>
            <a:noFill/>
          </a:ln>
        </p:spPr>
        <p:txBody>
          <a:bodyPr anchorCtr="0" anchor="t" bIns="25400" lIns="25400" spcFirstLastPara="1" rIns="25400" wrap="square" tIns="25400">
            <a:noAutofit/>
          </a:bodyPr>
          <a:lstStyle/>
          <a:p>
            <a:pPr indent="0" lvl="0" marL="0" marR="0" rtl="0" algn="l">
              <a:lnSpc>
                <a:spcPct val="82051"/>
              </a:lnSpc>
              <a:spcBef>
                <a:spcPts val="0"/>
              </a:spcBef>
              <a:spcAft>
                <a:spcPts val="0"/>
              </a:spcAft>
              <a:buClr>
                <a:srgbClr val="1E6FBF"/>
              </a:buClr>
              <a:buSzPts val="4800"/>
              <a:buFont typeface="Montserrat"/>
              <a:buNone/>
            </a:pPr>
            <a:r>
              <a:rPr b="1" i="0" lang="en-US" sz="4800" u="none" cap="none" strike="noStrike">
                <a:solidFill>
                  <a:srgbClr val="1E6FBF"/>
                </a:solidFill>
                <a:latin typeface="Montserrat"/>
                <a:ea typeface="Montserrat"/>
                <a:cs typeface="Montserrat"/>
                <a:sym typeface="Montserrat"/>
              </a:rPr>
              <a:t>Half</a:t>
            </a:r>
            <a:endParaRPr b="0" i="0" sz="4800" u="none" cap="none" strike="noStrike">
              <a:solidFill>
                <a:schemeClr val="dk1"/>
              </a:solidFill>
              <a:latin typeface="Calibri"/>
              <a:ea typeface="Calibri"/>
              <a:cs typeface="Calibri"/>
              <a:sym typeface="Calibri"/>
            </a:endParaRPr>
          </a:p>
        </p:txBody>
      </p:sp>
      <p:sp>
        <p:nvSpPr>
          <p:cNvPr id="200" name="Google Shape;200;p5"/>
          <p:cNvSpPr/>
          <p:nvPr/>
        </p:nvSpPr>
        <p:spPr>
          <a:xfrm>
            <a:off x="10521925" y="5692080"/>
            <a:ext cx="7096705"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11111"/>
              </a:buClr>
              <a:buSzPts val="2025"/>
              <a:buFont typeface="Montserrat"/>
              <a:buNone/>
            </a:pPr>
            <a:r>
              <a:rPr b="0" i="0" lang="en-US" sz="2025" u="none" cap="none" strike="noStrike">
                <a:solidFill>
                  <a:srgbClr val="111111"/>
                </a:solidFill>
                <a:latin typeface="Montserrat"/>
                <a:ea typeface="Montserrat"/>
                <a:cs typeface="Montserrat"/>
                <a:sym typeface="Montserrat"/>
              </a:rPr>
              <a:t>of US glaucoma cases go undiagnosed </a:t>
            </a:r>
            <a:r>
              <a:rPr b="0" i="0" lang="en-US" sz="2025" u="none" cap="none" strike="noStrike">
                <a:solidFill>
                  <a:srgbClr val="3D3D3D"/>
                </a:solidFill>
                <a:latin typeface="Montserrat"/>
                <a:ea typeface="Montserrat"/>
                <a:cs typeface="Montserrat"/>
                <a:sym typeface="Montserrat"/>
              </a:rPr>
              <a:t>(CDC)</a:t>
            </a:r>
            <a:endParaRPr b="0" i="0" sz="2025" u="none" cap="none" strike="noStrike">
              <a:solidFill>
                <a:schemeClr val="dk1"/>
              </a:solidFill>
              <a:latin typeface="Calibri"/>
              <a:ea typeface="Calibri"/>
              <a:cs typeface="Calibri"/>
              <a:sym typeface="Calibri"/>
            </a:endParaRPr>
          </a:p>
        </p:txBody>
      </p:sp>
      <p:sp>
        <p:nvSpPr>
          <p:cNvPr id="201" name="Google Shape;201;p5"/>
          <p:cNvSpPr/>
          <p:nvPr/>
        </p:nvSpPr>
        <p:spPr>
          <a:xfrm>
            <a:off x="10521925" y="6242596"/>
            <a:ext cx="645155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5"/>
          <p:cNvSpPr/>
          <p:nvPr/>
        </p:nvSpPr>
        <p:spPr>
          <a:xfrm>
            <a:off x="10521925" y="6442621"/>
            <a:ext cx="7096705" cy="647700"/>
          </a:xfrm>
          <a:prstGeom prst="rect">
            <a:avLst/>
          </a:prstGeom>
          <a:noFill/>
          <a:ln>
            <a:noFill/>
          </a:ln>
        </p:spPr>
        <p:txBody>
          <a:bodyPr anchorCtr="0" anchor="t" bIns="25400" lIns="25400" spcFirstLastPara="1" rIns="25400" wrap="square" tIns="25400">
            <a:noAutofit/>
          </a:bodyPr>
          <a:lstStyle/>
          <a:p>
            <a:pPr indent="0" lvl="0" marL="0" marR="0" rtl="0" algn="l">
              <a:lnSpc>
                <a:spcPct val="82051"/>
              </a:lnSpc>
              <a:spcBef>
                <a:spcPts val="0"/>
              </a:spcBef>
              <a:spcAft>
                <a:spcPts val="0"/>
              </a:spcAft>
              <a:buClr>
                <a:srgbClr val="B5573F"/>
              </a:buClr>
              <a:buSzPts val="4800"/>
              <a:buFont typeface="Montserrat"/>
              <a:buNone/>
            </a:pPr>
            <a:r>
              <a:rPr b="1" i="0" lang="en-US" sz="4800" u="none" cap="none" strike="noStrike">
                <a:solidFill>
                  <a:srgbClr val="B5573F"/>
                </a:solidFill>
                <a:latin typeface="Montserrat"/>
                <a:ea typeface="Montserrat"/>
                <a:cs typeface="Montserrat"/>
                <a:sym typeface="Montserrat"/>
              </a:rPr>
              <a:t>0.90 → 0.58</a:t>
            </a:r>
            <a:endParaRPr b="0" i="0" sz="4800" u="none" cap="none" strike="noStrike">
              <a:solidFill>
                <a:schemeClr val="dk1"/>
              </a:solidFill>
              <a:latin typeface="Calibri"/>
              <a:ea typeface="Calibri"/>
              <a:cs typeface="Calibri"/>
              <a:sym typeface="Calibri"/>
            </a:endParaRPr>
          </a:p>
        </p:txBody>
      </p:sp>
      <p:sp>
        <p:nvSpPr>
          <p:cNvPr id="203" name="Google Shape;203;p5"/>
          <p:cNvSpPr/>
          <p:nvPr/>
        </p:nvSpPr>
        <p:spPr>
          <a:xfrm>
            <a:off x="10521925" y="7128421"/>
            <a:ext cx="6645097"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111111"/>
              </a:buClr>
              <a:buSzPts val="2025"/>
              <a:buFont typeface="Montserrat"/>
              <a:buNone/>
            </a:pPr>
            <a:r>
              <a:rPr b="0" i="0" lang="en-US" sz="2025" u="none" cap="none" strike="noStrike">
                <a:solidFill>
                  <a:srgbClr val="111111"/>
                </a:solidFill>
                <a:latin typeface="Montserrat"/>
                <a:ea typeface="Montserrat"/>
                <a:cs typeface="Montserrat"/>
                <a:sym typeface="Montserrat"/>
              </a:rPr>
              <a:t>AI screeners: AUC in-house drops across sites </a:t>
            </a:r>
            <a:r>
              <a:rPr b="0" i="0" lang="en-US" sz="2025" u="none" cap="none" strike="noStrike">
                <a:solidFill>
                  <a:srgbClr val="3D3D3D"/>
                </a:solidFill>
                <a:latin typeface="Montserrat"/>
                <a:ea typeface="Montserrat"/>
                <a:cs typeface="Montserrat"/>
                <a:sym typeface="Montserrat"/>
              </a:rPr>
              <a:t>(J Clin Med, 2026)</a:t>
            </a:r>
            <a:endParaRPr b="0" i="0" sz="2025"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6"/>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6"/>
          <p:cNvSpPr/>
          <p:nvPr/>
        </p:nvSpPr>
        <p:spPr>
          <a:xfrm>
            <a:off x="1047750" y="857250"/>
            <a:ext cx="9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03 · PROJECT DESCRIPTION</a:t>
            </a:r>
            <a:endParaRPr b="0" i="0" sz="1800" u="none" cap="none" strike="noStrike">
              <a:solidFill>
                <a:schemeClr val="dk1"/>
              </a:solidFill>
              <a:latin typeface="Calibri"/>
              <a:ea typeface="Calibri"/>
              <a:cs typeface="Calibri"/>
              <a:sym typeface="Calibri"/>
            </a:endParaRPr>
          </a:p>
        </p:txBody>
      </p:sp>
      <p:sp>
        <p:nvSpPr>
          <p:cNvPr id="211" name="Google Shape;211;p6"/>
          <p:cNvSpPr/>
          <p:nvPr/>
        </p:nvSpPr>
        <p:spPr>
          <a:xfrm>
            <a:off x="1047750" y="1266825"/>
            <a:ext cx="3386606"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Hypothesis</a:t>
            </a:r>
            <a:endParaRPr b="0" i="0" sz="4200" u="none" cap="none" strike="noStrike">
              <a:solidFill>
                <a:schemeClr val="dk1"/>
              </a:solidFill>
              <a:latin typeface="Calibri"/>
              <a:ea typeface="Calibri"/>
              <a:cs typeface="Calibri"/>
              <a:sym typeface="Calibri"/>
            </a:endParaRPr>
          </a:p>
        </p:txBody>
      </p:sp>
      <p:pic>
        <p:nvPicPr>
          <p:cNvPr descr="preencoded.png" id="212" name="Google Shape;212;p6"/>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213" name="Google Shape;213;p6"/>
          <p:cNvSpPr/>
          <p:nvPr/>
        </p:nvSpPr>
        <p:spPr>
          <a:xfrm>
            <a:off x="1047750" y="2495550"/>
            <a:ext cx="9028435" cy="2476500"/>
          </a:xfrm>
          <a:prstGeom prst="roundRect">
            <a:avLst>
              <a:gd fmla="val 6154"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6"/>
          <p:cNvSpPr/>
          <p:nvPr/>
        </p:nvSpPr>
        <p:spPr>
          <a:xfrm>
            <a:off x="1047750" y="2495550"/>
            <a:ext cx="38100" cy="2476500"/>
          </a:xfrm>
          <a:prstGeom prst="rect">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6"/>
          <p:cNvSpPr/>
          <p:nvPr/>
        </p:nvSpPr>
        <p:spPr>
          <a:xfrm>
            <a:off x="1409700" y="2819400"/>
            <a:ext cx="8613488" cy="1866900"/>
          </a:xfrm>
          <a:prstGeom prst="rect">
            <a:avLst/>
          </a:prstGeom>
          <a:noFill/>
          <a:ln>
            <a:noFill/>
          </a:ln>
        </p:spPr>
        <p:txBody>
          <a:bodyPr anchorCtr="0" anchor="t" bIns="25400" lIns="25400" spcFirstLastPara="1" rIns="25400" wrap="square" tIns="25400">
            <a:noAutofit/>
          </a:bodyPr>
          <a:lstStyle/>
          <a:p>
            <a:pPr indent="0" lvl="0" marL="0" marR="0" rtl="0" algn="l">
              <a:lnSpc>
                <a:spcPct val="123077"/>
              </a:lnSpc>
              <a:spcBef>
                <a:spcPts val="0"/>
              </a:spcBef>
              <a:spcAft>
                <a:spcPts val="0"/>
              </a:spcAft>
              <a:buClr>
                <a:srgbClr val="3D3D3D"/>
              </a:buClr>
              <a:buSzPts val="2400"/>
              <a:buFont typeface="Montserrat"/>
              <a:buNone/>
            </a:pPr>
            <a:r>
              <a:rPr b="0" i="0" lang="en-US" sz="2400" u="none" cap="none" strike="noStrike">
                <a:solidFill>
                  <a:srgbClr val="3D3D3D"/>
                </a:solidFill>
                <a:latin typeface="Montserrat"/>
                <a:ea typeface="Montserrat"/>
                <a:cs typeface="Montserrat"/>
                <a:sym typeface="Montserrat"/>
              </a:rPr>
              <a:t>We believe that giving primary care and community screening sites a single-photo AI tool that flags both cataract and glaucoma risk will result in more at-risk patients getting referred before damage is done.</a:t>
            </a:r>
            <a:endParaRPr b="0" i="0" sz="2400" u="none" cap="none" strike="noStrike">
              <a:solidFill>
                <a:schemeClr val="dk1"/>
              </a:solidFill>
              <a:latin typeface="Calibri"/>
              <a:ea typeface="Calibri"/>
              <a:cs typeface="Calibri"/>
              <a:sym typeface="Calibri"/>
            </a:endParaRPr>
          </a:p>
        </p:txBody>
      </p:sp>
      <p:sp>
        <p:nvSpPr>
          <p:cNvPr id="216" name="Google Shape;216;p6"/>
          <p:cNvSpPr/>
          <p:nvPr/>
        </p:nvSpPr>
        <p:spPr>
          <a:xfrm>
            <a:off x="1047750" y="5219700"/>
            <a:ext cx="9028435" cy="2362200"/>
          </a:xfrm>
          <a:prstGeom prst="roundRect">
            <a:avLst>
              <a:gd fmla="val 6452" name="adj"/>
            </a:avLst>
          </a:prstGeom>
          <a:solidFill>
            <a:srgbClr val="FDF4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6"/>
          <p:cNvSpPr/>
          <p:nvPr/>
        </p:nvSpPr>
        <p:spPr>
          <a:xfrm>
            <a:off x="1047750" y="5219700"/>
            <a:ext cx="38100" cy="2362200"/>
          </a:xfrm>
          <a:prstGeom prst="rect">
            <a:avLst/>
          </a:prstGeom>
          <a:solidFill>
            <a:srgbClr val="B55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6"/>
          <p:cNvSpPr/>
          <p:nvPr/>
        </p:nvSpPr>
        <p:spPr>
          <a:xfrm>
            <a:off x="1409700" y="5543550"/>
            <a:ext cx="8613488" cy="1752600"/>
          </a:xfrm>
          <a:prstGeom prst="rect">
            <a:avLst/>
          </a:prstGeom>
          <a:noFill/>
          <a:ln>
            <a:noFill/>
          </a:ln>
        </p:spPr>
        <p:txBody>
          <a:bodyPr anchorCtr="0" anchor="t" bIns="25400" lIns="25400" spcFirstLastPara="1" rIns="25400" wrap="square" tIns="25400">
            <a:noAutofit/>
          </a:bodyPr>
          <a:lstStyle/>
          <a:p>
            <a:pPr indent="0" lvl="0" marL="0" marR="0" rtl="0" algn="l">
              <a:lnSpc>
                <a:spcPct val="123288"/>
              </a:lnSpc>
              <a:spcBef>
                <a:spcPts val="0"/>
              </a:spcBef>
              <a:spcAft>
                <a:spcPts val="0"/>
              </a:spcAft>
              <a:buClr>
                <a:srgbClr val="3D3D3D"/>
              </a:buClr>
              <a:buSzPts val="2250"/>
              <a:buFont typeface="Montserrat"/>
              <a:buNone/>
            </a:pPr>
            <a:r>
              <a:rPr b="0" i="0" lang="en-US" sz="2250" u="none" cap="none" strike="noStrike">
                <a:solidFill>
                  <a:srgbClr val="3D3D3D"/>
                </a:solidFill>
                <a:latin typeface="Montserrat"/>
                <a:ea typeface="Montserrat"/>
                <a:cs typeface="Montserrat"/>
                <a:sym typeface="Montserrat"/>
              </a:rPr>
              <a:t>We will know we are right when the model holds up not just on our own test data, but on photos from different fundus cameras and patient populations it never trained on.</a:t>
            </a:r>
            <a:endParaRPr b="0" i="0" sz="2250" u="none" cap="none" strike="noStrike">
              <a:solidFill>
                <a:schemeClr val="dk1"/>
              </a:solidFill>
              <a:latin typeface="Calibri"/>
              <a:ea typeface="Calibri"/>
              <a:cs typeface="Calibri"/>
              <a:sym typeface="Calibri"/>
            </a:endParaRPr>
          </a:p>
        </p:txBody>
      </p:sp>
      <p:pic>
        <p:nvPicPr>
          <p:cNvPr descr="preencoded.png" id="219" name="Google Shape;219;p6"/>
          <p:cNvPicPr preferRelativeResize="0"/>
          <p:nvPr/>
        </p:nvPicPr>
        <p:blipFill rotWithShape="1">
          <a:blip r:embed="rId4">
            <a:alphaModFix/>
          </a:blip>
          <a:srcRect b="0" l="0" r="0" t="0"/>
          <a:stretch/>
        </p:blipFill>
        <p:spPr>
          <a:xfrm>
            <a:off x="10552435" y="2495550"/>
            <a:ext cx="3248620" cy="3248620"/>
          </a:xfrm>
          <a:prstGeom prst="rect">
            <a:avLst/>
          </a:prstGeom>
          <a:noFill/>
          <a:ln>
            <a:noFill/>
          </a:ln>
        </p:spPr>
      </p:pic>
      <p:pic>
        <p:nvPicPr>
          <p:cNvPr descr="preencoded.png" id="220" name="Google Shape;220;p6"/>
          <p:cNvPicPr preferRelativeResize="0"/>
          <p:nvPr/>
        </p:nvPicPr>
        <p:blipFill rotWithShape="1">
          <a:blip r:embed="rId5">
            <a:alphaModFix/>
          </a:blip>
          <a:srcRect b="0" l="422" r="422" t="0"/>
          <a:stretch/>
        </p:blipFill>
        <p:spPr>
          <a:xfrm>
            <a:off x="13991555" y="2495550"/>
            <a:ext cx="3248695" cy="3248695"/>
          </a:xfrm>
          <a:prstGeom prst="rect">
            <a:avLst/>
          </a:prstGeom>
          <a:noFill/>
          <a:ln>
            <a:noFill/>
          </a:ln>
        </p:spPr>
      </p:pic>
      <p:pic>
        <p:nvPicPr>
          <p:cNvPr descr="preencoded.png" id="221" name="Google Shape;221;p6"/>
          <p:cNvPicPr preferRelativeResize="0"/>
          <p:nvPr/>
        </p:nvPicPr>
        <p:blipFill rotWithShape="1">
          <a:blip r:embed="rId6">
            <a:alphaModFix/>
          </a:blip>
          <a:srcRect b="0" l="0" r="0" t="0"/>
          <a:stretch/>
        </p:blipFill>
        <p:spPr>
          <a:xfrm>
            <a:off x="10552435" y="5934745"/>
            <a:ext cx="3248620" cy="3248620"/>
          </a:xfrm>
          <a:prstGeom prst="rect">
            <a:avLst/>
          </a:prstGeom>
          <a:noFill/>
          <a:ln>
            <a:noFill/>
          </a:ln>
        </p:spPr>
      </p:pic>
      <p:pic>
        <p:nvPicPr>
          <p:cNvPr descr="preencoded.png" id="222" name="Google Shape;222;p6"/>
          <p:cNvPicPr preferRelativeResize="0"/>
          <p:nvPr/>
        </p:nvPicPr>
        <p:blipFill rotWithShape="1">
          <a:blip r:embed="rId7">
            <a:alphaModFix/>
          </a:blip>
          <a:srcRect b="0" l="0" r="0" t="0"/>
          <a:stretch/>
        </p:blipFill>
        <p:spPr>
          <a:xfrm>
            <a:off x="13991555" y="5934745"/>
            <a:ext cx="3248695" cy="324869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7"/>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7"/>
          <p:cNvSpPr/>
          <p:nvPr/>
        </p:nvSpPr>
        <p:spPr>
          <a:xfrm>
            <a:off x="1047750" y="857250"/>
            <a:ext cx="9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03 · PROJECT DESCRIPTION</a:t>
            </a:r>
            <a:endParaRPr b="0" i="0" sz="1800" u="none" cap="none" strike="noStrike">
              <a:solidFill>
                <a:schemeClr val="dk1"/>
              </a:solidFill>
              <a:latin typeface="Calibri"/>
              <a:ea typeface="Calibri"/>
              <a:cs typeface="Calibri"/>
              <a:sym typeface="Calibri"/>
            </a:endParaRPr>
          </a:p>
        </p:txBody>
      </p:sp>
      <p:sp>
        <p:nvSpPr>
          <p:cNvPr id="230" name="Google Shape;230;p7"/>
          <p:cNvSpPr/>
          <p:nvPr/>
        </p:nvSpPr>
        <p:spPr>
          <a:xfrm>
            <a:off x="1047750" y="1266825"/>
            <a:ext cx="6539515"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What we are building</a:t>
            </a:r>
            <a:endParaRPr b="0" i="0" sz="4200" u="none" cap="none" strike="noStrike">
              <a:solidFill>
                <a:schemeClr val="dk1"/>
              </a:solidFill>
              <a:latin typeface="Calibri"/>
              <a:ea typeface="Calibri"/>
              <a:cs typeface="Calibri"/>
              <a:sym typeface="Calibri"/>
            </a:endParaRPr>
          </a:p>
        </p:txBody>
      </p:sp>
      <p:pic>
        <p:nvPicPr>
          <p:cNvPr descr="preencoded.png" id="231" name="Google Shape;231;p7"/>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232" name="Google Shape;232;p7"/>
          <p:cNvSpPr/>
          <p:nvPr/>
        </p:nvSpPr>
        <p:spPr>
          <a:xfrm>
            <a:off x="1047750" y="2457450"/>
            <a:ext cx="16192500" cy="1776413"/>
          </a:xfrm>
          <a:prstGeom prst="roundRect">
            <a:avLst>
              <a:gd fmla="val 8579"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7"/>
          <p:cNvSpPr/>
          <p:nvPr/>
        </p:nvSpPr>
        <p:spPr>
          <a:xfrm>
            <a:off x="1047750" y="2457450"/>
            <a:ext cx="38100" cy="1776413"/>
          </a:xfrm>
          <a:prstGeom prst="rect">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7"/>
          <p:cNvSpPr/>
          <p:nvPr/>
        </p:nvSpPr>
        <p:spPr>
          <a:xfrm>
            <a:off x="1390650" y="2724150"/>
            <a:ext cx="16030575" cy="1281113"/>
          </a:xfrm>
          <a:prstGeom prst="rect">
            <a:avLst/>
          </a:prstGeom>
          <a:noFill/>
          <a:ln>
            <a:noFill/>
          </a:ln>
        </p:spPr>
        <p:txBody>
          <a:bodyPr anchorCtr="0" anchor="t" bIns="25400" lIns="25400" spcFirstLastPara="1" rIns="25400" wrap="square" tIns="25400">
            <a:noAutofit/>
          </a:bodyPr>
          <a:lstStyle/>
          <a:p>
            <a:pPr indent="0" lvl="0" marL="0" marR="0" rtl="0" algn="l">
              <a:lnSpc>
                <a:spcPct val="122535"/>
              </a:lnSpc>
              <a:spcBef>
                <a:spcPts val="0"/>
              </a:spcBef>
              <a:spcAft>
                <a:spcPts val="0"/>
              </a:spcAft>
              <a:buClr>
                <a:srgbClr val="111111"/>
              </a:buClr>
              <a:buSzPts val="2175"/>
              <a:buFont typeface="Montserrat"/>
              <a:buNone/>
            </a:pPr>
            <a:r>
              <a:rPr b="1" i="0" lang="en-US" sz="2175" u="none" cap="none" strike="noStrike">
                <a:solidFill>
                  <a:srgbClr val="111111"/>
                </a:solidFill>
                <a:latin typeface="Montserrat"/>
                <a:ea typeface="Montserrat"/>
                <a:cs typeface="Montserrat"/>
                <a:sym typeface="Montserrat"/>
              </a:rPr>
              <a:t>Dual </a:t>
            </a:r>
            <a:r>
              <a:rPr b="0" i="0" lang="en-US" sz="2175" u="none" cap="none" strike="noStrike">
                <a:solidFill>
                  <a:srgbClr val="3D3D3D"/>
                </a:solidFill>
                <a:highlight>
                  <a:srgbClr val="F7F9FB"/>
                </a:highlight>
                <a:latin typeface="Montserrat"/>
                <a:ea typeface="Montserrat"/>
                <a:cs typeface="Montserrat"/>
                <a:sym typeface="Montserrat"/>
              </a:rPr>
              <a:t>is a web-based AI screening application that analyzes a fundus photograph of the eye and provides separate risk results for </a:t>
            </a:r>
            <a:r>
              <a:rPr b="1" i="0" lang="en-US" sz="2175" u="none" cap="none" strike="noStrike">
                <a:solidFill>
                  <a:srgbClr val="111111"/>
                </a:solidFill>
                <a:latin typeface="Montserrat"/>
                <a:ea typeface="Montserrat"/>
                <a:cs typeface="Montserrat"/>
                <a:sym typeface="Montserrat"/>
              </a:rPr>
              <a:t>cataract and glaucoma </a:t>
            </a:r>
            <a:r>
              <a:rPr b="0" i="0" lang="en-US" sz="2175" u="none" cap="none" strike="noStrike">
                <a:solidFill>
                  <a:srgbClr val="3D3D3D"/>
                </a:solidFill>
                <a:highlight>
                  <a:srgbClr val="F7F9FB"/>
                </a:highlight>
                <a:latin typeface="Montserrat"/>
                <a:ea typeface="Montserrat"/>
                <a:cs typeface="Montserrat"/>
                <a:sym typeface="Montserrat"/>
              </a:rPr>
              <a:t>, with confidence information and a referral recommendation when the image or prediction is uncertain.</a:t>
            </a:r>
            <a:endParaRPr b="0" i="0" sz="2175" u="none" cap="none" strike="noStrike">
              <a:solidFill>
                <a:schemeClr val="dk1"/>
              </a:solidFill>
              <a:latin typeface="Calibri"/>
              <a:ea typeface="Calibri"/>
              <a:cs typeface="Calibri"/>
              <a:sym typeface="Calibri"/>
            </a:endParaRPr>
          </a:p>
        </p:txBody>
      </p:sp>
      <p:sp>
        <p:nvSpPr>
          <p:cNvPr id="235" name="Google Shape;235;p7"/>
          <p:cNvSpPr/>
          <p:nvPr/>
        </p:nvSpPr>
        <p:spPr>
          <a:xfrm>
            <a:off x="1047750" y="4519613"/>
            <a:ext cx="7934325" cy="4910138"/>
          </a:xfrm>
          <a:prstGeom prst="roundRect">
            <a:avLst>
              <a:gd fmla="val 3104"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7"/>
          <p:cNvSpPr/>
          <p:nvPr/>
        </p:nvSpPr>
        <p:spPr>
          <a:xfrm>
            <a:off x="1314450" y="4824413"/>
            <a:ext cx="336798"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01</a:t>
            </a:r>
            <a:endParaRPr b="0" i="0" sz="1950" u="none" cap="none" strike="noStrike">
              <a:solidFill>
                <a:schemeClr val="dk1"/>
              </a:solidFill>
              <a:latin typeface="Calibri"/>
              <a:ea typeface="Calibri"/>
              <a:cs typeface="Calibri"/>
              <a:sym typeface="Calibri"/>
            </a:endParaRPr>
          </a:p>
        </p:txBody>
      </p:sp>
      <p:sp>
        <p:nvSpPr>
          <p:cNvPr id="237" name="Google Shape;237;p7"/>
          <p:cNvSpPr/>
          <p:nvPr/>
        </p:nvSpPr>
        <p:spPr>
          <a:xfrm>
            <a:off x="1708398" y="4786313"/>
            <a:ext cx="3589035" cy="38576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250"/>
              <a:buFont typeface="Montserrat"/>
              <a:buNone/>
            </a:pPr>
            <a:r>
              <a:rPr b="1" i="0" lang="en-US" sz="2250" u="none" cap="none" strike="noStrike">
                <a:solidFill>
                  <a:srgbClr val="111111"/>
                </a:solidFill>
                <a:latin typeface="Montserrat"/>
                <a:ea typeface="Montserrat"/>
                <a:cs typeface="Montserrat"/>
                <a:sym typeface="Montserrat"/>
              </a:rPr>
              <a:t>Upload Fundus Image</a:t>
            </a:r>
            <a:endParaRPr b="0" i="0" sz="2250" u="none" cap="none" strike="noStrike">
              <a:solidFill>
                <a:schemeClr val="dk1"/>
              </a:solidFill>
              <a:latin typeface="Calibri"/>
              <a:ea typeface="Calibri"/>
              <a:cs typeface="Calibri"/>
              <a:sym typeface="Calibri"/>
            </a:endParaRPr>
          </a:p>
        </p:txBody>
      </p:sp>
      <p:sp>
        <p:nvSpPr>
          <p:cNvPr id="238" name="Google Shape;238;p7"/>
          <p:cNvSpPr/>
          <p:nvPr/>
        </p:nvSpPr>
        <p:spPr>
          <a:xfrm>
            <a:off x="1314450" y="5305425"/>
            <a:ext cx="7400925" cy="3314700"/>
          </a:xfrm>
          <a:prstGeom prst="roundRect">
            <a:avLst>
              <a:gd fmla="val 3448"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39" name="Google Shape;239;p7"/>
          <p:cNvPicPr preferRelativeResize="0"/>
          <p:nvPr/>
        </p:nvPicPr>
        <p:blipFill rotWithShape="1">
          <a:blip r:embed="rId4">
            <a:alphaModFix/>
          </a:blip>
          <a:srcRect b="0" l="0" r="0" t="0"/>
          <a:stretch/>
        </p:blipFill>
        <p:spPr>
          <a:xfrm>
            <a:off x="3729558" y="5457825"/>
            <a:ext cx="2570634" cy="3009826"/>
          </a:xfrm>
          <a:prstGeom prst="rect">
            <a:avLst/>
          </a:prstGeom>
          <a:noFill/>
          <a:ln>
            <a:noFill/>
          </a:ln>
        </p:spPr>
      </p:pic>
      <p:sp>
        <p:nvSpPr>
          <p:cNvPr id="240" name="Google Shape;240;p7"/>
          <p:cNvSpPr/>
          <p:nvPr/>
        </p:nvSpPr>
        <p:spPr>
          <a:xfrm>
            <a:off x="1314450" y="8791575"/>
            <a:ext cx="8141017" cy="409575"/>
          </a:xfrm>
          <a:prstGeom prst="rect">
            <a:avLst/>
          </a:prstGeom>
          <a:noFill/>
          <a:ln>
            <a:noFill/>
          </a:ln>
        </p:spPr>
        <p:txBody>
          <a:bodyPr anchorCtr="0" anchor="t" bIns="25400" lIns="25400" spcFirstLastPara="1" rIns="25400" wrap="square" tIns="25400">
            <a:noAutofit/>
          </a:bodyPr>
          <a:lstStyle/>
          <a:p>
            <a:pPr indent="0" lvl="0" marL="0" marR="0" rtl="0" algn="l">
              <a:lnSpc>
                <a:spcPct val="123810"/>
              </a:lnSpc>
              <a:spcBef>
                <a:spcPts val="0"/>
              </a:spcBef>
              <a:spcAft>
                <a:spcPts val="0"/>
              </a:spcAft>
              <a:buClr>
                <a:srgbClr val="3D3D3D"/>
              </a:buClr>
              <a:buSzPts val="1950"/>
              <a:buFont typeface="Montserrat"/>
              <a:buNone/>
            </a:pPr>
            <a:r>
              <a:rPr b="0" i="0" lang="en-US" sz="1950" u="none" cap="none" strike="noStrike">
                <a:solidFill>
                  <a:srgbClr val="3D3D3D"/>
                </a:solidFill>
                <a:latin typeface="Montserrat"/>
                <a:ea typeface="Montserrat"/>
                <a:cs typeface="Montserrat"/>
                <a:sym typeface="Montserrat"/>
              </a:rPr>
              <a:t>One retinal photograph per eye is uploaded to Dual.</a:t>
            </a:r>
            <a:endParaRPr b="0" i="0" sz="1950" u="none" cap="none" strike="noStrike">
              <a:solidFill>
                <a:schemeClr val="dk1"/>
              </a:solidFill>
              <a:latin typeface="Calibri"/>
              <a:ea typeface="Calibri"/>
              <a:cs typeface="Calibri"/>
              <a:sym typeface="Calibri"/>
            </a:endParaRPr>
          </a:p>
        </p:txBody>
      </p:sp>
      <p:sp>
        <p:nvSpPr>
          <p:cNvPr id="241" name="Google Shape;241;p7"/>
          <p:cNvSpPr/>
          <p:nvPr/>
        </p:nvSpPr>
        <p:spPr>
          <a:xfrm>
            <a:off x="9305925" y="4519613"/>
            <a:ext cx="7934325" cy="4910138"/>
          </a:xfrm>
          <a:prstGeom prst="roundRect">
            <a:avLst>
              <a:gd fmla="val 3104"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7"/>
          <p:cNvSpPr/>
          <p:nvPr/>
        </p:nvSpPr>
        <p:spPr>
          <a:xfrm>
            <a:off x="9572625" y="4824413"/>
            <a:ext cx="386655"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02</a:t>
            </a:r>
            <a:endParaRPr b="0" i="0" sz="1950" u="none" cap="none" strike="noStrike">
              <a:solidFill>
                <a:schemeClr val="dk1"/>
              </a:solidFill>
              <a:latin typeface="Calibri"/>
              <a:ea typeface="Calibri"/>
              <a:cs typeface="Calibri"/>
              <a:sym typeface="Calibri"/>
            </a:endParaRPr>
          </a:p>
        </p:txBody>
      </p:sp>
      <p:sp>
        <p:nvSpPr>
          <p:cNvPr id="243" name="Google Shape;243;p7"/>
          <p:cNvSpPr/>
          <p:nvPr/>
        </p:nvSpPr>
        <p:spPr>
          <a:xfrm>
            <a:off x="10016430" y="4786313"/>
            <a:ext cx="1748842" cy="38576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250"/>
              <a:buFont typeface="Montserrat"/>
              <a:buNone/>
            </a:pPr>
            <a:r>
              <a:rPr b="1" i="0" lang="en-US" sz="2250" u="none" cap="none" strike="noStrike">
                <a:solidFill>
                  <a:srgbClr val="111111"/>
                </a:solidFill>
                <a:latin typeface="Montserrat"/>
                <a:ea typeface="Montserrat"/>
                <a:cs typeface="Montserrat"/>
                <a:sym typeface="Montserrat"/>
              </a:rPr>
              <a:t>AI Analysis</a:t>
            </a:r>
            <a:endParaRPr b="0" i="0" sz="2250" u="none" cap="none" strike="noStrike">
              <a:solidFill>
                <a:schemeClr val="dk1"/>
              </a:solidFill>
              <a:latin typeface="Calibri"/>
              <a:ea typeface="Calibri"/>
              <a:cs typeface="Calibri"/>
              <a:sym typeface="Calibri"/>
            </a:endParaRPr>
          </a:p>
        </p:txBody>
      </p:sp>
      <p:sp>
        <p:nvSpPr>
          <p:cNvPr id="244" name="Google Shape;244;p7"/>
          <p:cNvSpPr/>
          <p:nvPr/>
        </p:nvSpPr>
        <p:spPr>
          <a:xfrm>
            <a:off x="9572625" y="5305425"/>
            <a:ext cx="7400925" cy="2943225"/>
          </a:xfrm>
          <a:prstGeom prst="roundRect">
            <a:avLst>
              <a:gd fmla="val 3883"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45" name="Google Shape;245;p7"/>
          <p:cNvPicPr preferRelativeResize="0"/>
          <p:nvPr/>
        </p:nvPicPr>
        <p:blipFill rotWithShape="1">
          <a:blip r:embed="rId5">
            <a:alphaModFix/>
          </a:blip>
          <a:srcRect b="0" l="-1" r="-1" t="0"/>
          <a:stretch/>
        </p:blipFill>
        <p:spPr>
          <a:xfrm>
            <a:off x="11015960" y="5457825"/>
            <a:ext cx="4514255" cy="2638351"/>
          </a:xfrm>
          <a:prstGeom prst="rect">
            <a:avLst/>
          </a:prstGeom>
          <a:noFill/>
          <a:ln>
            <a:noFill/>
          </a:ln>
        </p:spPr>
      </p:pic>
      <p:sp>
        <p:nvSpPr>
          <p:cNvPr id="246" name="Google Shape;246;p7"/>
          <p:cNvSpPr/>
          <p:nvPr/>
        </p:nvSpPr>
        <p:spPr>
          <a:xfrm>
            <a:off x="9572625" y="8420100"/>
            <a:ext cx="7622953" cy="781050"/>
          </a:xfrm>
          <a:prstGeom prst="rect">
            <a:avLst/>
          </a:prstGeom>
          <a:noFill/>
          <a:ln>
            <a:noFill/>
          </a:ln>
        </p:spPr>
        <p:txBody>
          <a:bodyPr anchorCtr="0" anchor="t" bIns="25400" lIns="25400" spcFirstLastPara="1" rIns="25400" wrap="square" tIns="25400">
            <a:noAutofit/>
          </a:bodyPr>
          <a:lstStyle/>
          <a:p>
            <a:pPr indent="0" lvl="0" marL="0" marR="0" rtl="0" algn="l">
              <a:lnSpc>
                <a:spcPct val="123810"/>
              </a:lnSpc>
              <a:spcBef>
                <a:spcPts val="0"/>
              </a:spcBef>
              <a:spcAft>
                <a:spcPts val="0"/>
              </a:spcAft>
              <a:buClr>
                <a:srgbClr val="3D3D3D"/>
              </a:buClr>
              <a:buSzPts val="1950"/>
              <a:buFont typeface="Montserrat"/>
              <a:buNone/>
            </a:pPr>
            <a:r>
              <a:rPr b="0" i="0" lang="en-US" sz="1950" u="none" cap="none" strike="noStrike">
                <a:solidFill>
                  <a:srgbClr val="3D3D3D"/>
                </a:solidFill>
                <a:latin typeface="Montserrat"/>
                <a:ea typeface="Montserrat"/>
                <a:cs typeface="Montserrat"/>
                <a:sym typeface="Montserrat"/>
              </a:rPr>
              <a:t>One shared deep learning model analyzes the image for both cataract and glaucoma.</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8"/>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8"/>
          <p:cNvSpPr/>
          <p:nvPr/>
        </p:nvSpPr>
        <p:spPr>
          <a:xfrm>
            <a:off x="1047750" y="857250"/>
            <a:ext cx="9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03 · PROJECT DESCRIPTION</a:t>
            </a:r>
            <a:endParaRPr b="0" i="0" sz="1800" u="none" cap="none" strike="noStrike">
              <a:solidFill>
                <a:schemeClr val="dk1"/>
              </a:solidFill>
              <a:latin typeface="Calibri"/>
              <a:ea typeface="Calibri"/>
              <a:cs typeface="Calibri"/>
              <a:sym typeface="Calibri"/>
            </a:endParaRPr>
          </a:p>
        </p:txBody>
      </p:sp>
      <p:sp>
        <p:nvSpPr>
          <p:cNvPr id="254" name="Google Shape;254;p8"/>
          <p:cNvSpPr/>
          <p:nvPr/>
        </p:nvSpPr>
        <p:spPr>
          <a:xfrm>
            <a:off x="1047750" y="1266825"/>
            <a:ext cx="6711084"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Dual Screening Result</a:t>
            </a:r>
            <a:endParaRPr b="0" i="0" sz="4200" u="none" cap="none" strike="noStrike">
              <a:solidFill>
                <a:schemeClr val="dk1"/>
              </a:solidFill>
              <a:latin typeface="Calibri"/>
              <a:ea typeface="Calibri"/>
              <a:cs typeface="Calibri"/>
              <a:sym typeface="Calibri"/>
            </a:endParaRPr>
          </a:p>
        </p:txBody>
      </p:sp>
      <p:pic>
        <p:nvPicPr>
          <p:cNvPr descr="preencoded.png" id="255" name="Google Shape;255;p8"/>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256" name="Google Shape;256;p8"/>
          <p:cNvSpPr/>
          <p:nvPr/>
        </p:nvSpPr>
        <p:spPr>
          <a:xfrm>
            <a:off x="1047750" y="2457450"/>
            <a:ext cx="7934325" cy="5614988"/>
          </a:xfrm>
          <a:prstGeom prst="roundRect">
            <a:avLst>
              <a:gd fmla="val 2714"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8"/>
          <p:cNvSpPr/>
          <p:nvPr/>
        </p:nvSpPr>
        <p:spPr>
          <a:xfrm>
            <a:off x="1314450" y="2762250"/>
            <a:ext cx="384497"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03</a:t>
            </a:r>
            <a:endParaRPr b="0" i="0" sz="1950" u="none" cap="none" strike="noStrike">
              <a:solidFill>
                <a:schemeClr val="dk1"/>
              </a:solidFill>
              <a:latin typeface="Calibri"/>
              <a:ea typeface="Calibri"/>
              <a:cs typeface="Calibri"/>
              <a:sym typeface="Calibri"/>
            </a:endParaRPr>
          </a:p>
        </p:txBody>
      </p:sp>
      <p:sp>
        <p:nvSpPr>
          <p:cNvPr id="258" name="Google Shape;258;p8"/>
          <p:cNvSpPr/>
          <p:nvPr/>
        </p:nvSpPr>
        <p:spPr>
          <a:xfrm>
            <a:off x="1756097" y="2724150"/>
            <a:ext cx="1956673" cy="38576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250"/>
              <a:buFont typeface="Montserrat"/>
              <a:buNone/>
            </a:pPr>
            <a:r>
              <a:rPr b="1" i="0" lang="en-US" sz="2250" u="none" cap="none" strike="noStrike">
                <a:solidFill>
                  <a:srgbClr val="111111"/>
                </a:solidFill>
                <a:latin typeface="Montserrat"/>
                <a:ea typeface="Montserrat"/>
                <a:cs typeface="Montserrat"/>
                <a:sym typeface="Montserrat"/>
              </a:rPr>
              <a:t>Risk Results</a:t>
            </a:r>
            <a:endParaRPr b="0" i="0" sz="2250" u="none" cap="none" strike="noStrike">
              <a:solidFill>
                <a:schemeClr val="dk1"/>
              </a:solidFill>
              <a:latin typeface="Calibri"/>
              <a:ea typeface="Calibri"/>
              <a:cs typeface="Calibri"/>
              <a:sym typeface="Calibri"/>
            </a:endParaRPr>
          </a:p>
        </p:txBody>
      </p:sp>
      <p:sp>
        <p:nvSpPr>
          <p:cNvPr id="259" name="Google Shape;259;p8"/>
          <p:cNvSpPr/>
          <p:nvPr/>
        </p:nvSpPr>
        <p:spPr>
          <a:xfrm>
            <a:off x="1314450" y="3243263"/>
            <a:ext cx="7400925" cy="3648075"/>
          </a:xfrm>
          <a:prstGeom prst="roundRect">
            <a:avLst>
              <a:gd fmla="val 3133"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0" name="Google Shape;260;p8"/>
          <p:cNvPicPr preferRelativeResize="0"/>
          <p:nvPr/>
        </p:nvPicPr>
        <p:blipFill rotWithShape="1">
          <a:blip r:embed="rId4">
            <a:alphaModFix/>
          </a:blip>
          <a:srcRect b="0" l="0" r="0" t="0"/>
          <a:stretch/>
        </p:blipFill>
        <p:spPr>
          <a:xfrm>
            <a:off x="3281065" y="3395663"/>
            <a:ext cx="3467621" cy="3343201"/>
          </a:xfrm>
          <a:prstGeom prst="rect">
            <a:avLst/>
          </a:prstGeom>
          <a:noFill/>
          <a:ln>
            <a:noFill/>
          </a:ln>
        </p:spPr>
      </p:pic>
      <p:sp>
        <p:nvSpPr>
          <p:cNvPr id="261" name="Google Shape;261;p8"/>
          <p:cNvSpPr/>
          <p:nvPr/>
        </p:nvSpPr>
        <p:spPr>
          <a:xfrm>
            <a:off x="1314450" y="7062788"/>
            <a:ext cx="7622953" cy="781050"/>
          </a:xfrm>
          <a:prstGeom prst="rect">
            <a:avLst/>
          </a:prstGeom>
          <a:noFill/>
          <a:ln>
            <a:noFill/>
          </a:ln>
        </p:spPr>
        <p:txBody>
          <a:bodyPr anchorCtr="0" anchor="t" bIns="25400" lIns="25400" spcFirstLastPara="1" rIns="25400" wrap="square" tIns="25400">
            <a:noAutofit/>
          </a:bodyPr>
          <a:lstStyle/>
          <a:p>
            <a:pPr indent="0" lvl="0" marL="0" marR="0" rtl="0" algn="l">
              <a:lnSpc>
                <a:spcPct val="123810"/>
              </a:lnSpc>
              <a:spcBef>
                <a:spcPts val="0"/>
              </a:spcBef>
              <a:spcAft>
                <a:spcPts val="0"/>
              </a:spcAft>
              <a:buClr>
                <a:srgbClr val="3D3D3D"/>
              </a:buClr>
              <a:buSzPts val="1950"/>
              <a:buFont typeface="Montserrat"/>
              <a:buNone/>
            </a:pPr>
            <a:r>
              <a:rPr b="0" i="0" lang="en-US" sz="1950" u="none" cap="none" strike="noStrike">
                <a:solidFill>
                  <a:srgbClr val="3D3D3D"/>
                </a:solidFill>
                <a:latin typeface="Montserrat"/>
                <a:ea typeface="Montserrat"/>
                <a:cs typeface="Montserrat"/>
                <a:sym typeface="Montserrat"/>
              </a:rPr>
              <a:t>Dual provides separate risk results with confidence levels and highlighted regions in the image.</a:t>
            </a:r>
            <a:endParaRPr b="0" i="0" sz="1950" u="none" cap="none" strike="noStrike">
              <a:solidFill>
                <a:schemeClr val="dk1"/>
              </a:solidFill>
              <a:latin typeface="Calibri"/>
              <a:ea typeface="Calibri"/>
              <a:cs typeface="Calibri"/>
              <a:sym typeface="Calibri"/>
            </a:endParaRPr>
          </a:p>
        </p:txBody>
      </p:sp>
      <p:sp>
        <p:nvSpPr>
          <p:cNvPr id="262" name="Google Shape;262;p8"/>
          <p:cNvSpPr/>
          <p:nvPr/>
        </p:nvSpPr>
        <p:spPr>
          <a:xfrm>
            <a:off x="9305925" y="2457450"/>
            <a:ext cx="7934325" cy="5614988"/>
          </a:xfrm>
          <a:prstGeom prst="roundRect">
            <a:avLst>
              <a:gd fmla="val 2714" name="adj"/>
            </a:avLst>
          </a:prstGeom>
          <a:solidFill>
            <a:srgbClr val="FDF4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8"/>
          <p:cNvSpPr/>
          <p:nvPr/>
        </p:nvSpPr>
        <p:spPr>
          <a:xfrm>
            <a:off x="9572625" y="2762250"/>
            <a:ext cx="410989"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B5573F"/>
              </a:buClr>
              <a:buSzPts val="1950"/>
              <a:buFont typeface="Montserrat"/>
              <a:buNone/>
            </a:pPr>
            <a:r>
              <a:rPr b="1" i="0" lang="en-US" sz="1950" u="none" cap="none" strike="noStrike">
                <a:solidFill>
                  <a:srgbClr val="B5573F"/>
                </a:solidFill>
                <a:latin typeface="Montserrat"/>
                <a:ea typeface="Montserrat"/>
                <a:cs typeface="Montserrat"/>
                <a:sym typeface="Montserrat"/>
              </a:rPr>
              <a:t>04</a:t>
            </a:r>
            <a:endParaRPr b="0" i="0" sz="1950" u="none" cap="none" strike="noStrike">
              <a:solidFill>
                <a:schemeClr val="dk1"/>
              </a:solidFill>
              <a:latin typeface="Calibri"/>
              <a:ea typeface="Calibri"/>
              <a:cs typeface="Calibri"/>
              <a:sym typeface="Calibri"/>
            </a:endParaRPr>
          </a:p>
        </p:txBody>
      </p:sp>
      <p:sp>
        <p:nvSpPr>
          <p:cNvPr id="264" name="Google Shape;264;p8"/>
          <p:cNvSpPr/>
          <p:nvPr/>
        </p:nvSpPr>
        <p:spPr>
          <a:xfrm>
            <a:off x="10040764" y="2724150"/>
            <a:ext cx="4282678" cy="38576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250"/>
              <a:buFont typeface="Montserrat"/>
              <a:buNone/>
            </a:pPr>
            <a:r>
              <a:rPr b="1" i="0" lang="en-US" sz="2250" u="none" cap="none" strike="noStrike">
                <a:solidFill>
                  <a:srgbClr val="111111"/>
                </a:solidFill>
                <a:latin typeface="Montserrat"/>
                <a:ea typeface="Montserrat"/>
                <a:cs typeface="Montserrat"/>
                <a:sym typeface="Montserrat"/>
              </a:rPr>
              <a:t>Referral Recommendation</a:t>
            </a:r>
            <a:endParaRPr b="0" i="0" sz="2250" u="none" cap="none" strike="noStrike">
              <a:solidFill>
                <a:schemeClr val="dk1"/>
              </a:solidFill>
              <a:latin typeface="Calibri"/>
              <a:ea typeface="Calibri"/>
              <a:cs typeface="Calibri"/>
              <a:sym typeface="Calibri"/>
            </a:endParaRPr>
          </a:p>
        </p:txBody>
      </p:sp>
      <p:sp>
        <p:nvSpPr>
          <p:cNvPr id="265" name="Google Shape;265;p8"/>
          <p:cNvSpPr/>
          <p:nvPr/>
        </p:nvSpPr>
        <p:spPr>
          <a:xfrm>
            <a:off x="9572625" y="3243263"/>
            <a:ext cx="7400925" cy="3648075"/>
          </a:xfrm>
          <a:prstGeom prst="roundRect">
            <a:avLst>
              <a:gd fmla="val 3133" name="adj"/>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6" name="Google Shape;266;p8"/>
          <p:cNvPicPr preferRelativeResize="0"/>
          <p:nvPr/>
        </p:nvPicPr>
        <p:blipFill rotWithShape="1">
          <a:blip r:embed="rId5">
            <a:alphaModFix/>
          </a:blip>
          <a:srcRect b="0" l="0" r="0" t="0"/>
          <a:stretch/>
        </p:blipFill>
        <p:spPr>
          <a:xfrm>
            <a:off x="11608743" y="3395663"/>
            <a:ext cx="3328615" cy="3343201"/>
          </a:xfrm>
          <a:prstGeom prst="rect">
            <a:avLst/>
          </a:prstGeom>
          <a:noFill/>
          <a:ln>
            <a:noFill/>
          </a:ln>
        </p:spPr>
      </p:pic>
      <p:sp>
        <p:nvSpPr>
          <p:cNvPr id="267" name="Google Shape;267;p8"/>
          <p:cNvSpPr/>
          <p:nvPr/>
        </p:nvSpPr>
        <p:spPr>
          <a:xfrm>
            <a:off x="9572625" y="7062788"/>
            <a:ext cx="7622953" cy="781050"/>
          </a:xfrm>
          <a:prstGeom prst="rect">
            <a:avLst/>
          </a:prstGeom>
          <a:noFill/>
          <a:ln>
            <a:noFill/>
          </a:ln>
        </p:spPr>
        <p:txBody>
          <a:bodyPr anchorCtr="0" anchor="t" bIns="25400" lIns="25400" spcFirstLastPara="1" rIns="25400" wrap="square" tIns="25400">
            <a:noAutofit/>
          </a:bodyPr>
          <a:lstStyle/>
          <a:p>
            <a:pPr indent="0" lvl="0" marL="0" marR="0" rtl="0" algn="l">
              <a:lnSpc>
                <a:spcPct val="123810"/>
              </a:lnSpc>
              <a:spcBef>
                <a:spcPts val="0"/>
              </a:spcBef>
              <a:spcAft>
                <a:spcPts val="0"/>
              </a:spcAft>
              <a:buClr>
                <a:srgbClr val="3D3D3D"/>
              </a:buClr>
              <a:buSzPts val="1950"/>
              <a:buFont typeface="Montserrat"/>
              <a:buNone/>
            </a:pPr>
            <a:r>
              <a:rPr b="0" i="0" lang="en-US" sz="1950" u="none" cap="none" strike="noStrike">
                <a:solidFill>
                  <a:srgbClr val="3D3D3D"/>
                </a:solidFill>
                <a:latin typeface="Montserrat"/>
                <a:ea typeface="Montserrat"/>
                <a:cs typeface="Montserrat"/>
                <a:sym typeface="Montserrat"/>
              </a:rPr>
              <a:t>Dual provides separate risk results with confidence levels and highlighted regions in the image.</a:t>
            </a:r>
            <a:endParaRPr b="0" i="0" sz="1950" u="none" cap="none" strike="noStrike">
              <a:solidFill>
                <a:schemeClr val="dk1"/>
              </a:solidFill>
              <a:latin typeface="Calibri"/>
              <a:ea typeface="Calibri"/>
              <a:cs typeface="Calibri"/>
              <a:sym typeface="Calibri"/>
            </a:endParaRPr>
          </a:p>
        </p:txBody>
      </p:sp>
      <p:sp>
        <p:nvSpPr>
          <p:cNvPr id="268" name="Google Shape;268;p8"/>
          <p:cNvSpPr/>
          <p:nvPr/>
        </p:nvSpPr>
        <p:spPr>
          <a:xfrm>
            <a:off x="1047750" y="8358188"/>
            <a:ext cx="16192500" cy="1071563"/>
          </a:xfrm>
          <a:prstGeom prst="roundRect">
            <a:avLst>
              <a:gd fmla="val 10667"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8"/>
          <p:cNvSpPr/>
          <p:nvPr/>
        </p:nvSpPr>
        <p:spPr>
          <a:xfrm>
            <a:off x="1295400" y="8548688"/>
            <a:ext cx="13020628"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Scope: Dual supports screening and referral decisions. It does not provide medical diagnosis, treatment advice, EHR integration, or other eye conditions.</a:t>
            </a:r>
            <a:endParaRPr b="0" i="0" sz="1875" u="none" cap="none" strike="noStrike">
              <a:solidFill>
                <a:schemeClr val="dk1"/>
              </a:solidFill>
              <a:latin typeface="Calibri"/>
              <a:ea typeface="Calibri"/>
              <a:cs typeface="Calibri"/>
              <a:sym typeface="Calibri"/>
            </a:endParaRPr>
          </a:p>
        </p:txBody>
      </p:sp>
      <p:sp>
        <p:nvSpPr>
          <p:cNvPr id="270" name="Google Shape;270;p8"/>
          <p:cNvSpPr/>
          <p:nvPr/>
        </p:nvSpPr>
        <p:spPr>
          <a:xfrm>
            <a:off x="14317787" y="8617744"/>
            <a:ext cx="9525" cy="552450"/>
          </a:xfrm>
          <a:prstGeom prst="rect">
            <a:avLst/>
          </a:prstGeom>
          <a:solidFill>
            <a:srgbClr val="C7D2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8"/>
          <p:cNvSpPr/>
          <p:nvPr/>
        </p:nvSpPr>
        <p:spPr>
          <a:xfrm>
            <a:off x="14574962" y="8617744"/>
            <a:ext cx="2497883" cy="590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CLEARER VISION HEALTHIER LIVES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6" name="Shape 276"/>
        <p:cNvGrpSpPr/>
        <p:nvPr/>
      </p:nvGrpSpPr>
      <p:grpSpPr>
        <a:xfrm>
          <a:off x="0" y="0"/>
          <a:ext cx="0" cy="0"/>
          <a:chOff x="0" y="0"/>
          <a:chExt cx="0" cy="0"/>
        </a:xfrm>
      </p:grpSpPr>
      <p:sp>
        <p:nvSpPr>
          <p:cNvPr id="277" name="Google Shape;277;p9"/>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9"/>
          <p:cNvSpPr/>
          <p:nvPr/>
        </p:nvSpPr>
        <p:spPr>
          <a:xfrm>
            <a:off x="1047750" y="857250"/>
            <a:ext cx="9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04 · WORKING AGREEMENT</a:t>
            </a:r>
            <a:endParaRPr b="0" i="0" sz="1800" u="none" cap="none" strike="noStrike">
              <a:solidFill>
                <a:schemeClr val="dk1"/>
              </a:solidFill>
              <a:latin typeface="Calibri"/>
              <a:ea typeface="Calibri"/>
              <a:cs typeface="Calibri"/>
              <a:sym typeface="Calibri"/>
            </a:endParaRPr>
          </a:p>
        </p:txBody>
      </p:sp>
      <p:sp>
        <p:nvSpPr>
          <p:cNvPr id="279" name="Google Shape;279;p9"/>
          <p:cNvSpPr/>
          <p:nvPr/>
        </p:nvSpPr>
        <p:spPr>
          <a:xfrm>
            <a:off x="1047750" y="1266825"/>
            <a:ext cx="694118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How we work together</a:t>
            </a:r>
            <a:endParaRPr b="0" i="0" sz="4200" u="none" cap="none" strike="noStrike">
              <a:solidFill>
                <a:schemeClr val="dk1"/>
              </a:solidFill>
              <a:latin typeface="Calibri"/>
              <a:ea typeface="Calibri"/>
              <a:cs typeface="Calibri"/>
              <a:sym typeface="Calibri"/>
            </a:endParaRPr>
          </a:p>
        </p:txBody>
      </p:sp>
      <p:pic>
        <p:nvPicPr>
          <p:cNvPr descr="preencoded.png" id="280" name="Google Shape;280;p9"/>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281" name="Google Shape;281;p9"/>
          <p:cNvSpPr/>
          <p:nvPr/>
        </p:nvSpPr>
        <p:spPr>
          <a:xfrm>
            <a:off x="1047750" y="2495550"/>
            <a:ext cx="7972425" cy="2974181"/>
          </a:xfrm>
          <a:prstGeom prst="roundRect">
            <a:avLst>
              <a:gd fmla="val 5124"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9"/>
          <p:cNvSpPr/>
          <p:nvPr/>
        </p:nvSpPr>
        <p:spPr>
          <a:xfrm>
            <a:off x="1333500" y="2781300"/>
            <a:ext cx="8141017" cy="3619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Where &amp; when we meet</a:t>
            </a:r>
            <a:endParaRPr b="0" i="0" sz="2100" u="none" cap="none" strike="noStrike">
              <a:solidFill>
                <a:schemeClr val="dk1"/>
              </a:solidFill>
              <a:latin typeface="Calibri"/>
              <a:ea typeface="Calibri"/>
              <a:cs typeface="Calibri"/>
              <a:sym typeface="Calibri"/>
            </a:endParaRPr>
          </a:p>
        </p:txBody>
      </p:sp>
      <p:sp>
        <p:nvSpPr>
          <p:cNvPr id="283" name="Google Shape;283;p9"/>
          <p:cNvSpPr/>
          <p:nvPr/>
        </p:nvSpPr>
        <p:spPr>
          <a:xfrm>
            <a:off x="1333500" y="3238500"/>
            <a:ext cx="7622953" cy="776287"/>
          </a:xfrm>
          <a:prstGeom prst="rect">
            <a:avLst/>
          </a:prstGeom>
          <a:noFill/>
          <a:ln>
            <a:noFill/>
          </a:ln>
        </p:spPr>
        <p:txBody>
          <a:bodyPr anchorCtr="0" anchor="t" bIns="25400" lIns="25400" spcFirstLastPara="1" rIns="25400" wrap="square" tIns="25400">
            <a:noAutofit/>
          </a:bodyPr>
          <a:lstStyle/>
          <a:p>
            <a:pPr indent="0" lvl="0" marL="0" marR="0" rtl="0" algn="l">
              <a:lnSpc>
                <a:spcPct val="127049"/>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Two-hour Zoom meeting every Sunday for project work and planning. Brief follow-up discussions after Tuesday's class.</a:t>
            </a:r>
            <a:endParaRPr b="0" i="0" sz="1875" u="none" cap="none" strike="noStrike">
              <a:solidFill>
                <a:schemeClr val="dk1"/>
              </a:solidFill>
              <a:latin typeface="Calibri"/>
              <a:ea typeface="Calibri"/>
              <a:cs typeface="Calibri"/>
              <a:sym typeface="Calibri"/>
            </a:endParaRPr>
          </a:p>
        </p:txBody>
      </p:sp>
      <p:sp>
        <p:nvSpPr>
          <p:cNvPr id="284" name="Google Shape;284;p9"/>
          <p:cNvSpPr/>
          <p:nvPr/>
        </p:nvSpPr>
        <p:spPr>
          <a:xfrm>
            <a:off x="9267825" y="2495550"/>
            <a:ext cx="7972425" cy="2974181"/>
          </a:xfrm>
          <a:prstGeom prst="roundRect">
            <a:avLst>
              <a:gd fmla="val 5124"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9"/>
          <p:cNvSpPr/>
          <p:nvPr/>
        </p:nvSpPr>
        <p:spPr>
          <a:xfrm>
            <a:off x="9553575" y="2781300"/>
            <a:ext cx="8141017" cy="3619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Communication</a:t>
            </a:r>
            <a:endParaRPr b="0" i="0" sz="2100" u="none" cap="none" strike="noStrike">
              <a:solidFill>
                <a:schemeClr val="dk1"/>
              </a:solidFill>
              <a:latin typeface="Calibri"/>
              <a:ea typeface="Calibri"/>
              <a:cs typeface="Calibri"/>
              <a:sym typeface="Calibri"/>
            </a:endParaRPr>
          </a:p>
        </p:txBody>
      </p:sp>
      <p:sp>
        <p:nvSpPr>
          <p:cNvPr id="286" name="Google Shape;286;p9"/>
          <p:cNvSpPr/>
          <p:nvPr/>
        </p:nvSpPr>
        <p:spPr>
          <a:xfrm>
            <a:off x="9553575" y="3238500"/>
            <a:ext cx="7622953" cy="776287"/>
          </a:xfrm>
          <a:prstGeom prst="rect">
            <a:avLst/>
          </a:prstGeom>
          <a:noFill/>
          <a:ln>
            <a:noFill/>
          </a:ln>
        </p:spPr>
        <p:txBody>
          <a:bodyPr anchorCtr="0" anchor="t" bIns="25400" lIns="25400" spcFirstLastPara="1" rIns="25400" wrap="square" tIns="25400">
            <a:noAutofit/>
          </a:bodyPr>
          <a:lstStyle/>
          <a:p>
            <a:pPr indent="0" lvl="0" marL="0" marR="0" rtl="0" algn="l">
              <a:lnSpc>
                <a:spcPct val="127049"/>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For Primary channel, use the team group chat for regular updates and coordination. Respond within 24 hour.</a:t>
            </a:r>
            <a:endParaRPr b="0" i="0" sz="1875" u="none" cap="none" strike="noStrike">
              <a:solidFill>
                <a:schemeClr val="dk1"/>
              </a:solidFill>
              <a:latin typeface="Calibri"/>
              <a:ea typeface="Calibri"/>
              <a:cs typeface="Calibri"/>
              <a:sym typeface="Calibri"/>
            </a:endParaRPr>
          </a:p>
        </p:txBody>
      </p:sp>
      <p:sp>
        <p:nvSpPr>
          <p:cNvPr id="287" name="Google Shape;287;p9"/>
          <p:cNvSpPr/>
          <p:nvPr/>
        </p:nvSpPr>
        <p:spPr>
          <a:xfrm>
            <a:off x="1047750" y="5717381"/>
            <a:ext cx="7972425" cy="3712369"/>
          </a:xfrm>
          <a:prstGeom prst="roundRect">
            <a:avLst>
              <a:gd fmla="val 4105"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9"/>
          <p:cNvSpPr/>
          <p:nvPr/>
        </p:nvSpPr>
        <p:spPr>
          <a:xfrm>
            <a:off x="1333500" y="6003131"/>
            <a:ext cx="8141017" cy="3619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If someone </a:t>
            </a:r>
            <a:r>
              <a:rPr b="1" lang="en-US" sz="2100">
                <a:solidFill>
                  <a:srgbClr val="111111"/>
                </a:solidFill>
                <a:latin typeface="Montserrat"/>
                <a:ea typeface="Montserrat"/>
                <a:cs typeface="Montserrat"/>
                <a:sym typeface="Montserrat"/>
              </a:rPr>
              <a:t>doesn't fulfill their responsibilities</a:t>
            </a:r>
            <a:endParaRPr b="0" i="0" sz="2100" u="none" cap="none" strike="noStrike">
              <a:solidFill>
                <a:schemeClr val="dk1"/>
              </a:solidFill>
              <a:latin typeface="Calibri"/>
              <a:ea typeface="Calibri"/>
              <a:cs typeface="Calibri"/>
              <a:sym typeface="Calibri"/>
            </a:endParaRPr>
          </a:p>
        </p:txBody>
      </p:sp>
      <p:sp>
        <p:nvSpPr>
          <p:cNvPr id="289" name="Google Shape;289;p9"/>
          <p:cNvSpPr/>
          <p:nvPr/>
        </p:nvSpPr>
        <p:spPr>
          <a:xfrm>
            <a:off x="1333500" y="6460331"/>
            <a:ext cx="7622953" cy="1145381"/>
          </a:xfrm>
          <a:prstGeom prst="rect">
            <a:avLst/>
          </a:prstGeom>
          <a:noFill/>
          <a:ln>
            <a:noFill/>
          </a:ln>
        </p:spPr>
        <p:txBody>
          <a:bodyPr anchorCtr="0" anchor="t" bIns="25400" lIns="25400" spcFirstLastPara="1" rIns="25400" wrap="square" tIns="25400">
            <a:noAutofit/>
          </a:bodyPr>
          <a:lstStyle/>
          <a:p>
            <a:pPr indent="0" lvl="0" marL="0" marR="0" rtl="0" algn="l">
              <a:lnSpc>
                <a:spcPct val="127049"/>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Talk with the member first and work together to resolve the issue. Repeated problems will be discussed as a team and, if necessary, brought to the instructor.</a:t>
            </a:r>
            <a:endParaRPr b="0" i="0" sz="1875" u="none" cap="none" strike="noStrike">
              <a:solidFill>
                <a:schemeClr val="dk1"/>
              </a:solidFill>
              <a:latin typeface="Calibri"/>
              <a:ea typeface="Calibri"/>
              <a:cs typeface="Calibri"/>
              <a:sym typeface="Calibri"/>
            </a:endParaRPr>
          </a:p>
        </p:txBody>
      </p:sp>
      <p:sp>
        <p:nvSpPr>
          <p:cNvPr id="290" name="Google Shape;290;p9"/>
          <p:cNvSpPr/>
          <p:nvPr/>
        </p:nvSpPr>
        <p:spPr>
          <a:xfrm>
            <a:off x="9267825" y="5717381"/>
            <a:ext cx="7972425" cy="3712369"/>
          </a:xfrm>
          <a:prstGeom prst="roundRect">
            <a:avLst>
              <a:gd fmla="val 4105"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9"/>
          <p:cNvSpPr/>
          <p:nvPr/>
        </p:nvSpPr>
        <p:spPr>
          <a:xfrm>
            <a:off x="9553575" y="6003131"/>
            <a:ext cx="8141017" cy="3619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Deadlines &amp; reminders</a:t>
            </a:r>
            <a:endParaRPr b="0" i="0" sz="2100" u="none" cap="none" strike="noStrike">
              <a:solidFill>
                <a:schemeClr val="dk1"/>
              </a:solidFill>
              <a:latin typeface="Calibri"/>
              <a:ea typeface="Calibri"/>
              <a:cs typeface="Calibri"/>
              <a:sym typeface="Calibri"/>
            </a:endParaRPr>
          </a:p>
        </p:txBody>
      </p:sp>
      <p:sp>
        <p:nvSpPr>
          <p:cNvPr id="292" name="Google Shape;292;p9"/>
          <p:cNvSpPr/>
          <p:nvPr/>
        </p:nvSpPr>
        <p:spPr>
          <a:xfrm>
            <a:off x="9553575" y="6460331"/>
            <a:ext cx="7622953" cy="1514475"/>
          </a:xfrm>
          <a:prstGeom prst="rect">
            <a:avLst/>
          </a:prstGeom>
          <a:noFill/>
          <a:ln>
            <a:noFill/>
          </a:ln>
        </p:spPr>
        <p:txBody>
          <a:bodyPr anchorCtr="0" anchor="t" bIns="25400" lIns="25400" spcFirstLastPara="1" rIns="25400" wrap="square" tIns="25400">
            <a:noAutofit/>
          </a:bodyPr>
          <a:lstStyle/>
          <a:p>
            <a:pPr indent="0" lvl="0" marL="0" marR="0" rtl="0" algn="l">
              <a:lnSpc>
                <a:spcPct val="127049"/>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Set internal deadlines ahead of official due dates. The team leader sends reminders before deadlines. Work is considered complete when it is finished, tested, reviewed, and submitted to the team repository.</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sp>
        <p:nvSpPr>
          <p:cNvPr id="298" name="Google Shape;298;p10"/>
          <p:cNvSpPr/>
          <p:nvPr/>
        </p:nvSpPr>
        <p:spPr>
          <a:xfrm>
            <a:off x="952500" y="2047875"/>
            <a:ext cx="163830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0"/>
          <p:cNvSpPr/>
          <p:nvPr/>
        </p:nvSpPr>
        <p:spPr>
          <a:xfrm>
            <a:off x="952500" y="762000"/>
            <a:ext cx="9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04 · WORKING AGREEMENT</a:t>
            </a:r>
            <a:endParaRPr b="0" i="0" sz="1800" u="none" cap="none" strike="noStrike">
              <a:solidFill>
                <a:schemeClr val="dk1"/>
              </a:solidFill>
              <a:latin typeface="Calibri"/>
              <a:ea typeface="Calibri"/>
              <a:cs typeface="Calibri"/>
              <a:sym typeface="Calibri"/>
            </a:endParaRPr>
          </a:p>
        </p:txBody>
      </p:sp>
      <p:sp>
        <p:nvSpPr>
          <p:cNvPr id="300" name="Google Shape;300;p10"/>
          <p:cNvSpPr/>
          <p:nvPr/>
        </p:nvSpPr>
        <p:spPr>
          <a:xfrm>
            <a:off x="952500" y="1171575"/>
            <a:ext cx="7003881"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Cadence &amp; deliverables</a:t>
            </a:r>
            <a:endParaRPr b="0" i="0" sz="4200" u="none" cap="none" strike="noStrike">
              <a:solidFill>
                <a:schemeClr val="dk1"/>
              </a:solidFill>
              <a:latin typeface="Calibri"/>
              <a:ea typeface="Calibri"/>
              <a:cs typeface="Calibri"/>
              <a:sym typeface="Calibri"/>
            </a:endParaRPr>
          </a:p>
        </p:txBody>
      </p:sp>
      <p:pic>
        <p:nvPicPr>
          <p:cNvPr descr="preencoded.png" id="301" name="Google Shape;301;p10"/>
          <p:cNvPicPr preferRelativeResize="0"/>
          <p:nvPr/>
        </p:nvPicPr>
        <p:blipFill rotWithShape="1">
          <a:blip r:embed="rId3">
            <a:alphaModFix/>
          </a:blip>
          <a:srcRect b="-3807" l="0" r="0" t="-3807"/>
          <a:stretch/>
        </p:blipFill>
        <p:spPr>
          <a:xfrm>
            <a:off x="16725900" y="762000"/>
            <a:ext cx="609600" cy="609600"/>
          </a:xfrm>
          <a:prstGeom prst="rect">
            <a:avLst/>
          </a:prstGeom>
          <a:noFill/>
          <a:ln>
            <a:noFill/>
          </a:ln>
        </p:spPr>
      </p:pic>
      <p:sp>
        <p:nvSpPr>
          <p:cNvPr id="302" name="Google Shape;302;p10"/>
          <p:cNvSpPr/>
          <p:nvPr/>
        </p:nvSpPr>
        <p:spPr>
          <a:xfrm>
            <a:off x="952500" y="2343150"/>
            <a:ext cx="7007319"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MEETING CADENCE</a:t>
            </a:r>
            <a:endParaRPr b="0" i="0" sz="1800" u="none" cap="none" strike="noStrike">
              <a:solidFill>
                <a:schemeClr val="dk1"/>
              </a:solidFill>
              <a:latin typeface="Calibri"/>
              <a:ea typeface="Calibri"/>
              <a:cs typeface="Calibri"/>
              <a:sym typeface="Calibri"/>
            </a:endParaRPr>
          </a:p>
        </p:txBody>
      </p:sp>
      <p:sp>
        <p:nvSpPr>
          <p:cNvPr id="303" name="Google Shape;303;p10"/>
          <p:cNvSpPr/>
          <p:nvPr/>
        </p:nvSpPr>
        <p:spPr>
          <a:xfrm>
            <a:off x="952500" y="2790825"/>
            <a:ext cx="6370290" cy="2505075"/>
          </a:xfrm>
          <a:prstGeom prst="roundRect">
            <a:avLst>
              <a:gd fmla="val 6084"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0"/>
          <p:cNvSpPr/>
          <p:nvPr/>
        </p:nvSpPr>
        <p:spPr>
          <a:xfrm>
            <a:off x="1200150" y="3038475"/>
            <a:ext cx="6462489"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11111"/>
              </a:buClr>
              <a:buSzPts val="1875"/>
              <a:buFont typeface="Montserrat"/>
              <a:buNone/>
            </a:pPr>
            <a:r>
              <a:rPr b="1" i="0" lang="en-US" sz="1875" u="none" cap="none" strike="noStrike">
                <a:solidFill>
                  <a:srgbClr val="111111"/>
                </a:solidFill>
                <a:latin typeface="Montserrat"/>
                <a:ea typeface="Montserrat"/>
                <a:cs typeface="Montserrat"/>
                <a:sym typeface="Montserrat"/>
              </a:rPr>
              <a:t>Standup </a:t>
            </a:r>
            <a:r>
              <a:rPr b="0" i="0" lang="en-US" sz="1875" u="none" cap="none" strike="noStrike">
                <a:solidFill>
                  <a:srgbClr val="3D3D3D"/>
                </a:solidFill>
                <a:latin typeface="Montserrat"/>
                <a:ea typeface="Montserrat"/>
                <a:cs typeface="Montserrat"/>
                <a:sym typeface="Montserrat"/>
              </a:rPr>
              <a:t>— Quick progress discussion after class.</a:t>
            </a:r>
            <a:endParaRPr b="0" i="0" sz="1875" u="none" cap="none" strike="noStrike">
              <a:solidFill>
                <a:schemeClr val="dk1"/>
              </a:solidFill>
              <a:latin typeface="Calibri"/>
              <a:ea typeface="Calibri"/>
              <a:cs typeface="Calibri"/>
              <a:sym typeface="Calibri"/>
            </a:endParaRPr>
          </a:p>
        </p:txBody>
      </p:sp>
      <p:sp>
        <p:nvSpPr>
          <p:cNvPr id="305" name="Google Shape;305;p10"/>
          <p:cNvSpPr/>
          <p:nvPr/>
        </p:nvSpPr>
        <p:spPr>
          <a:xfrm>
            <a:off x="1200150" y="3536156"/>
            <a:ext cx="587499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0"/>
          <p:cNvSpPr/>
          <p:nvPr/>
        </p:nvSpPr>
        <p:spPr>
          <a:xfrm>
            <a:off x="1200150" y="3698081"/>
            <a:ext cx="6051240"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11111"/>
              </a:buClr>
              <a:buSzPts val="1875"/>
              <a:buFont typeface="Montserrat"/>
              <a:buNone/>
            </a:pPr>
            <a:r>
              <a:rPr b="1" i="0" lang="en-US" sz="1875" u="none" cap="none" strike="noStrike">
                <a:solidFill>
                  <a:srgbClr val="111111"/>
                </a:solidFill>
                <a:latin typeface="Montserrat"/>
                <a:ea typeface="Montserrat"/>
                <a:cs typeface="Montserrat"/>
                <a:sym typeface="Montserrat"/>
              </a:rPr>
              <a:t>Working session </a:t>
            </a:r>
            <a:r>
              <a:rPr b="0" i="0" lang="en-US" sz="1875" u="none" cap="none" strike="noStrike">
                <a:solidFill>
                  <a:srgbClr val="3D3D3D"/>
                </a:solidFill>
                <a:latin typeface="Montserrat"/>
                <a:ea typeface="Montserrat"/>
                <a:cs typeface="Montserrat"/>
                <a:sym typeface="Montserrat"/>
              </a:rPr>
              <a:t>— Sunday 2-hour Zoom meeting + individual work throughout the week.</a:t>
            </a:r>
            <a:endParaRPr b="0" i="0" sz="1875" u="none" cap="none" strike="noStrike">
              <a:solidFill>
                <a:schemeClr val="dk1"/>
              </a:solidFill>
              <a:latin typeface="Calibri"/>
              <a:ea typeface="Calibri"/>
              <a:cs typeface="Calibri"/>
              <a:sym typeface="Calibri"/>
            </a:endParaRPr>
          </a:p>
        </p:txBody>
      </p:sp>
      <p:sp>
        <p:nvSpPr>
          <p:cNvPr id="307" name="Google Shape;307;p10"/>
          <p:cNvSpPr/>
          <p:nvPr/>
        </p:nvSpPr>
        <p:spPr>
          <a:xfrm>
            <a:off x="1200150" y="4541044"/>
            <a:ext cx="587499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0"/>
          <p:cNvSpPr/>
          <p:nvPr/>
        </p:nvSpPr>
        <p:spPr>
          <a:xfrm>
            <a:off x="1200150" y="4702969"/>
            <a:ext cx="6462489"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11111"/>
              </a:buClr>
              <a:buSzPts val="1875"/>
              <a:buFont typeface="Montserrat"/>
              <a:buNone/>
            </a:pPr>
            <a:r>
              <a:rPr b="1" i="0" lang="en-US" sz="1875" u="none" cap="none" strike="noStrike">
                <a:solidFill>
                  <a:srgbClr val="111111"/>
                </a:solidFill>
                <a:latin typeface="Montserrat"/>
                <a:ea typeface="Montserrat"/>
                <a:cs typeface="Montserrat"/>
                <a:sym typeface="Montserrat"/>
              </a:rPr>
              <a:t>Sprint Duration </a:t>
            </a:r>
            <a:r>
              <a:rPr b="0" i="0" lang="en-US" sz="1875" u="none" cap="none" strike="noStrike">
                <a:solidFill>
                  <a:srgbClr val="3D3D3D"/>
                </a:solidFill>
                <a:latin typeface="Montserrat"/>
                <a:ea typeface="Montserrat"/>
                <a:cs typeface="Montserrat"/>
                <a:sym typeface="Montserrat"/>
              </a:rPr>
              <a:t>— Approximately 4 weeks.</a:t>
            </a:r>
            <a:endParaRPr b="0" i="0" sz="1875" u="none" cap="none" strike="noStrike">
              <a:solidFill>
                <a:schemeClr val="dk1"/>
              </a:solidFill>
              <a:latin typeface="Calibri"/>
              <a:ea typeface="Calibri"/>
              <a:cs typeface="Calibri"/>
              <a:sym typeface="Calibri"/>
            </a:endParaRPr>
          </a:p>
        </p:txBody>
      </p:sp>
      <p:sp>
        <p:nvSpPr>
          <p:cNvPr id="309" name="Google Shape;309;p10"/>
          <p:cNvSpPr/>
          <p:nvPr/>
        </p:nvSpPr>
        <p:spPr>
          <a:xfrm>
            <a:off x="7779990" y="2343150"/>
            <a:ext cx="10510979"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SPRINT DELIVERABLES</a:t>
            </a:r>
            <a:endParaRPr b="0" i="0" sz="1800" u="none" cap="none" strike="noStrike">
              <a:solidFill>
                <a:schemeClr val="dk1"/>
              </a:solidFill>
              <a:latin typeface="Calibri"/>
              <a:ea typeface="Calibri"/>
              <a:cs typeface="Calibri"/>
              <a:sym typeface="Calibri"/>
            </a:endParaRPr>
          </a:p>
        </p:txBody>
      </p:sp>
      <p:sp>
        <p:nvSpPr>
          <p:cNvPr id="310" name="Google Shape;310;p10"/>
          <p:cNvSpPr/>
          <p:nvPr/>
        </p:nvSpPr>
        <p:spPr>
          <a:xfrm>
            <a:off x="7779990" y="2790825"/>
            <a:ext cx="19050" cy="5164931"/>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10"/>
          <p:cNvSpPr/>
          <p:nvPr/>
        </p:nvSpPr>
        <p:spPr>
          <a:xfrm>
            <a:off x="7722840" y="2867025"/>
            <a:ext cx="133350" cy="133350"/>
          </a:xfrm>
          <a:prstGeom prst="ellipse">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0"/>
          <p:cNvSpPr/>
          <p:nvPr/>
        </p:nvSpPr>
        <p:spPr>
          <a:xfrm>
            <a:off x="7722923" y="4175924"/>
            <a:ext cx="133200" cy="133500"/>
          </a:xfrm>
          <a:prstGeom prst="ellipse">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0"/>
          <p:cNvSpPr/>
          <p:nvPr/>
        </p:nvSpPr>
        <p:spPr>
          <a:xfrm>
            <a:off x="7722840" y="5405426"/>
            <a:ext cx="133500" cy="133500"/>
          </a:xfrm>
          <a:prstGeom prst="ellipse">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0"/>
          <p:cNvSpPr/>
          <p:nvPr/>
        </p:nvSpPr>
        <p:spPr>
          <a:xfrm>
            <a:off x="7722840" y="6691306"/>
            <a:ext cx="133500" cy="133500"/>
          </a:xfrm>
          <a:prstGeom prst="ellipse">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0"/>
          <p:cNvSpPr/>
          <p:nvPr/>
        </p:nvSpPr>
        <p:spPr>
          <a:xfrm>
            <a:off x="8008590" y="2790825"/>
            <a:ext cx="10259519" cy="3524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Sprint 0 — SEP-1 to SEP-21</a:t>
            </a:r>
            <a:endParaRPr b="0" i="0" sz="2025" u="none" cap="none" strike="noStrike">
              <a:solidFill>
                <a:schemeClr val="dk1"/>
              </a:solidFill>
              <a:latin typeface="Calibri"/>
              <a:ea typeface="Calibri"/>
              <a:cs typeface="Calibri"/>
              <a:sym typeface="Calibri"/>
            </a:endParaRPr>
          </a:p>
        </p:txBody>
      </p:sp>
      <p:sp>
        <p:nvSpPr>
          <p:cNvPr id="316" name="Google Shape;316;p10"/>
          <p:cNvSpPr/>
          <p:nvPr/>
        </p:nvSpPr>
        <p:spPr>
          <a:xfrm>
            <a:off x="8008590" y="3162300"/>
            <a:ext cx="9606640"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Finalize the project scope, team responsibilities, personas, technology stack, datasets, and overall development plan.</a:t>
            </a:r>
            <a:endParaRPr b="0" i="0" sz="1875" u="none" cap="none" strike="noStrike">
              <a:solidFill>
                <a:schemeClr val="dk1"/>
              </a:solidFill>
              <a:latin typeface="Calibri"/>
              <a:ea typeface="Calibri"/>
              <a:cs typeface="Calibri"/>
              <a:sym typeface="Calibri"/>
            </a:endParaRPr>
          </a:p>
        </p:txBody>
      </p:sp>
      <p:sp>
        <p:nvSpPr>
          <p:cNvPr id="317" name="Google Shape;317;p10"/>
          <p:cNvSpPr/>
          <p:nvPr/>
        </p:nvSpPr>
        <p:spPr>
          <a:xfrm>
            <a:off x="8008590" y="4043363"/>
            <a:ext cx="10259519" cy="3524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Sprint 1 — SEP-21 to OCT-19</a:t>
            </a:r>
            <a:endParaRPr b="0" i="0" sz="2025" u="none" cap="none" strike="noStrike">
              <a:solidFill>
                <a:schemeClr val="dk1"/>
              </a:solidFill>
              <a:latin typeface="Calibri"/>
              <a:ea typeface="Calibri"/>
              <a:cs typeface="Calibri"/>
              <a:sym typeface="Calibri"/>
            </a:endParaRPr>
          </a:p>
        </p:txBody>
      </p:sp>
      <p:sp>
        <p:nvSpPr>
          <p:cNvPr id="318" name="Google Shape;318;p10"/>
          <p:cNvSpPr/>
          <p:nvPr/>
        </p:nvSpPr>
        <p:spPr>
          <a:xfrm>
            <a:off x="8008590" y="4414838"/>
            <a:ext cx="9606640"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Prepare and preprocess retinal images, create the basic user interface, and build initial cataract and glaucoma model functionality.</a:t>
            </a:r>
            <a:endParaRPr b="0" i="0" sz="1875" u="none" cap="none" strike="noStrike">
              <a:solidFill>
                <a:schemeClr val="dk1"/>
              </a:solidFill>
              <a:latin typeface="Calibri"/>
              <a:ea typeface="Calibri"/>
              <a:cs typeface="Calibri"/>
              <a:sym typeface="Calibri"/>
            </a:endParaRPr>
          </a:p>
        </p:txBody>
      </p:sp>
      <p:sp>
        <p:nvSpPr>
          <p:cNvPr id="319" name="Google Shape;319;p10"/>
          <p:cNvSpPr/>
          <p:nvPr/>
        </p:nvSpPr>
        <p:spPr>
          <a:xfrm>
            <a:off x="8008590" y="5295900"/>
            <a:ext cx="10259519" cy="3524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Sprint 2 — OCT-19 to NOV-16</a:t>
            </a:r>
            <a:endParaRPr b="0" i="0" sz="2025" u="none" cap="none" strike="noStrike">
              <a:solidFill>
                <a:schemeClr val="dk1"/>
              </a:solidFill>
              <a:latin typeface="Calibri"/>
              <a:ea typeface="Calibri"/>
              <a:cs typeface="Calibri"/>
              <a:sym typeface="Calibri"/>
            </a:endParaRPr>
          </a:p>
        </p:txBody>
      </p:sp>
      <p:sp>
        <p:nvSpPr>
          <p:cNvPr id="320" name="Google Shape;320;p10"/>
          <p:cNvSpPr/>
          <p:nvPr/>
        </p:nvSpPr>
        <p:spPr>
          <a:xfrm>
            <a:off x="8008590" y="5667375"/>
            <a:ext cx="9606640"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Develop the shared dual-head model, evaluate both disease predictions, integrate the model with the application, and begin external validation.</a:t>
            </a:r>
            <a:endParaRPr b="0" i="0" sz="1875" u="none" cap="none" strike="noStrike">
              <a:solidFill>
                <a:schemeClr val="dk1"/>
              </a:solidFill>
              <a:latin typeface="Calibri"/>
              <a:ea typeface="Calibri"/>
              <a:cs typeface="Calibri"/>
              <a:sym typeface="Calibri"/>
            </a:endParaRPr>
          </a:p>
        </p:txBody>
      </p:sp>
      <p:sp>
        <p:nvSpPr>
          <p:cNvPr id="321" name="Google Shape;321;p10"/>
          <p:cNvSpPr/>
          <p:nvPr/>
        </p:nvSpPr>
        <p:spPr>
          <a:xfrm>
            <a:off x="8008590" y="6548438"/>
            <a:ext cx="10259519" cy="3524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025"/>
              <a:buFont typeface="Montserrat"/>
              <a:buNone/>
            </a:pPr>
            <a:r>
              <a:rPr b="1" i="0" lang="en-US" sz="2025" u="none" cap="none" strike="noStrike">
                <a:solidFill>
                  <a:srgbClr val="111111"/>
                </a:solidFill>
                <a:latin typeface="Montserrat"/>
                <a:ea typeface="Montserrat"/>
                <a:cs typeface="Montserrat"/>
                <a:sym typeface="Montserrat"/>
              </a:rPr>
              <a:t>Sprint 3 — NOV-16 to DEC-14</a:t>
            </a:r>
            <a:endParaRPr b="0" i="0" sz="2025" u="none" cap="none" strike="noStrike">
              <a:solidFill>
                <a:schemeClr val="dk1"/>
              </a:solidFill>
              <a:latin typeface="Calibri"/>
              <a:ea typeface="Calibri"/>
              <a:cs typeface="Calibri"/>
              <a:sym typeface="Calibri"/>
            </a:endParaRPr>
          </a:p>
        </p:txBody>
      </p:sp>
      <p:sp>
        <p:nvSpPr>
          <p:cNvPr id="322" name="Google Shape;322;p10"/>
          <p:cNvSpPr/>
          <p:nvPr/>
        </p:nvSpPr>
        <p:spPr>
          <a:xfrm>
            <a:off x="8008590" y="6919913"/>
            <a:ext cx="9606640" cy="1073944"/>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Complete the end-to-end application, perform final model testing and validation, improve the interface, and finalize project documentation and presentation</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11"/>
          <p:cNvSpPr/>
          <p:nvPr/>
        </p:nvSpPr>
        <p:spPr>
          <a:xfrm>
            <a:off x="0" y="0"/>
            <a:ext cx="5715000" cy="10287000"/>
          </a:xfrm>
          <a:prstGeom prst="rect">
            <a:avLst/>
          </a:prstGeom>
          <a:solidFill>
            <a:srgbClr val="EE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9" name="Google Shape;329;p11"/>
          <p:cNvPicPr preferRelativeResize="0"/>
          <p:nvPr/>
        </p:nvPicPr>
        <p:blipFill rotWithShape="1">
          <a:blip r:embed="rId3">
            <a:alphaModFix/>
          </a:blip>
          <a:srcRect b="0" l="21740" r="21740" t="0"/>
          <a:stretch/>
        </p:blipFill>
        <p:spPr>
          <a:xfrm>
            <a:off x="0" y="0"/>
            <a:ext cx="5715000" cy="10287000"/>
          </a:xfrm>
          <a:prstGeom prst="rect">
            <a:avLst/>
          </a:prstGeom>
          <a:noFill/>
          <a:ln>
            <a:noFill/>
          </a:ln>
        </p:spPr>
      </p:pic>
      <p:sp>
        <p:nvSpPr>
          <p:cNvPr id="330" name="Google Shape;330;p11"/>
          <p:cNvSpPr/>
          <p:nvPr/>
        </p:nvSpPr>
        <p:spPr>
          <a:xfrm>
            <a:off x="0" y="8165902"/>
            <a:ext cx="5715000" cy="2121098"/>
          </a:xfrm>
          <a:prstGeom prst="rect">
            <a:avLst/>
          </a:prstGeom>
          <a:gradFill>
            <a:gsLst>
              <a:gs pos="0">
                <a:srgbClr val="111111">
                  <a:alpha val="94902"/>
                </a:srgbClr>
              </a:gs>
              <a:gs pos="35000">
                <a:srgbClr val="111111">
                  <a:alpha val="90196"/>
                </a:srgbClr>
              </a:gs>
              <a:gs pos="70000">
                <a:srgbClr val="111111">
                  <a:alpha val="54902"/>
                </a:srgbClr>
              </a:gs>
              <a:gs pos="100000">
                <a:srgbClr val="111111">
                  <a:alpha val="0"/>
                </a:srgbClr>
              </a:gs>
            </a:gsLst>
            <a:lin ang="162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11"/>
          <p:cNvSpPr/>
          <p:nvPr/>
        </p:nvSpPr>
        <p:spPr>
          <a:xfrm>
            <a:off x="419100" y="8623102"/>
            <a:ext cx="5023104" cy="835223"/>
          </a:xfrm>
          <a:prstGeom prst="rect">
            <a:avLst/>
          </a:prstGeom>
          <a:noFill/>
          <a:ln>
            <a:noFill/>
          </a:ln>
        </p:spPr>
        <p:txBody>
          <a:bodyPr anchorCtr="0" anchor="t" bIns="25400" lIns="25400" spcFirstLastPara="1" rIns="25400" wrap="square" tIns="25400">
            <a:noAutofit/>
          </a:bodyPr>
          <a:lstStyle/>
          <a:p>
            <a:pPr indent="0" lvl="0" marL="0" marR="0" rtl="0" algn="l">
              <a:lnSpc>
                <a:spcPct val="110132"/>
              </a:lnSpc>
              <a:spcBef>
                <a:spcPts val="0"/>
              </a:spcBef>
              <a:spcAft>
                <a:spcPts val="0"/>
              </a:spcAft>
              <a:buClr>
                <a:srgbClr val="FFFFFF"/>
              </a:buClr>
              <a:buSzPts val="2325"/>
              <a:buFont typeface="Montserrat"/>
              <a:buNone/>
            </a:pPr>
            <a:r>
              <a:rPr b="1" i="0" lang="en-US" sz="2325" u="none" cap="none" strike="noStrike">
                <a:solidFill>
                  <a:srgbClr val="FFFFFF"/>
                </a:solidFill>
                <a:latin typeface="Montserrat"/>
                <a:ea typeface="Montserrat"/>
                <a:cs typeface="Montserrat"/>
                <a:sym typeface="Montserrat"/>
              </a:rPr>
              <a:t>“I want to keep seeing the moments that matter.”</a:t>
            </a:r>
            <a:endParaRPr b="0" i="0" sz="2325" u="none" cap="none" strike="noStrike">
              <a:solidFill>
                <a:schemeClr val="dk1"/>
              </a:solidFill>
              <a:latin typeface="Calibri"/>
              <a:ea typeface="Calibri"/>
              <a:cs typeface="Calibri"/>
              <a:sym typeface="Calibri"/>
            </a:endParaRPr>
          </a:p>
        </p:txBody>
      </p:sp>
      <p:sp>
        <p:nvSpPr>
          <p:cNvPr id="332" name="Google Shape;332;p11"/>
          <p:cNvSpPr/>
          <p:nvPr/>
        </p:nvSpPr>
        <p:spPr>
          <a:xfrm>
            <a:off x="419100" y="9553575"/>
            <a:ext cx="536448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01 | PATIENT PERSONA</a:t>
            </a:r>
            <a:endParaRPr b="0" i="0" sz="1800" u="none" cap="none" strike="noStrike">
              <a:solidFill>
                <a:schemeClr val="dk1"/>
              </a:solidFill>
              <a:latin typeface="Calibri"/>
              <a:ea typeface="Calibri"/>
              <a:cs typeface="Calibri"/>
              <a:sym typeface="Calibri"/>
            </a:endParaRPr>
          </a:p>
        </p:txBody>
      </p:sp>
      <p:sp>
        <p:nvSpPr>
          <p:cNvPr id="333" name="Google Shape;333;p11"/>
          <p:cNvSpPr/>
          <p:nvPr/>
        </p:nvSpPr>
        <p:spPr>
          <a:xfrm>
            <a:off x="6381750" y="1952625"/>
            <a:ext cx="11239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11"/>
          <p:cNvSpPr/>
          <p:nvPr/>
        </p:nvSpPr>
        <p:spPr>
          <a:xfrm>
            <a:off x="6381750" y="381000"/>
            <a:ext cx="9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05 · PERSONAS</a:t>
            </a:r>
            <a:endParaRPr b="0" i="0" sz="1800" u="none" cap="none" strike="noStrike">
              <a:solidFill>
                <a:schemeClr val="dk1"/>
              </a:solidFill>
              <a:latin typeface="Calibri"/>
              <a:ea typeface="Calibri"/>
              <a:cs typeface="Calibri"/>
              <a:sym typeface="Calibri"/>
            </a:endParaRPr>
          </a:p>
        </p:txBody>
      </p:sp>
      <p:sp>
        <p:nvSpPr>
          <p:cNvPr id="335" name="Google Shape;335;p11"/>
          <p:cNvSpPr/>
          <p:nvPr/>
        </p:nvSpPr>
        <p:spPr>
          <a:xfrm>
            <a:off x="6381750" y="752475"/>
            <a:ext cx="5176622" cy="6191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3750"/>
              <a:buFont typeface="Montserrat"/>
              <a:buNone/>
            </a:pPr>
            <a:r>
              <a:rPr b="1" i="0" lang="en-US" sz="3750" u="none" cap="none" strike="noStrike">
                <a:solidFill>
                  <a:srgbClr val="111111"/>
                </a:solidFill>
                <a:latin typeface="Montserrat"/>
                <a:ea typeface="Montserrat"/>
                <a:cs typeface="Montserrat"/>
                <a:sym typeface="Montserrat"/>
              </a:rPr>
              <a:t>Helen Whitfield, 68</a:t>
            </a:r>
            <a:endParaRPr b="0" i="0" sz="3750" u="none" cap="none" strike="noStrike">
              <a:solidFill>
                <a:schemeClr val="dk1"/>
              </a:solidFill>
              <a:latin typeface="Calibri"/>
              <a:ea typeface="Calibri"/>
              <a:cs typeface="Calibri"/>
              <a:sym typeface="Calibri"/>
            </a:endParaRPr>
          </a:p>
        </p:txBody>
      </p:sp>
      <p:sp>
        <p:nvSpPr>
          <p:cNvPr id="336" name="Google Shape;336;p11"/>
          <p:cNvSpPr/>
          <p:nvPr/>
        </p:nvSpPr>
        <p:spPr>
          <a:xfrm>
            <a:off x="6381750" y="1428750"/>
            <a:ext cx="5176622" cy="3524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2025"/>
              <a:buFont typeface="Montserrat"/>
              <a:buNone/>
            </a:pPr>
            <a:r>
              <a:rPr b="0" i="0" lang="en-US" sz="2025" u="none" cap="none" strike="noStrike">
                <a:solidFill>
                  <a:srgbClr val="3D3D3D"/>
                </a:solidFill>
                <a:latin typeface="Montserrat"/>
                <a:ea typeface="Montserrat"/>
                <a:cs typeface="Montserrat"/>
                <a:sym typeface="Montserrat"/>
              </a:rPr>
              <a:t>Retired · At-risk older adult</a:t>
            </a:r>
            <a:endParaRPr b="0" i="0" sz="2025" u="none" cap="none" strike="noStrike">
              <a:solidFill>
                <a:schemeClr val="dk1"/>
              </a:solidFill>
              <a:latin typeface="Calibri"/>
              <a:ea typeface="Calibri"/>
              <a:cs typeface="Calibri"/>
              <a:sym typeface="Calibri"/>
            </a:endParaRPr>
          </a:p>
        </p:txBody>
      </p:sp>
      <p:pic>
        <p:nvPicPr>
          <p:cNvPr descr="preencoded.png" id="337" name="Google Shape;337;p11"/>
          <p:cNvPicPr preferRelativeResize="0"/>
          <p:nvPr/>
        </p:nvPicPr>
        <p:blipFill rotWithShape="1">
          <a:blip r:embed="rId4">
            <a:alphaModFix/>
          </a:blip>
          <a:srcRect b="-3807" l="0" r="0" t="-3807"/>
          <a:stretch/>
        </p:blipFill>
        <p:spPr>
          <a:xfrm>
            <a:off x="17087850" y="381000"/>
            <a:ext cx="533400" cy="533400"/>
          </a:xfrm>
          <a:prstGeom prst="rect">
            <a:avLst/>
          </a:prstGeom>
          <a:noFill/>
          <a:ln>
            <a:noFill/>
          </a:ln>
        </p:spPr>
      </p:pic>
      <p:sp>
        <p:nvSpPr>
          <p:cNvPr id="338" name="Google Shape;338;p11"/>
          <p:cNvSpPr/>
          <p:nvPr/>
        </p:nvSpPr>
        <p:spPr>
          <a:xfrm>
            <a:off x="6381750" y="2095500"/>
            <a:ext cx="3773128" cy="395288"/>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Last eye exam four years ago</a:t>
            </a:r>
            <a:endParaRPr b="0" i="0" sz="1875" u="none" cap="none" strike="noStrike">
              <a:solidFill>
                <a:schemeClr val="dk1"/>
              </a:solidFill>
              <a:latin typeface="Calibri"/>
              <a:ea typeface="Calibri"/>
              <a:cs typeface="Calibri"/>
              <a:sym typeface="Calibri"/>
            </a:endParaRPr>
          </a:p>
        </p:txBody>
      </p:sp>
      <p:sp>
        <p:nvSpPr>
          <p:cNvPr id="339" name="Google Shape;339;p11"/>
          <p:cNvSpPr/>
          <p:nvPr/>
        </p:nvSpPr>
        <p:spPr>
          <a:xfrm>
            <a:off x="10097616" y="2095500"/>
            <a:ext cx="9525" cy="357188"/>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11"/>
          <p:cNvSpPr/>
          <p:nvPr/>
        </p:nvSpPr>
        <p:spPr>
          <a:xfrm>
            <a:off x="10392891" y="2095500"/>
            <a:ext cx="5329528" cy="395288"/>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Wants to stay proactive about eye health</a:t>
            </a:r>
            <a:endParaRPr b="0" i="0" sz="1875" u="none" cap="none" strike="noStrike">
              <a:solidFill>
                <a:schemeClr val="dk1"/>
              </a:solidFill>
              <a:latin typeface="Calibri"/>
              <a:ea typeface="Calibri"/>
              <a:cs typeface="Calibri"/>
              <a:sym typeface="Calibri"/>
            </a:endParaRPr>
          </a:p>
        </p:txBody>
      </p:sp>
      <p:sp>
        <p:nvSpPr>
          <p:cNvPr id="341" name="Google Shape;341;p11"/>
          <p:cNvSpPr/>
          <p:nvPr/>
        </p:nvSpPr>
        <p:spPr>
          <a:xfrm>
            <a:off x="6381750" y="2586038"/>
            <a:ext cx="3606775" cy="3148013"/>
          </a:xfrm>
          <a:prstGeom prst="roundRect">
            <a:avLst>
              <a:gd fmla="val 4841"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11"/>
          <p:cNvSpPr/>
          <p:nvPr/>
        </p:nvSpPr>
        <p:spPr>
          <a:xfrm>
            <a:off x="6610350" y="2814638"/>
            <a:ext cx="3464533"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GOALS</a:t>
            </a:r>
            <a:endParaRPr b="0" i="0" sz="1800" u="none" cap="none" strike="noStrike">
              <a:solidFill>
                <a:schemeClr val="dk1"/>
              </a:solidFill>
              <a:latin typeface="Calibri"/>
              <a:ea typeface="Calibri"/>
              <a:cs typeface="Calibri"/>
              <a:sym typeface="Calibri"/>
            </a:endParaRPr>
          </a:p>
        </p:txBody>
      </p:sp>
      <p:sp>
        <p:nvSpPr>
          <p:cNvPr id="343" name="Google Shape;343;p11"/>
          <p:cNvSpPr/>
          <p:nvPr/>
        </p:nvSpPr>
        <p:spPr>
          <a:xfrm>
            <a:off x="6610350" y="3205163"/>
            <a:ext cx="3244062" cy="1073944"/>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Identify possible cataract or glaucoma concerns early</a:t>
            </a:r>
            <a:endParaRPr b="0" i="0" sz="1875" u="none" cap="none" strike="noStrike">
              <a:solidFill>
                <a:schemeClr val="dk1"/>
              </a:solidFill>
              <a:latin typeface="Calibri"/>
              <a:ea typeface="Calibri"/>
              <a:cs typeface="Calibri"/>
              <a:sym typeface="Calibri"/>
            </a:endParaRPr>
          </a:p>
        </p:txBody>
      </p:sp>
      <p:sp>
        <p:nvSpPr>
          <p:cNvPr id="344" name="Google Shape;344;p11"/>
          <p:cNvSpPr/>
          <p:nvPr/>
        </p:nvSpPr>
        <p:spPr>
          <a:xfrm>
            <a:off x="6610350" y="4355306"/>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Understand her eye health clearly</a:t>
            </a:r>
            <a:endParaRPr b="0" i="0" sz="1875" u="none" cap="none" strike="noStrike">
              <a:solidFill>
                <a:schemeClr val="dk1"/>
              </a:solidFill>
              <a:latin typeface="Calibri"/>
              <a:ea typeface="Calibri"/>
              <a:cs typeface="Calibri"/>
              <a:sym typeface="Calibri"/>
            </a:endParaRPr>
          </a:p>
        </p:txBody>
      </p:sp>
      <p:sp>
        <p:nvSpPr>
          <p:cNvPr id="345" name="Google Shape;345;p11"/>
          <p:cNvSpPr/>
          <p:nvPr/>
        </p:nvSpPr>
        <p:spPr>
          <a:xfrm>
            <a:off x="6610350" y="5160169"/>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Know what to do next</a:t>
            </a:r>
            <a:endParaRPr b="0" i="0" sz="1875" u="none" cap="none" strike="noStrike">
              <a:solidFill>
                <a:schemeClr val="dk1"/>
              </a:solidFill>
              <a:latin typeface="Calibri"/>
              <a:ea typeface="Calibri"/>
              <a:cs typeface="Calibri"/>
              <a:sym typeface="Calibri"/>
            </a:endParaRPr>
          </a:p>
        </p:txBody>
      </p:sp>
      <p:sp>
        <p:nvSpPr>
          <p:cNvPr id="346" name="Google Shape;346;p11"/>
          <p:cNvSpPr/>
          <p:nvPr/>
        </p:nvSpPr>
        <p:spPr>
          <a:xfrm>
            <a:off x="10198075" y="2586038"/>
            <a:ext cx="3606775" cy="2112169"/>
          </a:xfrm>
          <a:prstGeom prst="roundRect">
            <a:avLst>
              <a:gd fmla="val 7215"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11"/>
          <p:cNvSpPr/>
          <p:nvPr/>
        </p:nvSpPr>
        <p:spPr>
          <a:xfrm>
            <a:off x="10426675" y="2814638"/>
            <a:ext cx="3464533"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NEEDS</a:t>
            </a:r>
            <a:endParaRPr b="0" i="0" sz="1800" u="none" cap="none" strike="noStrike">
              <a:solidFill>
                <a:schemeClr val="dk1"/>
              </a:solidFill>
              <a:latin typeface="Calibri"/>
              <a:ea typeface="Calibri"/>
              <a:cs typeface="Calibri"/>
              <a:sym typeface="Calibri"/>
            </a:endParaRPr>
          </a:p>
        </p:txBody>
      </p:sp>
      <p:sp>
        <p:nvSpPr>
          <p:cNvPr id="348" name="Google Shape;348;p11"/>
          <p:cNvSpPr/>
          <p:nvPr/>
        </p:nvSpPr>
        <p:spPr>
          <a:xfrm>
            <a:off x="10426675" y="3205163"/>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Plain-language results</a:t>
            </a:r>
            <a:endParaRPr b="0" i="0" sz="1875" u="none" cap="none" strike="noStrike">
              <a:solidFill>
                <a:schemeClr val="dk1"/>
              </a:solidFill>
              <a:latin typeface="Calibri"/>
              <a:ea typeface="Calibri"/>
              <a:cs typeface="Calibri"/>
              <a:sym typeface="Calibri"/>
            </a:endParaRPr>
          </a:p>
        </p:txBody>
      </p:sp>
      <p:sp>
        <p:nvSpPr>
          <p:cNvPr id="349" name="Google Shape;349;p11"/>
          <p:cNvSpPr/>
          <p:nvPr/>
        </p:nvSpPr>
        <p:spPr>
          <a:xfrm>
            <a:off x="10426675" y="3664744"/>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Large, easy-to-read text</a:t>
            </a:r>
            <a:endParaRPr b="0" i="0" sz="1875" u="none" cap="none" strike="noStrike">
              <a:solidFill>
                <a:schemeClr val="dk1"/>
              </a:solidFill>
              <a:latin typeface="Calibri"/>
              <a:ea typeface="Calibri"/>
              <a:cs typeface="Calibri"/>
              <a:sym typeface="Calibri"/>
            </a:endParaRPr>
          </a:p>
        </p:txBody>
      </p:sp>
      <p:sp>
        <p:nvSpPr>
          <p:cNvPr id="350" name="Google Shape;350;p11"/>
          <p:cNvSpPr/>
          <p:nvPr/>
        </p:nvSpPr>
        <p:spPr>
          <a:xfrm>
            <a:off x="10426675" y="4124325"/>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A clear next step</a:t>
            </a:r>
            <a:endParaRPr b="0" i="0" sz="1875" u="none" cap="none" strike="noStrike">
              <a:solidFill>
                <a:schemeClr val="dk1"/>
              </a:solidFill>
              <a:latin typeface="Calibri"/>
              <a:ea typeface="Calibri"/>
              <a:cs typeface="Calibri"/>
              <a:sym typeface="Calibri"/>
            </a:endParaRPr>
          </a:p>
        </p:txBody>
      </p:sp>
      <p:sp>
        <p:nvSpPr>
          <p:cNvPr id="351" name="Google Shape;351;p11"/>
          <p:cNvSpPr/>
          <p:nvPr/>
        </p:nvSpPr>
        <p:spPr>
          <a:xfrm>
            <a:off x="14014400" y="2586038"/>
            <a:ext cx="3606775" cy="3148013"/>
          </a:xfrm>
          <a:prstGeom prst="roundRect">
            <a:avLst>
              <a:gd fmla="val 4841" name="adj"/>
            </a:avLst>
          </a:prstGeom>
          <a:solidFill>
            <a:srgbClr val="FDF4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1"/>
          <p:cNvSpPr/>
          <p:nvPr/>
        </p:nvSpPr>
        <p:spPr>
          <a:xfrm>
            <a:off x="14243000" y="2814638"/>
            <a:ext cx="3464533"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9D4531"/>
              </a:buClr>
              <a:buSzPts val="1800"/>
              <a:buFont typeface="Montserrat"/>
              <a:buNone/>
            </a:pPr>
            <a:r>
              <a:rPr b="1" i="0" lang="en-US" sz="1800" u="none" cap="none" strike="noStrike">
                <a:solidFill>
                  <a:srgbClr val="9D4531"/>
                </a:solidFill>
                <a:latin typeface="Montserrat"/>
                <a:ea typeface="Montserrat"/>
                <a:cs typeface="Montserrat"/>
                <a:sym typeface="Montserrat"/>
              </a:rPr>
              <a:t>CONCERNS</a:t>
            </a:r>
            <a:endParaRPr b="0" i="0" sz="1800" u="none" cap="none" strike="noStrike">
              <a:solidFill>
                <a:schemeClr val="dk1"/>
              </a:solidFill>
              <a:latin typeface="Calibri"/>
              <a:ea typeface="Calibri"/>
              <a:cs typeface="Calibri"/>
              <a:sym typeface="Calibri"/>
            </a:endParaRPr>
          </a:p>
        </p:txBody>
      </p:sp>
      <p:sp>
        <p:nvSpPr>
          <p:cNvPr id="353" name="Google Shape;353;p11"/>
          <p:cNvSpPr/>
          <p:nvPr/>
        </p:nvSpPr>
        <p:spPr>
          <a:xfrm>
            <a:off x="14243000" y="3205163"/>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Confusing medical terminology</a:t>
            </a:r>
            <a:endParaRPr b="0" i="0" sz="1875" u="none" cap="none" strike="noStrike">
              <a:solidFill>
                <a:schemeClr val="dk1"/>
              </a:solidFill>
              <a:latin typeface="Calibri"/>
              <a:ea typeface="Calibri"/>
              <a:cs typeface="Calibri"/>
              <a:sym typeface="Calibri"/>
            </a:endParaRPr>
          </a:p>
        </p:txBody>
      </p:sp>
      <p:sp>
        <p:nvSpPr>
          <p:cNvPr id="354" name="Google Shape;354;p11"/>
          <p:cNvSpPr/>
          <p:nvPr/>
        </p:nvSpPr>
        <p:spPr>
          <a:xfrm>
            <a:off x="14243000" y="4010025"/>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A frightening result without explanation</a:t>
            </a:r>
            <a:endParaRPr b="0" i="0" sz="1875" u="none" cap="none" strike="noStrike">
              <a:solidFill>
                <a:schemeClr val="dk1"/>
              </a:solidFill>
              <a:latin typeface="Calibri"/>
              <a:ea typeface="Calibri"/>
              <a:cs typeface="Calibri"/>
              <a:sym typeface="Calibri"/>
            </a:endParaRPr>
          </a:p>
        </p:txBody>
      </p:sp>
      <p:sp>
        <p:nvSpPr>
          <p:cNvPr id="355" name="Google Shape;355;p11"/>
          <p:cNvSpPr/>
          <p:nvPr/>
        </p:nvSpPr>
        <p:spPr>
          <a:xfrm>
            <a:off x="14243000" y="4814888"/>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Not knowing who to ask for help</a:t>
            </a:r>
            <a:endParaRPr b="0" i="0" sz="1875" u="none" cap="none" strike="noStrike">
              <a:solidFill>
                <a:schemeClr val="dk1"/>
              </a:solidFill>
              <a:latin typeface="Calibri"/>
              <a:ea typeface="Calibri"/>
              <a:cs typeface="Calibri"/>
              <a:sym typeface="Calibri"/>
            </a:endParaRPr>
          </a:p>
        </p:txBody>
      </p:sp>
      <p:sp>
        <p:nvSpPr>
          <p:cNvPr id="356" name="Google Shape;356;p11"/>
          <p:cNvSpPr/>
          <p:nvPr/>
        </p:nvSpPr>
        <p:spPr>
          <a:xfrm>
            <a:off x="6381750" y="7072313"/>
            <a:ext cx="11239500" cy="1071563"/>
          </a:xfrm>
          <a:prstGeom prst="roundRect">
            <a:avLst>
              <a:gd fmla="val 10667" name="adj"/>
            </a:avLst>
          </a:prstGeom>
          <a:solidFill>
            <a:srgbClr val="EAF2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11"/>
          <p:cNvSpPr/>
          <p:nvPr/>
        </p:nvSpPr>
        <p:spPr>
          <a:xfrm>
            <a:off x="6381750" y="7072313"/>
            <a:ext cx="38100" cy="1071563"/>
          </a:xfrm>
          <a:prstGeom prst="rect">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1"/>
          <p:cNvSpPr/>
          <p:nvPr/>
        </p:nvSpPr>
        <p:spPr>
          <a:xfrm>
            <a:off x="6648450" y="7262813"/>
            <a:ext cx="11081385" cy="728662"/>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B4F82"/>
              </a:buClr>
              <a:buSzPts val="1875"/>
              <a:buFont typeface="Montserrat"/>
              <a:buNone/>
            </a:pPr>
            <a:r>
              <a:rPr b="0" i="0" lang="en-US" sz="1875" u="none" cap="none" strike="noStrike">
                <a:solidFill>
                  <a:srgbClr val="1B4F82"/>
                </a:solidFill>
                <a:latin typeface="Montserrat"/>
                <a:ea typeface="Montserrat"/>
                <a:cs typeface="Montserrat"/>
                <a:sym typeface="Montserrat"/>
              </a:rPr>
              <a:t>“I may not have symptoms now, but I want to understand my screening result and what I should do next.”</a:t>
            </a:r>
            <a:endParaRPr b="0" i="0" sz="1875" u="none" cap="none" strike="noStrike">
              <a:solidFill>
                <a:schemeClr val="dk1"/>
              </a:solidFill>
              <a:latin typeface="Calibri"/>
              <a:ea typeface="Calibri"/>
              <a:cs typeface="Calibri"/>
              <a:sym typeface="Calibri"/>
            </a:endParaRPr>
          </a:p>
        </p:txBody>
      </p:sp>
      <p:sp>
        <p:nvSpPr>
          <p:cNvPr id="359" name="Google Shape;359;p11"/>
          <p:cNvSpPr/>
          <p:nvPr/>
        </p:nvSpPr>
        <p:spPr>
          <a:xfrm>
            <a:off x="6381750" y="8277225"/>
            <a:ext cx="11239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1"/>
          <p:cNvSpPr/>
          <p:nvPr/>
        </p:nvSpPr>
        <p:spPr>
          <a:xfrm>
            <a:off x="6381750" y="8515350"/>
            <a:ext cx="1616318"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SCENARIO</a:t>
            </a:r>
            <a:endParaRPr b="0" i="0" sz="1800" u="none" cap="none" strike="noStrike">
              <a:solidFill>
                <a:schemeClr val="dk1"/>
              </a:solidFill>
              <a:latin typeface="Calibri"/>
              <a:ea typeface="Calibri"/>
              <a:cs typeface="Calibri"/>
              <a:sym typeface="Calibri"/>
            </a:endParaRPr>
          </a:p>
        </p:txBody>
      </p:sp>
      <p:sp>
        <p:nvSpPr>
          <p:cNvPr id="361" name="Google Shape;361;p11"/>
          <p:cNvSpPr/>
          <p:nvPr/>
        </p:nvSpPr>
        <p:spPr>
          <a:xfrm>
            <a:off x="8079730" y="8477250"/>
            <a:ext cx="9827766" cy="1466850"/>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Helen attends a screening visit. A technician captures her fundus image and runs DUAL. She receives a simple explanation of the screening result and the recommended next step. DUAL supports screening and referral; it does not provide a diagnosis.</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12"/>
          <p:cNvSpPr/>
          <p:nvPr/>
        </p:nvSpPr>
        <p:spPr>
          <a:xfrm>
            <a:off x="0" y="0"/>
            <a:ext cx="5715000" cy="10287000"/>
          </a:xfrm>
          <a:prstGeom prst="rect">
            <a:avLst/>
          </a:prstGeom>
          <a:solidFill>
            <a:srgbClr val="EE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8" name="Google Shape;368;p12"/>
          <p:cNvPicPr preferRelativeResize="0"/>
          <p:nvPr/>
        </p:nvPicPr>
        <p:blipFill rotWithShape="1">
          <a:blip r:embed="rId3">
            <a:alphaModFix/>
          </a:blip>
          <a:srcRect b="0" l="20717" r="20717" t="0"/>
          <a:stretch/>
        </p:blipFill>
        <p:spPr>
          <a:xfrm>
            <a:off x="0" y="0"/>
            <a:ext cx="5715000" cy="10287000"/>
          </a:xfrm>
          <a:prstGeom prst="rect">
            <a:avLst/>
          </a:prstGeom>
          <a:noFill/>
          <a:ln>
            <a:noFill/>
          </a:ln>
        </p:spPr>
      </p:pic>
      <p:sp>
        <p:nvSpPr>
          <p:cNvPr id="369" name="Google Shape;369;p12"/>
          <p:cNvSpPr/>
          <p:nvPr/>
        </p:nvSpPr>
        <p:spPr>
          <a:xfrm>
            <a:off x="0" y="7491115"/>
            <a:ext cx="5715000" cy="2795885"/>
          </a:xfrm>
          <a:prstGeom prst="rect">
            <a:avLst/>
          </a:prstGeom>
          <a:gradFill>
            <a:gsLst>
              <a:gs pos="0">
                <a:srgbClr val="111111">
                  <a:alpha val="94902"/>
                </a:srgbClr>
              </a:gs>
              <a:gs pos="35000">
                <a:srgbClr val="111111">
                  <a:alpha val="90196"/>
                </a:srgbClr>
              </a:gs>
              <a:gs pos="70000">
                <a:srgbClr val="111111">
                  <a:alpha val="54902"/>
                </a:srgbClr>
              </a:gs>
              <a:gs pos="100000">
                <a:srgbClr val="111111">
                  <a:alpha val="0"/>
                </a:srgbClr>
              </a:gs>
            </a:gsLst>
            <a:lin ang="162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2"/>
          <p:cNvSpPr/>
          <p:nvPr/>
        </p:nvSpPr>
        <p:spPr>
          <a:xfrm>
            <a:off x="419100" y="7948315"/>
            <a:ext cx="5023104" cy="1233785"/>
          </a:xfrm>
          <a:prstGeom prst="rect">
            <a:avLst/>
          </a:prstGeom>
          <a:noFill/>
          <a:ln>
            <a:noFill/>
          </a:ln>
        </p:spPr>
        <p:txBody>
          <a:bodyPr anchorCtr="0" anchor="t" bIns="25400" lIns="25400" spcFirstLastPara="1" rIns="25400" wrap="square" tIns="25400">
            <a:noAutofit/>
          </a:bodyPr>
          <a:lstStyle/>
          <a:p>
            <a:pPr indent="0" lvl="0" marL="0" marR="0" rtl="0" algn="l">
              <a:lnSpc>
                <a:spcPct val="110132"/>
              </a:lnSpc>
              <a:spcBef>
                <a:spcPts val="0"/>
              </a:spcBef>
              <a:spcAft>
                <a:spcPts val="0"/>
              </a:spcAft>
              <a:buClr>
                <a:srgbClr val="FFFFFF"/>
              </a:buClr>
              <a:buSzPts val="2325"/>
              <a:buFont typeface="Montserrat"/>
              <a:buNone/>
            </a:pPr>
            <a:r>
              <a:rPr b="1" i="0" lang="en-US" sz="2325" u="none" cap="none" strike="noStrike">
                <a:solidFill>
                  <a:srgbClr val="FFFFFF"/>
                </a:solidFill>
                <a:latin typeface="Montserrat"/>
                <a:ea typeface="Montserrat"/>
                <a:cs typeface="Montserrat"/>
                <a:sym typeface="Montserrat"/>
              </a:rPr>
              <a:t>“I want to help more people get screened, quickly and accurately.”</a:t>
            </a:r>
            <a:endParaRPr b="0" i="0" sz="2325" u="none" cap="none" strike="noStrike">
              <a:solidFill>
                <a:schemeClr val="dk1"/>
              </a:solidFill>
              <a:latin typeface="Calibri"/>
              <a:ea typeface="Calibri"/>
              <a:cs typeface="Calibri"/>
              <a:sym typeface="Calibri"/>
            </a:endParaRPr>
          </a:p>
        </p:txBody>
      </p:sp>
      <p:sp>
        <p:nvSpPr>
          <p:cNvPr id="371" name="Google Shape;371;p12"/>
          <p:cNvSpPr/>
          <p:nvPr/>
        </p:nvSpPr>
        <p:spPr>
          <a:xfrm>
            <a:off x="419100" y="9277350"/>
            <a:ext cx="5023104" cy="590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02 | SCREENING TECHNICIAN PERSONA</a:t>
            </a:r>
            <a:endParaRPr b="0" i="0" sz="1800" u="none" cap="none" strike="noStrike">
              <a:solidFill>
                <a:schemeClr val="dk1"/>
              </a:solidFill>
              <a:latin typeface="Calibri"/>
              <a:ea typeface="Calibri"/>
              <a:cs typeface="Calibri"/>
              <a:sym typeface="Calibri"/>
            </a:endParaRPr>
          </a:p>
        </p:txBody>
      </p:sp>
      <p:sp>
        <p:nvSpPr>
          <p:cNvPr id="372" name="Google Shape;372;p12"/>
          <p:cNvSpPr/>
          <p:nvPr/>
        </p:nvSpPr>
        <p:spPr>
          <a:xfrm>
            <a:off x="6381750" y="1952625"/>
            <a:ext cx="11239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12"/>
          <p:cNvSpPr/>
          <p:nvPr/>
        </p:nvSpPr>
        <p:spPr>
          <a:xfrm>
            <a:off x="6381750" y="381000"/>
            <a:ext cx="9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05 · PERSONAS</a:t>
            </a:r>
            <a:endParaRPr b="0" i="0" sz="1800" u="none" cap="none" strike="noStrike">
              <a:solidFill>
                <a:schemeClr val="dk1"/>
              </a:solidFill>
              <a:latin typeface="Calibri"/>
              <a:ea typeface="Calibri"/>
              <a:cs typeface="Calibri"/>
              <a:sym typeface="Calibri"/>
            </a:endParaRPr>
          </a:p>
        </p:txBody>
      </p:sp>
      <p:sp>
        <p:nvSpPr>
          <p:cNvPr id="374" name="Google Shape;374;p12"/>
          <p:cNvSpPr/>
          <p:nvPr/>
        </p:nvSpPr>
        <p:spPr>
          <a:xfrm>
            <a:off x="6381750" y="752475"/>
            <a:ext cx="3876266" cy="6191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3750"/>
              <a:buFont typeface="Montserrat"/>
              <a:buNone/>
            </a:pPr>
            <a:r>
              <a:rPr b="1" i="0" lang="en-US" sz="3750" u="none" cap="none" strike="noStrike">
                <a:solidFill>
                  <a:srgbClr val="111111"/>
                </a:solidFill>
                <a:latin typeface="Montserrat"/>
                <a:ea typeface="Montserrat"/>
                <a:cs typeface="Montserrat"/>
                <a:sym typeface="Montserrat"/>
              </a:rPr>
              <a:t>Arun Desai, 26</a:t>
            </a:r>
            <a:endParaRPr b="0" i="0" sz="3750" u="none" cap="none" strike="noStrike">
              <a:solidFill>
                <a:schemeClr val="dk1"/>
              </a:solidFill>
              <a:latin typeface="Calibri"/>
              <a:ea typeface="Calibri"/>
              <a:cs typeface="Calibri"/>
              <a:sym typeface="Calibri"/>
            </a:endParaRPr>
          </a:p>
        </p:txBody>
      </p:sp>
      <p:sp>
        <p:nvSpPr>
          <p:cNvPr id="375" name="Google Shape;375;p12"/>
          <p:cNvSpPr/>
          <p:nvPr/>
        </p:nvSpPr>
        <p:spPr>
          <a:xfrm>
            <a:off x="6381750" y="1428750"/>
            <a:ext cx="3876266" cy="3524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2025"/>
              <a:buFont typeface="Montserrat"/>
              <a:buNone/>
            </a:pPr>
            <a:r>
              <a:rPr b="0" i="0" lang="en-US" sz="2025" u="none" cap="none" strike="noStrike">
                <a:solidFill>
                  <a:srgbClr val="3D3D3D"/>
                </a:solidFill>
                <a:latin typeface="Montserrat"/>
                <a:ea typeface="Montserrat"/>
                <a:cs typeface="Montserrat"/>
                <a:sym typeface="Montserrat"/>
              </a:rPr>
              <a:t>Screening Technician</a:t>
            </a:r>
            <a:endParaRPr b="0" i="0" sz="2025" u="none" cap="none" strike="noStrike">
              <a:solidFill>
                <a:schemeClr val="dk1"/>
              </a:solidFill>
              <a:latin typeface="Calibri"/>
              <a:ea typeface="Calibri"/>
              <a:cs typeface="Calibri"/>
              <a:sym typeface="Calibri"/>
            </a:endParaRPr>
          </a:p>
        </p:txBody>
      </p:sp>
      <p:pic>
        <p:nvPicPr>
          <p:cNvPr descr="preencoded.png" id="376" name="Google Shape;376;p12"/>
          <p:cNvPicPr preferRelativeResize="0"/>
          <p:nvPr/>
        </p:nvPicPr>
        <p:blipFill rotWithShape="1">
          <a:blip r:embed="rId4">
            <a:alphaModFix/>
          </a:blip>
          <a:srcRect b="-3807" l="0" r="0" t="-3807"/>
          <a:stretch/>
        </p:blipFill>
        <p:spPr>
          <a:xfrm>
            <a:off x="17087850" y="381000"/>
            <a:ext cx="533400" cy="533400"/>
          </a:xfrm>
          <a:prstGeom prst="rect">
            <a:avLst/>
          </a:prstGeom>
          <a:noFill/>
          <a:ln>
            <a:noFill/>
          </a:ln>
        </p:spPr>
      </p:pic>
      <p:sp>
        <p:nvSpPr>
          <p:cNvPr id="377" name="Google Shape;377;p12"/>
          <p:cNvSpPr/>
          <p:nvPr/>
        </p:nvSpPr>
        <p:spPr>
          <a:xfrm>
            <a:off x="6381750" y="2095500"/>
            <a:ext cx="3866125" cy="752475"/>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Works at rural and community health camps</a:t>
            </a:r>
            <a:endParaRPr b="0" i="0" sz="1875" u="none" cap="none" strike="noStrike">
              <a:solidFill>
                <a:schemeClr val="dk1"/>
              </a:solidFill>
              <a:latin typeface="Calibri"/>
              <a:ea typeface="Calibri"/>
              <a:cs typeface="Calibri"/>
              <a:sym typeface="Calibri"/>
            </a:endParaRPr>
          </a:p>
        </p:txBody>
      </p:sp>
      <p:sp>
        <p:nvSpPr>
          <p:cNvPr id="378" name="Google Shape;378;p12"/>
          <p:cNvSpPr/>
          <p:nvPr/>
        </p:nvSpPr>
        <p:spPr>
          <a:xfrm>
            <a:off x="10382920" y="2095500"/>
            <a:ext cx="9525" cy="71437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2"/>
          <p:cNvSpPr/>
          <p:nvPr/>
        </p:nvSpPr>
        <p:spPr>
          <a:xfrm>
            <a:off x="10637267" y="2095500"/>
            <a:ext cx="3301931" cy="752475"/>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Uses a portable retinal/fundus camera</a:t>
            </a:r>
            <a:endParaRPr b="0" i="0" sz="1875" u="none" cap="none" strike="noStrike">
              <a:solidFill>
                <a:schemeClr val="dk1"/>
              </a:solidFill>
              <a:latin typeface="Calibri"/>
              <a:ea typeface="Calibri"/>
              <a:cs typeface="Calibri"/>
              <a:sym typeface="Calibri"/>
            </a:endParaRPr>
          </a:p>
        </p:txBody>
      </p:sp>
      <p:sp>
        <p:nvSpPr>
          <p:cNvPr id="380" name="Google Shape;380;p12"/>
          <p:cNvSpPr/>
          <p:nvPr/>
        </p:nvSpPr>
        <p:spPr>
          <a:xfrm>
            <a:off x="14090675" y="2095500"/>
            <a:ext cx="9525" cy="71437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12"/>
          <p:cNvSpPr/>
          <p:nvPr/>
        </p:nvSpPr>
        <p:spPr>
          <a:xfrm>
            <a:off x="14345022" y="2095500"/>
            <a:ext cx="3374515" cy="752475"/>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Focused on efficient, reliable screening</a:t>
            </a:r>
            <a:endParaRPr b="0" i="0" sz="1875" u="none" cap="none" strike="noStrike">
              <a:solidFill>
                <a:schemeClr val="dk1"/>
              </a:solidFill>
              <a:latin typeface="Calibri"/>
              <a:ea typeface="Calibri"/>
              <a:cs typeface="Calibri"/>
              <a:sym typeface="Calibri"/>
            </a:endParaRPr>
          </a:p>
        </p:txBody>
      </p:sp>
      <p:sp>
        <p:nvSpPr>
          <p:cNvPr id="382" name="Google Shape;382;p12"/>
          <p:cNvSpPr/>
          <p:nvPr/>
        </p:nvSpPr>
        <p:spPr>
          <a:xfrm>
            <a:off x="6381750" y="2943225"/>
            <a:ext cx="3606775" cy="2802731"/>
          </a:xfrm>
          <a:prstGeom prst="roundRect">
            <a:avLst>
              <a:gd fmla="val 5438"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12"/>
          <p:cNvSpPr/>
          <p:nvPr/>
        </p:nvSpPr>
        <p:spPr>
          <a:xfrm>
            <a:off x="6610350" y="3171825"/>
            <a:ext cx="3464533"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GOALS</a:t>
            </a:r>
            <a:endParaRPr b="0" i="0" sz="1800" u="none" cap="none" strike="noStrike">
              <a:solidFill>
                <a:schemeClr val="dk1"/>
              </a:solidFill>
              <a:latin typeface="Calibri"/>
              <a:ea typeface="Calibri"/>
              <a:cs typeface="Calibri"/>
              <a:sym typeface="Calibri"/>
            </a:endParaRPr>
          </a:p>
        </p:txBody>
      </p:sp>
      <p:sp>
        <p:nvSpPr>
          <p:cNvPr id="384" name="Google Shape;384;p12"/>
          <p:cNvSpPr/>
          <p:nvPr/>
        </p:nvSpPr>
        <p:spPr>
          <a:xfrm>
            <a:off x="6610350" y="3562350"/>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Capture high-quality images quickly</a:t>
            </a:r>
            <a:endParaRPr b="0" i="0" sz="1875" u="none" cap="none" strike="noStrike">
              <a:solidFill>
                <a:schemeClr val="dk1"/>
              </a:solidFill>
              <a:latin typeface="Calibri"/>
              <a:ea typeface="Calibri"/>
              <a:cs typeface="Calibri"/>
              <a:sym typeface="Calibri"/>
            </a:endParaRPr>
          </a:p>
        </p:txBody>
      </p:sp>
      <p:sp>
        <p:nvSpPr>
          <p:cNvPr id="385" name="Google Shape;385;p12"/>
          <p:cNvSpPr/>
          <p:nvPr/>
        </p:nvSpPr>
        <p:spPr>
          <a:xfrm>
            <a:off x="6610350" y="4367213"/>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Get easy-to-understand screening results</a:t>
            </a:r>
            <a:endParaRPr b="0" i="0" sz="1875" u="none" cap="none" strike="noStrike">
              <a:solidFill>
                <a:schemeClr val="dk1"/>
              </a:solidFill>
              <a:latin typeface="Calibri"/>
              <a:ea typeface="Calibri"/>
              <a:cs typeface="Calibri"/>
              <a:sym typeface="Calibri"/>
            </a:endParaRPr>
          </a:p>
        </p:txBody>
      </p:sp>
      <p:sp>
        <p:nvSpPr>
          <p:cNvPr id="386" name="Google Shape;386;p12"/>
          <p:cNvSpPr/>
          <p:nvPr/>
        </p:nvSpPr>
        <p:spPr>
          <a:xfrm>
            <a:off x="6610350" y="5172075"/>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Screen patients efficiently</a:t>
            </a:r>
            <a:endParaRPr b="0" i="0" sz="1875" u="none" cap="none" strike="noStrike">
              <a:solidFill>
                <a:schemeClr val="dk1"/>
              </a:solidFill>
              <a:latin typeface="Calibri"/>
              <a:ea typeface="Calibri"/>
              <a:cs typeface="Calibri"/>
              <a:sym typeface="Calibri"/>
            </a:endParaRPr>
          </a:p>
        </p:txBody>
      </p:sp>
      <p:sp>
        <p:nvSpPr>
          <p:cNvPr id="387" name="Google Shape;387;p12"/>
          <p:cNvSpPr/>
          <p:nvPr/>
        </p:nvSpPr>
        <p:spPr>
          <a:xfrm>
            <a:off x="10198075" y="2943225"/>
            <a:ext cx="3606775" cy="2802731"/>
          </a:xfrm>
          <a:prstGeom prst="roundRect">
            <a:avLst>
              <a:gd fmla="val 5438"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2"/>
          <p:cNvSpPr/>
          <p:nvPr/>
        </p:nvSpPr>
        <p:spPr>
          <a:xfrm>
            <a:off x="10426675" y="3171825"/>
            <a:ext cx="3464533"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NEEDS</a:t>
            </a:r>
            <a:endParaRPr b="0" i="0" sz="1800" u="none" cap="none" strike="noStrike">
              <a:solidFill>
                <a:schemeClr val="dk1"/>
              </a:solidFill>
              <a:latin typeface="Calibri"/>
              <a:ea typeface="Calibri"/>
              <a:cs typeface="Calibri"/>
              <a:sym typeface="Calibri"/>
            </a:endParaRPr>
          </a:p>
        </p:txBody>
      </p:sp>
      <p:sp>
        <p:nvSpPr>
          <p:cNvPr id="389" name="Google Shape;389;p12"/>
          <p:cNvSpPr/>
          <p:nvPr/>
        </p:nvSpPr>
        <p:spPr>
          <a:xfrm>
            <a:off x="10426675" y="3562350"/>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Immediate image-quality feedback</a:t>
            </a:r>
            <a:endParaRPr b="0" i="0" sz="1875" u="none" cap="none" strike="noStrike">
              <a:solidFill>
                <a:schemeClr val="dk1"/>
              </a:solidFill>
              <a:latin typeface="Calibri"/>
              <a:ea typeface="Calibri"/>
              <a:cs typeface="Calibri"/>
              <a:sym typeface="Calibri"/>
            </a:endParaRPr>
          </a:p>
        </p:txBody>
      </p:sp>
      <p:sp>
        <p:nvSpPr>
          <p:cNvPr id="390" name="Google Shape;390;p12"/>
          <p:cNvSpPr/>
          <p:nvPr/>
        </p:nvSpPr>
        <p:spPr>
          <a:xfrm>
            <a:off x="10426675" y="4367213"/>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Simple, step-by-step workflow</a:t>
            </a:r>
            <a:endParaRPr b="0" i="0" sz="1875" u="none" cap="none" strike="noStrike">
              <a:solidFill>
                <a:schemeClr val="dk1"/>
              </a:solidFill>
              <a:latin typeface="Calibri"/>
              <a:ea typeface="Calibri"/>
              <a:cs typeface="Calibri"/>
              <a:sym typeface="Calibri"/>
            </a:endParaRPr>
          </a:p>
        </p:txBody>
      </p:sp>
      <p:sp>
        <p:nvSpPr>
          <p:cNvPr id="391" name="Google Shape;391;p12"/>
          <p:cNvSpPr/>
          <p:nvPr/>
        </p:nvSpPr>
        <p:spPr>
          <a:xfrm>
            <a:off x="10426675" y="5172075"/>
            <a:ext cx="3464533"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Clear next-step guidance</a:t>
            </a:r>
            <a:endParaRPr b="0" i="0" sz="1875" u="none" cap="none" strike="noStrike">
              <a:solidFill>
                <a:schemeClr val="dk1"/>
              </a:solidFill>
              <a:latin typeface="Calibri"/>
              <a:ea typeface="Calibri"/>
              <a:cs typeface="Calibri"/>
              <a:sym typeface="Calibri"/>
            </a:endParaRPr>
          </a:p>
        </p:txBody>
      </p:sp>
      <p:sp>
        <p:nvSpPr>
          <p:cNvPr id="392" name="Google Shape;392;p12"/>
          <p:cNvSpPr/>
          <p:nvPr/>
        </p:nvSpPr>
        <p:spPr>
          <a:xfrm>
            <a:off x="14014400" y="2943225"/>
            <a:ext cx="3606775" cy="3148013"/>
          </a:xfrm>
          <a:prstGeom prst="roundRect">
            <a:avLst>
              <a:gd fmla="val 4841" name="adj"/>
            </a:avLst>
          </a:prstGeom>
          <a:solidFill>
            <a:srgbClr val="FDF4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2"/>
          <p:cNvSpPr/>
          <p:nvPr/>
        </p:nvSpPr>
        <p:spPr>
          <a:xfrm>
            <a:off x="14243000" y="3171825"/>
            <a:ext cx="3464533"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9D4531"/>
              </a:buClr>
              <a:buSzPts val="1800"/>
              <a:buFont typeface="Montserrat"/>
              <a:buNone/>
            </a:pPr>
            <a:r>
              <a:rPr b="1" i="0" lang="en-US" sz="1800" u="none" cap="none" strike="noStrike">
                <a:solidFill>
                  <a:srgbClr val="9D4531"/>
                </a:solidFill>
                <a:latin typeface="Montserrat"/>
                <a:ea typeface="Montserrat"/>
                <a:cs typeface="Montserrat"/>
                <a:sym typeface="Montserrat"/>
              </a:rPr>
              <a:t>CONCERNS</a:t>
            </a:r>
            <a:endParaRPr b="0" i="0" sz="1800" u="none" cap="none" strike="noStrike">
              <a:solidFill>
                <a:schemeClr val="dk1"/>
              </a:solidFill>
              <a:latin typeface="Calibri"/>
              <a:ea typeface="Calibri"/>
              <a:cs typeface="Calibri"/>
              <a:sym typeface="Calibri"/>
            </a:endParaRPr>
          </a:p>
        </p:txBody>
      </p:sp>
      <p:sp>
        <p:nvSpPr>
          <p:cNvPr id="394" name="Google Shape;394;p12"/>
          <p:cNvSpPr/>
          <p:nvPr/>
        </p:nvSpPr>
        <p:spPr>
          <a:xfrm>
            <a:off x="14243000" y="3562350"/>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Poor-quality or ungradable images</a:t>
            </a:r>
            <a:endParaRPr b="0" i="0" sz="1875" u="none" cap="none" strike="noStrike">
              <a:solidFill>
                <a:schemeClr val="dk1"/>
              </a:solidFill>
              <a:latin typeface="Calibri"/>
              <a:ea typeface="Calibri"/>
              <a:cs typeface="Calibri"/>
              <a:sym typeface="Calibri"/>
            </a:endParaRPr>
          </a:p>
        </p:txBody>
      </p:sp>
      <p:sp>
        <p:nvSpPr>
          <p:cNvPr id="395" name="Google Shape;395;p12"/>
          <p:cNvSpPr/>
          <p:nvPr/>
        </p:nvSpPr>
        <p:spPr>
          <a:xfrm>
            <a:off x="14243000" y="4367213"/>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Patients leaving before results are ready</a:t>
            </a:r>
            <a:endParaRPr b="0" i="0" sz="1875" u="none" cap="none" strike="noStrike">
              <a:solidFill>
                <a:schemeClr val="dk1"/>
              </a:solidFill>
              <a:latin typeface="Calibri"/>
              <a:ea typeface="Calibri"/>
              <a:cs typeface="Calibri"/>
              <a:sym typeface="Calibri"/>
            </a:endParaRPr>
          </a:p>
        </p:txBody>
      </p:sp>
      <p:sp>
        <p:nvSpPr>
          <p:cNvPr id="396" name="Google Shape;396;p12"/>
          <p:cNvSpPr/>
          <p:nvPr/>
        </p:nvSpPr>
        <p:spPr>
          <a:xfrm>
            <a:off x="14243000" y="5172075"/>
            <a:ext cx="3244062"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Misinterpreting screening results</a:t>
            </a:r>
            <a:endParaRPr b="0" i="0" sz="1875" u="none" cap="none" strike="noStrike">
              <a:solidFill>
                <a:schemeClr val="dk1"/>
              </a:solidFill>
              <a:latin typeface="Calibri"/>
              <a:ea typeface="Calibri"/>
              <a:cs typeface="Calibri"/>
              <a:sym typeface="Calibri"/>
            </a:endParaRPr>
          </a:p>
        </p:txBody>
      </p:sp>
      <p:sp>
        <p:nvSpPr>
          <p:cNvPr id="397" name="Google Shape;397;p12"/>
          <p:cNvSpPr/>
          <p:nvPr/>
        </p:nvSpPr>
        <p:spPr>
          <a:xfrm>
            <a:off x="6381750" y="7417594"/>
            <a:ext cx="11239500" cy="726281"/>
          </a:xfrm>
          <a:prstGeom prst="roundRect">
            <a:avLst>
              <a:gd fmla="val 15738" name="adj"/>
            </a:avLst>
          </a:prstGeom>
          <a:solidFill>
            <a:srgbClr val="EAF2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12"/>
          <p:cNvSpPr/>
          <p:nvPr/>
        </p:nvSpPr>
        <p:spPr>
          <a:xfrm>
            <a:off x="6381750" y="7417594"/>
            <a:ext cx="38100" cy="726281"/>
          </a:xfrm>
          <a:prstGeom prst="rect">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12"/>
          <p:cNvSpPr/>
          <p:nvPr/>
        </p:nvSpPr>
        <p:spPr>
          <a:xfrm>
            <a:off x="6648450" y="7608094"/>
            <a:ext cx="11081385" cy="383381"/>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B4F82"/>
              </a:buClr>
              <a:buSzPts val="1875"/>
              <a:buFont typeface="Montserrat"/>
              <a:buNone/>
            </a:pPr>
            <a:r>
              <a:rPr b="0" i="0" lang="en-US" sz="1875" u="none" cap="none" strike="noStrike">
                <a:solidFill>
                  <a:srgbClr val="1B4F82"/>
                </a:solidFill>
                <a:latin typeface="Montserrat"/>
                <a:ea typeface="Montserrat"/>
                <a:cs typeface="Montserrat"/>
                <a:sym typeface="Montserrat"/>
              </a:rPr>
              <a:t>“I need clear feedback right away so I can move to the next patient without delays.”</a:t>
            </a:r>
            <a:endParaRPr b="0" i="0" sz="1875" u="none" cap="none" strike="noStrike">
              <a:solidFill>
                <a:schemeClr val="dk1"/>
              </a:solidFill>
              <a:latin typeface="Calibri"/>
              <a:ea typeface="Calibri"/>
              <a:cs typeface="Calibri"/>
              <a:sym typeface="Calibri"/>
            </a:endParaRPr>
          </a:p>
        </p:txBody>
      </p:sp>
      <p:sp>
        <p:nvSpPr>
          <p:cNvPr id="400" name="Google Shape;400;p12"/>
          <p:cNvSpPr/>
          <p:nvPr/>
        </p:nvSpPr>
        <p:spPr>
          <a:xfrm>
            <a:off x="6381750" y="8277225"/>
            <a:ext cx="11239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2"/>
          <p:cNvSpPr/>
          <p:nvPr/>
        </p:nvSpPr>
        <p:spPr>
          <a:xfrm>
            <a:off x="6381750" y="8515350"/>
            <a:ext cx="1616318"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SCENARIO</a:t>
            </a:r>
            <a:endParaRPr b="0" i="0" sz="1800" u="none" cap="none" strike="noStrike">
              <a:solidFill>
                <a:schemeClr val="dk1"/>
              </a:solidFill>
              <a:latin typeface="Calibri"/>
              <a:ea typeface="Calibri"/>
              <a:cs typeface="Calibri"/>
              <a:sym typeface="Calibri"/>
            </a:endParaRPr>
          </a:p>
        </p:txBody>
      </p:sp>
      <p:sp>
        <p:nvSpPr>
          <p:cNvPr id="402" name="Google Shape;402;p12"/>
          <p:cNvSpPr/>
          <p:nvPr/>
        </p:nvSpPr>
        <p:spPr>
          <a:xfrm>
            <a:off x="8079730" y="8477250"/>
            <a:ext cx="9827766" cy="1466850"/>
          </a:xfrm>
          <a:prstGeom prst="rect">
            <a:avLst/>
          </a:prstGeom>
          <a:noFill/>
          <a:ln>
            <a:noFill/>
          </a:ln>
        </p:spPr>
        <p:txBody>
          <a:bodyPr anchorCtr="0" anchor="t" bIns="25400" lIns="25400" spcFirstLastPara="1" rIns="25400" wrap="square" tIns="25400">
            <a:noAutofit/>
          </a:bodyPr>
          <a:lstStyle/>
          <a:p>
            <a:pPr indent="0" lvl="0" marL="0" marR="0" rtl="0" algn="l">
              <a:lnSpc>
                <a:spcPct val="122951"/>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Arun captures a patient’s fundus image at a screening camp and uploads it to the DUAL. The system checks image quality and screens for cataract and glaucoma. Arun receives a clear screening result and recommended next step and can generate a report for clinical review when needed.</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7" name="Shape 407"/>
        <p:cNvGrpSpPr/>
        <p:nvPr/>
      </p:nvGrpSpPr>
      <p:grpSpPr>
        <a:xfrm>
          <a:off x="0" y="0"/>
          <a:ext cx="0" cy="0"/>
          <a:chOff x="0" y="0"/>
          <a:chExt cx="0" cy="0"/>
        </a:xfrm>
      </p:grpSpPr>
      <p:sp>
        <p:nvSpPr>
          <p:cNvPr id="408" name="Google Shape;408;p13"/>
          <p:cNvSpPr/>
          <p:nvPr/>
        </p:nvSpPr>
        <p:spPr>
          <a:xfrm>
            <a:off x="0" y="0"/>
            <a:ext cx="5715000" cy="10287000"/>
          </a:xfrm>
          <a:prstGeom prst="rect">
            <a:avLst/>
          </a:prstGeom>
          <a:solidFill>
            <a:srgbClr val="EEF3F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9" name="Google Shape;409;p13"/>
          <p:cNvPicPr preferRelativeResize="0"/>
          <p:nvPr/>
        </p:nvPicPr>
        <p:blipFill rotWithShape="1">
          <a:blip r:embed="rId3">
            <a:alphaModFix/>
          </a:blip>
          <a:srcRect b="0" l="20884" r="20884" t="0"/>
          <a:stretch/>
        </p:blipFill>
        <p:spPr>
          <a:xfrm>
            <a:off x="0" y="0"/>
            <a:ext cx="5715000" cy="10287000"/>
          </a:xfrm>
          <a:prstGeom prst="rect">
            <a:avLst/>
          </a:prstGeom>
          <a:noFill/>
          <a:ln>
            <a:noFill/>
          </a:ln>
        </p:spPr>
      </p:pic>
      <p:sp>
        <p:nvSpPr>
          <p:cNvPr id="410" name="Google Shape;410;p13"/>
          <p:cNvSpPr/>
          <p:nvPr/>
        </p:nvSpPr>
        <p:spPr>
          <a:xfrm>
            <a:off x="0" y="7951515"/>
            <a:ext cx="5715000" cy="2335485"/>
          </a:xfrm>
          <a:prstGeom prst="rect">
            <a:avLst/>
          </a:prstGeom>
          <a:gradFill>
            <a:gsLst>
              <a:gs pos="0">
                <a:srgbClr val="111111">
                  <a:alpha val="94902"/>
                </a:srgbClr>
              </a:gs>
              <a:gs pos="35000">
                <a:srgbClr val="111111">
                  <a:alpha val="90196"/>
                </a:srgbClr>
              </a:gs>
              <a:gs pos="70000">
                <a:srgbClr val="111111">
                  <a:alpha val="54902"/>
                </a:srgbClr>
              </a:gs>
              <a:gs pos="100000">
                <a:srgbClr val="111111">
                  <a:alpha val="0"/>
                </a:srgbClr>
              </a:gs>
            </a:gsLst>
            <a:lin ang="162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3"/>
          <p:cNvSpPr/>
          <p:nvPr/>
        </p:nvSpPr>
        <p:spPr>
          <a:xfrm>
            <a:off x="342900" y="8275365"/>
            <a:ext cx="5180076" cy="1078185"/>
          </a:xfrm>
          <a:prstGeom prst="rect">
            <a:avLst/>
          </a:prstGeom>
          <a:noFill/>
          <a:ln>
            <a:noFill/>
          </a:ln>
        </p:spPr>
        <p:txBody>
          <a:bodyPr anchorCtr="0" anchor="t" bIns="25400" lIns="25400" spcFirstLastPara="1" rIns="25400" wrap="square" tIns="25400">
            <a:noAutofit/>
          </a:bodyPr>
          <a:lstStyle/>
          <a:p>
            <a:pPr indent="0" lvl="0" marL="0" marR="0" rtl="0" algn="l">
              <a:lnSpc>
                <a:spcPct val="107059"/>
              </a:lnSpc>
              <a:spcBef>
                <a:spcPts val="0"/>
              </a:spcBef>
              <a:spcAft>
                <a:spcPts val="0"/>
              </a:spcAft>
              <a:buClr>
                <a:srgbClr val="FFFFFF"/>
              </a:buClr>
              <a:buSzPts val="2100"/>
              <a:buFont typeface="Montserrat"/>
              <a:buNone/>
            </a:pPr>
            <a:r>
              <a:rPr b="1" i="0" lang="en-US" sz="2100" u="none" cap="none" strike="noStrike">
                <a:solidFill>
                  <a:srgbClr val="FFFFFF"/>
                </a:solidFill>
                <a:latin typeface="Montserrat"/>
                <a:ea typeface="Montserrat"/>
                <a:cs typeface="Montserrat"/>
                <a:sym typeface="Montserrat"/>
              </a:rPr>
              <a:t>“I want a quick, reliable way to know which patients may need specialist review.”</a:t>
            </a:r>
            <a:endParaRPr b="0" i="0" sz="2100" u="none" cap="none" strike="noStrike">
              <a:solidFill>
                <a:schemeClr val="dk1"/>
              </a:solidFill>
              <a:latin typeface="Calibri"/>
              <a:ea typeface="Calibri"/>
              <a:cs typeface="Calibri"/>
              <a:sym typeface="Calibri"/>
            </a:endParaRPr>
          </a:p>
        </p:txBody>
      </p:sp>
      <p:sp>
        <p:nvSpPr>
          <p:cNvPr id="412" name="Google Shape;412;p13"/>
          <p:cNvSpPr/>
          <p:nvPr/>
        </p:nvSpPr>
        <p:spPr>
          <a:xfrm>
            <a:off x="342900" y="9410700"/>
            <a:ext cx="5180076" cy="590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03 | PRIMARY CARE PHYSICIAN PERSONA</a:t>
            </a:r>
            <a:endParaRPr b="0" i="0" sz="1800" u="none" cap="none" strike="noStrike">
              <a:solidFill>
                <a:schemeClr val="dk1"/>
              </a:solidFill>
              <a:latin typeface="Calibri"/>
              <a:ea typeface="Calibri"/>
              <a:cs typeface="Calibri"/>
              <a:sym typeface="Calibri"/>
            </a:endParaRPr>
          </a:p>
        </p:txBody>
      </p:sp>
      <p:sp>
        <p:nvSpPr>
          <p:cNvPr id="413" name="Google Shape;413;p13"/>
          <p:cNvSpPr/>
          <p:nvPr/>
        </p:nvSpPr>
        <p:spPr>
          <a:xfrm>
            <a:off x="6324600" y="1885950"/>
            <a:ext cx="113538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3"/>
          <p:cNvSpPr/>
          <p:nvPr/>
        </p:nvSpPr>
        <p:spPr>
          <a:xfrm>
            <a:off x="6324600" y="361950"/>
            <a:ext cx="9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05 · PERSONAS</a:t>
            </a:r>
            <a:endParaRPr b="0" i="0" sz="1800" u="none" cap="none" strike="noStrike">
              <a:solidFill>
                <a:schemeClr val="dk1"/>
              </a:solidFill>
              <a:latin typeface="Calibri"/>
              <a:ea typeface="Calibri"/>
              <a:cs typeface="Calibri"/>
              <a:sym typeface="Calibri"/>
            </a:endParaRPr>
          </a:p>
        </p:txBody>
      </p:sp>
      <p:sp>
        <p:nvSpPr>
          <p:cNvPr id="415" name="Google Shape;415;p13"/>
          <p:cNvSpPr/>
          <p:nvPr/>
        </p:nvSpPr>
        <p:spPr>
          <a:xfrm>
            <a:off x="6324600" y="733425"/>
            <a:ext cx="3983742" cy="571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3450"/>
              <a:buFont typeface="Montserrat"/>
              <a:buNone/>
            </a:pPr>
            <a:r>
              <a:rPr b="1" i="0" lang="en-US" sz="3450" u="none" cap="none" strike="noStrike">
                <a:solidFill>
                  <a:srgbClr val="111111"/>
                </a:solidFill>
                <a:latin typeface="Montserrat"/>
                <a:ea typeface="Montserrat"/>
                <a:cs typeface="Montserrat"/>
                <a:sym typeface="Montserrat"/>
              </a:rPr>
              <a:t>Dr. Maya Rao, 41</a:t>
            </a:r>
            <a:endParaRPr b="0" i="0" sz="3450" u="none" cap="none" strike="noStrike">
              <a:solidFill>
                <a:schemeClr val="dk1"/>
              </a:solidFill>
              <a:latin typeface="Calibri"/>
              <a:ea typeface="Calibri"/>
              <a:cs typeface="Calibri"/>
              <a:sym typeface="Calibri"/>
            </a:endParaRPr>
          </a:p>
        </p:txBody>
      </p:sp>
      <p:sp>
        <p:nvSpPr>
          <p:cNvPr id="416" name="Google Shape;416;p13"/>
          <p:cNvSpPr/>
          <p:nvPr/>
        </p:nvSpPr>
        <p:spPr>
          <a:xfrm>
            <a:off x="6324600" y="1362075"/>
            <a:ext cx="3983742" cy="3524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2025"/>
              <a:buFont typeface="Montserrat"/>
              <a:buNone/>
            </a:pPr>
            <a:r>
              <a:rPr b="0" i="0" lang="en-US" sz="2025" u="none" cap="none" strike="noStrike">
                <a:solidFill>
                  <a:srgbClr val="3D3D3D"/>
                </a:solidFill>
                <a:latin typeface="Montserrat"/>
                <a:ea typeface="Montserrat"/>
                <a:cs typeface="Montserrat"/>
                <a:sym typeface="Montserrat"/>
              </a:rPr>
              <a:t>Primary Care Physician</a:t>
            </a:r>
            <a:endParaRPr b="0" i="0" sz="2025" u="none" cap="none" strike="noStrike">
              <a:solidFill>
                <a:schemeClr val="dk1"/>
              </a:solidFill>
              <a:latin typeface="Calibri"/>
              <a:ea typeface="Calibri"/>
              <a:cs typeface="Calibri"/>
              <a:sym typeface="Calibri"/>
            </a:endParaRPr>
          </a:p>
        </p:txBody>
      </p:sp>
      <p:pic>
        <p:nvPicPr>
          <p:cNvPr descr="preencoded.png" id="417" name="Google Shape;417;p13"/>
          <p:cNvPicPr preferRelativeResize="0"/>
          <p:nvPr/>
        </p:nvPicPr>
        <p:blipFill rotWithShape="1">
          <a:blip r:embed="rId4">
            <a:alphaModFix/>
          </a:blip>
          <a:srcRect b="-3807" l="0" r="0" t="-3807"/>
          <a:stretch/>
        </p:blipFill>
        <p:spPr>
          <a:xfrm>
            <a:off x="17145000" y="361950"/>
            <a:ext cx="533400" cy="533400"/>
          </a:xfrm>
          <a:prstGeom prst="rect">
            <a:avLst/>
          </a:prstGeom>
          <a:noFill/>
          <a:ln>
            <a:noFill/>
          </a:ln>
        </p:spPr>
      </p:pic>
      <p:sp>
        <p:nvSpPr>
          <p:cNvPr id="418" name="Google Shape;418;p13"/>
          <p:cNvSpPr/>
          <p:nvPr/>
        </p:nvSpPr>
        <p:spPr>
          <a:xfrm>
            <a:off x="6324600" y="2028825"/>
            <a:ext cx="3726552" cy="7009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3D3D3D"/>
              </a:buClr>
              <a:buSzPts val="1800"/>
              <a:buFont typeface="Montserrat"/>
              <a:buNone/>
            </a:pPr>
            <a:r>
              <a:rPr b="0" i="0" lang="en-US" sz="1800" u="none" cap="none" strike="noStrike">
                <a:solidFill>
                  <a:srgbClr val="3D3D3D"/>
                </a:solidFill>
                <a:latin typeface="Montserrat"/>
                <a:ea typeface="Montserrat"/>
                <a:cs typeface="Montserrat"/>
                <a:sym typeface="Montserrat"/>
              </a:rPr>
              <a:t>Family physician in a busy primary care practice</a:t>
            </a:r>
            <a:endParaRPr b="0" i="0" sz="1800" u="none" cap="none" strike="noStrike">
              <a:solidFill>
                <a:schemeClr val="dk1"/>
              </a:solidFill>
              <a:latin typeface="Calibri"/>
              <a:ea typeface="Calibri"/>
              <a:cs typeface="Calibri"/>
              <a:sym typeface="Calibri"/>
            </a:endParaRPr>
          </a:p>
        </p:txBody>
      </p:sp>
      <p:sp>
        <p:nvSpPr>
          <p:cNvPr id="419" name="Google Shape;419;p13"/>
          <p:cNvSpPr/>
          <p:nvPr/>
        </p:nvSpPr>
        <p:spPr>
          <a:xfrm>
            <a:off x="10190262" y="2028825"/>
            <a:ext cx="9525" cy="66288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13"/>
          <p:cNvSpPr/>
          <p:nvPr/>
        </p:nvSpPr>
        <p:spPr>
          <a:xfrm>
            <a:off x="10444237" y="2028825"/>
            <a:ext cx="2572048" cy="7009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3D3D3D"/>
              </a:buClr>
              <a:buSzPts val="1800"/>
              <a:buFont typeface="Montserrat"/>
              <a:buNone/>
            </a:pPr>
            <a:r>
              <a:rPr b="0" i="0" lang="en-US" sz="1800" u="none" cap="none" strike="noStrike">
                <a:solidFill>
                  <a:srgbClr val="3D3D3D"/>
                </a:solidFill>
                <a:latin typeface="Montserrat"/>
                <a:ea typeface="Montserrat"/>
                <a:cs typeface="Montserrat"/>
                <a:sym typeface="Montserrat"/>
              </a:rPr>
              <a:t>No ophthalmology specialization</a:t>
            </a:r>
            <a:endParaRPr b="0" i="0" sz="1800" u="none" cap="none" strike="noStrike">
              <a:solidFill>
                <a:schemeClr val="dk1"/>
              </a:solidFill>
              <a:latin typeface="Calibri"/>
              <a:ea typeface="Calibri"/>
              <a:cs typeface="Calibri"/>
              <a:sym typeface="Calibri"/>
            </a:endParaRPr>
          </a:p>
        </p:txBody>
      </p:sp>
      <p:sp>
        <p:nvSpPr>
          <p:cNvPr id="421" name="Google Shape;421;p13"/>
          <p:cNvSpPr/>
          <p:nvPr/>
        </p:nvSpPr>
        <p:spPr>
          <a:xfrm>
            <a:off x="13187735" y="2028825"/>
            <a:ext cx="9525" cy="66288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13"/>
          <p:cNvSpPr/>
          <p:nvPr/>
        </p:nvSpPr>
        <p:spPr>
          <a:xfrm>
            <a:off x="13441710" y="2028825"/>
            <a:ext cx="4363791" cy="700980"/>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3D3D3D"/>
              </a:buClr>
              <a:buSzPts val="1800"/>
              <a:buFont typeface="Montserrat"/>
              <a:buNone/>
            </a:pPr>
            <a:r>
              <a:rPr b="0" i="0" lang="en-US" sz="1800" u="none" cap="none" strike="noStrike">
                <a:solidFill>
                  <a:srgbClr val="3D3D3D"/>
                </a:solidFill>
                <a:latin typeface="Montserrat"/>
                <a:ea typeface="Montserrat"/>
                <a:cs typeface="Montserrat"/>
                <a:sym typeface="Montserrat"/>
              </a:rPr>
              <a:t>Uses screening information to support referral decisions</a:t>
            </a:r>
            <a:endParaRPr b="0" i="0" sz="1800" u="none" cap="none" strike="noStrike">
              <a:solidFill>
                <a:schemeClr val="dk1"/>
              </a:solidFill>
              <a:latin typeface="Calibri"/>
              <a:ea typeface="Calibri"/>
              <a:cs typeface="Calibri"/>
              <a:sym typeface="Calibri"/>
            </a:endParaRPr>
          </a:p>
        </p:txBody>
      </p:sp>
      <p:sp>
        <p:nvSpPr>
          <p:cNvPr id="423" name="Google Shape;423;p13"/>
          <p:cNvSpPr/>
          <p:nvPr/>
        </p:nvSpPr>
        <p:spPr>
          <a:xfrm>
            <a:off x="6324600" y="2825055"/>
            <a:ext cx="3644875" cy="3148013"/>
          </a:xfrm>
          <a:prstGeom prst="roundRect">
            <a:avLst>
              <a:gd fmla="val 4841"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13"/>
          <p:cNvSpPr/>
          <p:nvPr/>
        </p:nvSpPr>
        <p:spPr>
          <a:xfrm>
            <a:off x="6553200" y="3053655"/>
            <a:ext cx="3506443"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GOALS</a:t>
            </a:r>
            <a:endParaRPr b="0" i="0" sz="1800" u="none" cap="none" strike="noStrike">
              <a:solidFill>
                <a:schemeClr val="dk1"/>
              </a:solidFill>
              <a:latin typeface="Calibri"/>
              <a:ea typeface="Calibri"/>
              <a:cs typeface="Calibri"/>
              <a:sym typeface="Calibri"/>
            </a:endParaRPr>
          </a:p>
        </p:txBody>
      </p:sp>
      <p:sp>
        <p:nvSpPr>
          <p:cNvPr id="425" name="Google Shape;425;p13"/>
          <p:cNvSpPr/>
          <p:nvPr/>
        </p:nvSpPr>
        <p:spPr>
          <a:xfrm>
            <a:off x="6553200" y="3444180"/>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Identify patients who may need specialist evaluation</a:t>
            </a:r>
            <a:endParaRPr b="0" i="0" sz="1875" u="none" cap="none" strike="noStrike">
              <a:solidFill>
                <a:schemeClr val="dk1"/>
              </a:solidFill>
              <a:latin typeface="Calibri"/>
              <a:ea typeface="Calibri"/>
              <a:cs typeface="Calibri"/>
              <a:sym typeface="Calibri"/>
            </a:endParaRPr>
          </a:p>
        </p:txBody>
      </p:sp>
      <p:sp>
        <p:nvSpPr>
          <p:cNvPr id="426" name="Google Shape;426;p13"/>
          <p:cNvSpPr/>
          <p:nvPr/>
        </p:nvSpPr>
        <p:spPr>
          <a:xfrm>
            <a:off x="6553200" y="4249043"/>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Support early detection and preventive care</a:t>
            </a:r>
            <a:endParaRPr b="0" i="0" sz="1875" u="none" cap="none" strike="noStrike">
              <a:solidFill>
                <a:schemeClr val="dk1"/>
              </a:solidFill>
              <a:latin typeface="Calibri"/>
              <a:ea typeface="Calibri"/>
              <a:cs typeface="Calibri"/>
              <a:sym typeface="Calibri"/>
            </a:endParaRPr>
          </a:p>
        </p:txBody>
      </p:sp>
      <p:sp>
        <p:nvSpPr>
          <p:cNvPr id="427" name="Google Shape;427;p13"/>
          <p:cNvSpPr/>
          <p:nvPr/>
        </p:nvSpPr>
        <p:spPr>
          <a:xfrm>
            <a:off x="6553200" y="5053905"/>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Review screening information quickly</a:t>
            </a:r>
            <a:endParaRPr b="0" i="0" sz="1875" u="none" cap="none" strike="noStrike">
              <a:solidFill>
                <a:schemeClr val="dk1"/>
              </a:solidFill>
              <a:latin typeface="Calibri"/>
              <a:ea typeface="Calibri"/>
              <a:cs typeface="Calibri"/>
              <a:sym typeface="Calibri"/>
            </a:endParaRPr>
          </a:p>
        </p:txBody>
      </p:sp>
      <p:sp>
        <p:nvSpPr>
          <p:cNvPr id="428" name="Google Shape;428;p13"/>
          <p:cNvSpPr/>
          <p:nvPr/>
        </p:nvSpPr>
        <p:spPr>
          <a:xfrm>
            <a:off x="10179025" y="2825055"/>
            <a:ext cx="3644875" cy="3493294"/>
          </a:xfrm>
          <a:prstGeom prst="roundRect">
            <a:avLst>
              <a:gd fmla="val 4363"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3"/>
          <p:cNvSpPr/>
          <p:nvPr/>
        </p:nvSpPr>
        <p:spPr>
          <a:xfrm>
            <a:off x="10407625" y="3053655"/>
            <a:ext cx="3506443"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NEEDS</a:t>
            </a:r>
            <a:endParaRPr b="0" i="0" sz="1800" u="none" cap="none" strike="noStrike">
              <a:solidFill>
                <a:schemeClr val="dk1"/>
              </a:solidFill>
              <a:latin typeface="Calibri"/>
              <a:ea typeface="Calibri"/>
              <a:cs typeface="Calibri"/>
              <a:sym typeface="Calibri"/>
            </a:endParaRPr>
          </a:p>
        </p:txBody>
      </p:sp>
      <p:sp>
        <p:nvSpPr>
          <p:cNvPr id="430" name="Google Shape;430;p13"/>
          <p:cNvSpPr/>
          <p:nvPr/>
        </p:nvSpPr>
        <p:spPr>
          <a:xfrm>
            <a:off x="10407625" y="3444180"/>
            <a:ext cx="3283305" cy="1073944"/>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Clear cataract and glaucoma screening results</a:t>
            </a:r>
            <a:endParaRPr b="0" i="0" sz="1875" u="none" cap="none" strike="noStrike">
              <a:solidFill>
                <a:schemeClr val="dk1"/>
              </a:solidFill>
              <a:latin typeface="Calibri"/>
              <a:ea typeface="Calibri"/>
              <a:cs typeface="Calibri"/>
              <a:sym typeface="Calibri"/>
            </a:endParaRPr>
          </a:p>
        </p:txBody>
      </p:sp>
      <p:sp>
        <p:nvSpPr>
          <p:cNvPr id="431" name="Google Shape;431;p13"/>
          <p:cNvSpPr/>
          <p:nvPr/>
        </p:nvSpPr>
        <p:spPr>
          <a:xfrm>
            <a:off x="10407625" y="4594324"/>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Clear risk and uncertainty indicators.</a:t>
            </a:r>
            <a:endParaRPr b="0" i="0" sz="1875" u="none" cap="none" strike="noStrike">
              <a:solidFill>
                <a:schemeClr val="dk1"/>
              </a:solidFill>
              <a:latin typeface="Calibri"/>
              <a:ea typeface="Calibri"/>
              <a:cs typeface="Calibri"/>
              <a:sym typeface="Calibri"/>
            </a:endParaRPr>
          </a:p>
        </p:txBody>
      </p:sp>
      <p:sp>
        <p:nvSpPr>
          <p:cNvPr id="432" name="Google Shape;432;p13"/>
          <p:cNvSpPr/>
          <p:nvPr/>
        </p:nvSpPr>
        <p:spPr>
          <a:xfrm>
            <a:off x="10407625" y="5399187"/>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A clear recommended next step</a:t>
            </a:r>
            <a:endParaRPr b="0" i="0" sz="1875" u="none" cap="none" strike="noStrike">
              <a:solidFill>
                <a:schemeClr val="dk1"/>
              </a:solidFill>
              <a:latin typeface="Calibri"/>
              <a:ea typeface="Calibri"/>
              <a:cs typeface="Calibri"/>
              <a:sym typeface="Calibri"/>
            </a:endParaRPr>
          </a:p>
        </p:txBody>
      </p:sp>
      <p:sp>
        <p:nvSpPr>
          <p:cNvPr id="433" name="Google Shape;433;p13"/>
          <p:cNvSpPr/>
          <p:nvPr/>
        </p:nvSpPr>
        <p:spPr>
          <a:xfrm>
            <a:off x="14033450" y="2825055"/>
            <a:ext cx="3644875" cy="3148013"/>
          </a:xfrm>
          <a:prstGeom prst="roundRect">
            <a:avLst>
              <a:gd fmla="val 4841" name="adj"/>
            </a:avLst>
          </a:prstGeom>
          <a:solidFill>
            <a:srgbClr val="FDF4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3"/>
          <p:cNvSpPr/>
          <p:nvPr/>
        </p:nvSpPr>
        <p:spPr>
          <a:xfrm>
            <a:off x="14262050" y="3053655"/>
            <a:ext cx="3506443"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9D4531"/>
              </a:buClr>
              <a:buSzPts val="1800"/>
              <a:buFont typeface="Montserrat"/>
              <a:buNone/>
            </a:pPr>
            <a:r>
              <a:rPr b="1" i="0" lang="en-US" sz="1800" u="none" cap="none" strike="noStrike">
                <a:solidFill>
                  <a:srgbClr val="9D4531"/>
                </a:solidFill>
                <a:latin typeface="Montserrat"/>
                <a:ea typeface="Montserrat"/>
                <a:cs typeface="Montserrat"/>
                <a:sym typeface="Montserrat"/>
              </a:rPr>
              <a:t>CONCERNS</a:t>
            </a:r>
            <a:endParaRPr b="0" i="0" sz="1800" u="none" cap="none" strike="noStrike">
              <a:solidFill>
                <a:schemeClr val="dk1"/>
              </a:solidFill>
              <a:latin typeface="Calibri"/>
              <a:ea typeface="Calibri"/>
              <a:cs typeface="Calibri"/>
              <a:sym typeface="Calibri"/>
            </a:endParaRPr>
          </a:p>
        </p:txBody>
      </p:sp>
      <p:sp>
        <p:nvSpPr>
          <p:cNvPr id="435" name="Google Shape;435;p13"/>
          <p:cNvSpPr/>
          <p:nvPr/>
        </p:nvSpPr>
        <p:spPr>
          <a:xfrm>
            <a:off x="14262050" y="3444180"/>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Missing a patient who may need referral</a:t>
            </a:r>
            <a:endParaRPr b="0" i="0" sz="1875" u="none" cap="none" strike="noStrike">
              <a:solidFill>
                <a:schemeClr val="dk1"/>
              </a:solidFill>
              <a:latin typeface="Calibri"/>
              <a:ea typeface="Calibri"/>
              <a:cs typeface="Calibri"/>
              <a:sym typeface="Calibri"/>
            </a:endParaRPr>
          </a:p>
        </p:txBody>
      </p:sp>
      <p:sp>
        <p:nvSpPr>
          <p:cNvPr id="436" name="Google Shape;436;p13"/>
          <p:cNvSpPr/>
          <p:nvPr/>
        </p:nvSpPr>
        <p:spPr>
          <a:xfrm>
            <a:off x="14262050" y="4249043"/>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Over-referring patients unnecessarily</a:t>
            </a:r>
            <a:endParaRPr b="0" i="0" sz="1875" u="none" cap="none" strike="noStrike">
              <a:solidFill>
                <a:schemeClr val="dk1"/>
              </a:solidFill>
              <a:latin typeface="Calibri"/>
              <a:ea typeface="Calibri"/>
              <a:cs typeface="Calibri"/>
              <a:sym typeface="Calibri"/>
            </a:endParaRPr>
          </a:p>
        </p:txBody>
      </p:sp>
      <p:sp>
        <p:nvSpPr>
          <p:cNvPr id="437" name="Google Shape;437;p13"/>
          <p:cNvSpPr/>
          <p:nvPr/>
        </p:nvSpPr>
        <p:spPr>
          <a:xfrm>
            <a:off x="14262050" y="5053905"/>
            <a:ext cx="3283305" cy="728663"/>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Misinterpreting an uncertain AI result</a:t>
            </a:r>
            <a:endParaRPr b="0" i="0" sz="1875" u="none" cap="none" strike="noStrike">
              <a:solidFill>
                <a:schemeClr val="dk1"/>
              </a:solidFill>
              <a:latin typeface="Calibri"/>
              <a:ea typeface="Calibri"/>
              <a:cs typeface="Calibri"/>
              <a:sym typeface="Calibri"/>
            </a:endParaRPr>
          </a:p>
        </p:txBody>
      </p:sp>
      <p:sp>
        <p:nvSpPr>
          <p:cNvPr id="438" name="Google Shape;438;p13"/>
          <p:cNvSpPr/>
          <p:nvPr/>
        </p:nvSpPr>
        <p:spPr>
          <a:xfrm>
            <a:off x="6324600" y="6862911"/>
            <a:ext cx="11353800" cy="1071563"/>
          </a:xfrm>
          <a:prstGeom prst="roundRect">
            <a:avLst>
              <a:gd fmla="val 10667" name="adj"/>
            </a:avLst>
          </a:prstGeom>
          <a:solidFill>
            <a:srgbClr val="EAF2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13"/>
          <p:cNvSpPr/>
          <p:nvPr/>
        </p:nvSpPr>
        <p:spPr>
          <a:xfrm>
            <a:off x="6324600" y="6862911"/>
            <a:ext cx="38100" cy="1071563"/>
          </a:xfrm>
          <a:prstGeom prst="rect">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p13"/>
          <p:cNvSpPr/>
          <p:nvPr/>
        </p:nvSpPr>
        <p:spPr>
          <a:xfrm>
            <a:off x="6591300" y="7053411"/>
            <a:ext cx="11199114" cy="728662"/>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1B4F82"/>
              </a:buClr>
              <a:buSzPts val="1875"/>
              <a:buFont typeface="Montserrat"/>
              <a:buNone/>
            </a:pPr>
            <a:r>
              <a:rPr b="0" i="0" lang="en-US" sz="1875" u="none" cap="none" strike="noStrike">
                <a:solidFill>
                  <a:srgbClr val="1B4F82"/>
                </a:solidFill>
                <a:latin typeface="Montserrat"/>
                <a:ea typeface="Montserrat"/>
                <a:cs typeface="Montserrat"/>
                <a:sym typeface="Montserrat"/>
              </a:rPr>
              <a:t>“I need a clear screening result that helps me decide when further eye-care evaluation may be appropriate.”</a:t>
            </a:r>
            <a:endParaRPr b="0" i="0" sz="1875" u="none" cap="none" strike="noStrike">
              <a:solidFill>
                <a:schemeClr val="dk1"/>
              </a:solidFill>
              <a:latin typeface="Calibri"/>
              <a:ea typeface="Calibri"/>
              <a:cs typeface="Calibri"/>
              <a:sym typeface="Calibri"/>
            </a:endParaRPr>
          </a:p>
        </p:txBody>
      </p:sp>
      <p:sp>
        <p:nvSpPr>
          <p:cNvPr id="441" name="Google Shape;441;p13"/>
          <p:cNvSpPr/>
          <p:nvPr/>
        </p:nvSpPr>
        <p:spPr>
          <a:xfrm>
            <a:off x="6324600" y="8067824"/>
            <a:ext cx="113538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13"/>
          <p:cNvSpPr/>
          <p:nvPr/>
        </p:nvSpPr>
        <p:spPr>
          <a:xfrm>
            <a:off x="6324600" y="8305949"/>
            <a:ext cx="1616318"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SCENARIO</a:t>
            </a:r>
            <a:endParaRPr b="0" i="0" sz="1800" u="none" cap="none" strike="noStrike">
              <a:solidFill>
                <a:schemeClr val="dk1"/>
              </a:solidFill>
              <a:latin typeface="Calibri"/>
              <a:ea typeface="Calibri"/>
              <a:cs typeface="Calibri"/>
              <a:sym typeface="Calibri"/>
            </a:endParaRPr>
          </a:p>
        </p:txBody>
      </p:sp>
      <p:sp>
        <p:nvSpPr>
          <p:cNvPr id="443" name="Google Shape;443;p13"/>
          <p:cNvSpPr/>
          <p:nvPr/>
        </p:nvSpPr>
        <p:spPr>
          <a:xfrm>
            <a:off x="8022580" y="8267849"/>
            <a:ext cx="9945495" cy="1695301"/>
          </a:xfrm>
          <a:prstGeom prst="rect">
            <a:avLst/>
          </a:prstGeom>
          <a:noFill/>
          <a:ln>
            <a:noFill/>
          </a:ln>
        </p:spPr>
        <p:txBody>
          <a:bodyPr anchorCtr="0" anchor="t" bIns="25400" lIns="25400" spcFirstLastPara="1" rIns="25400" wrap="square" tIns="25400">
            <a:noAutofit/>
          </a:bodyPr>
          <a:lstStyle/>
          <a:p>
            <a:pPr indent="0" lvl="0" marL="0" marR="0" rtl="0" algn="l">
              <a:lnSpc>
                <a:spcPct val="120000"/>
              </a:lnSpc>
              <a:spcBef>
                <a:spcPts val="0"/>
              </a:spcBef>
              <a:spcAft>
                <a:spcPts val="0"/>
              </a:spcAft>
              <a:buClr>
                <a:srgbClr val="3D3D3D"/>
              </a:buClr>
              <a:buSzPts val="1800"/>
              <a:buFont typeface="Montserrat"/>
              <a:buNone/>
            </a:pPr>
            <a:r>
              <a:rPr b="0" i="0" lang="en-US" sz="1800" u="none" cap="none" strike="noStrike">
                <a:solidFill>
                  <a:srgbClr val="3D3D3D"/>
                </a:solidFill>
                <a:latin typeface="Montserrat"/>
                <a:ea typeface="Montserrat"/>
                <a:cs typeface="Montserrat"/>
                <a:sym typeface="Montserrat"/>
              </a:rPr>
              <a:t>Dr. Rao reviews a DUAL screening report after a technician captures and analyzes a patient’s fundus image. She checks the cataract and glaucoma screening results, uncertainty, and recommended next step, then decides whether further eye-care evaluation is appropriate. DUAL supports screening and referral; it does not diagnose.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14"/>
          <p:cNvSpPr/>
          <p:nvPr/>
        </p:nvSpPr>
        <p:spPr>
          <a:xfrm>
            <a:off x="857250" y="1543050"/>
            <a:ext cx="16573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14"/>
          <p:cNvSpPr/>
          <p:nvPr/>
        </p:nvSpPr>
        <p:spPr>
          <a:xfrm>
            <a:off x="857250" y="685800"/>
            <a:ext cx="12693491"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DUAL in Action</a:t>
            </a:r>
            <a:endParaRPr b="0" i="0" sz="4200" u="none" cap="none" strike="noStrike">
              <a:solidFill>
                <a:schemeClr val="dk1"/>
              </a:solidFill>
              <a:latin typeface="Calibri"/>
              <a:ea typeface="Calibri"/>
              <a:cs typeface="Calibri"/>
              <a:sym typeface="Calibri"/>
            </a:endParaRPr>
          </a:p>
        </p:txBody>
      </p:sp>
      <p:sp>
        <p:nvSpPr>
          <p:cNvPr id="451" name="Google Shape;451;p14"/>
          <p:cNvSpPr/>
          <p:nvPr/>
        </p:nvSpPr>
        <p:spPr>
          <a:xfrm>
            <a:off x="12396788" y="928688"/>
            <a:ext cx="4741069"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0" i="0" lang="en-US" sz="1800" u="none" cap="none" strike="noStrike">
                <a:solidFill>
                  <a:srgbClr val="3D3D3D"/>
                </a:solidFill>
                <a:latin typeface="Montserrat"/>
                <a:ea typeface="Montserrat"/>
                <a:cs typeface="Montserrat"/>
                <a:sym typeface="Montserrat"/>
              </a:rPr>
              <a:t>Early Detection. A Brighter Tomorrow.</a:t>
            </a:r>
            <a:endParaRPr b="0" i="0" sz="1800" u="none" cap="none" strike="noStrike">
              <a:solidFill>
                <a:schemeClr val="dk1"/>
              </a:solidFill>
              <a:latin typeface="Calibri"/>
              <a:ea typeface="Calibri"/>
              <a:cs typeface="Calibri"/>
              <a:sym typeface="Calibri"/>
            </a:endParaRPr>
          </a:p>
        </p:txBody>
      </p:sp>
      <p:pic>
        <p:nvPicPr>
          <p:cNvPr descr="preencoded.png" id="452" name="Google Shape;452;p14"/>
          <p:cNvPicPr preferRelativeResize="0"/>
          <p:nvPr/>
        </p:nvPicPr>
        <p:blipFill rotWithShape="1">
          <a:blip r:embed="rId3">
            <a:alphaModFix/>
          </a:blip>
          <a:srcRect b="-3807" l="0" r="0" t="-3807"/>
          <a:stretch/>
        </p:blipFill>
        <p:spPr>
          <a:xfrm>
            <a:off x="16897350" y="800100"/>
            <a:ext cx="533400" cy="533400"/>
          </a:xfrm>
          <a:prstGeom prst="rect">
            <a:avLst/>
          </a:prstGeom>
          <a:noFill/>
          <a:ln>
            <a:noFill/>
          </a:ln>
        </p:spPr>
      </p:pic>
      <p:sp>
        <p:nvSpPr>
          <p:cNvPr id="453" name="Google Shape;453;p14"/>
          <p:cNvSpPr/>
          <p:nvPr/>
        </p:nvSpPr>
        <p:spPr>
          <a:xfrm>
            <a:off x="857250" y="1819275"/>
            <a:ext cx="316781"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01</a:t>
            </a:r>
            <a:endParaRPr b="0" i="0" sz="1800" u="none" cap="none" strike="noStrike">
              <a:solidFill>
                <a:schemeClr val="dk1"/>
              </a:solidFill>
              <a:latin typeface="Calibri"/>
              <a:ea typeface="Calibri"/>
              <a:cs typeface="Calibri"/>
              <a:sym typeface="Calibri"/>
            </a:endParaRPr>
          </a:p>
        </p:txBody>
      </p:sp>
      <p:sp>
        <p:nvSpPr>
          <p:cNvPr id="454" name="Google Shape;454;p14"/>
          <p:cNvSpPr/>
          <p:nvPr/>
        </p:nvSpPr>
        <p:spPr>
          <a:xfrm>
            <a:off x="1231181" y="1819275"/>
            <a:ext cx="1482812"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CAPTURE</a:t>
            </a:r>
            <a:endParaRPr b="0" i="0" sz="1800" u="none" cap="none" strike="noStrike">
              <a:solidFill>
                <a:schemeClr val="dk1"/>
              </a:solidFill>
              <a:latin typeface="Calibri"/>
              <a:ea typeface="Calibri"/>
              <a:cs typeface="Calibri"/>
              <a:sym typeface="Calibri"/>
            </a:endParaRPr>
          </a:p>
        </p:txBody>
      </p:sp>
      <p:sp>
        <p:nvSpPr>
          <p:cNvPr id="455" name="Google Shape;455;p14"/>
          <p:cNvSpPr/>
          <p:nvPr/>
        </p:nvSpPr>
        <p:spPr>
          <a:xfrm>
            <a:off x="857250" y="2247900"/>
            <a:ext cx="3971925" cy="28575"/>
          </a:xfrm>
          <a:prstGeom prst="rect">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14"/>
          <p:cNvSpPr/>
          <p:nvPr/>
        </p:nvSpPr>
        <p:spPr>
          <a:xfrm>
            <a:off x="857250" y="2428875"/>
            <a:ext cx="3971925" cy="1440061"/>
          </a:xfrm>
          <a:prstGeom prst="roundRect">
            <a:avLst>
              <a:gd fmla="val 10583"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7" name="Google Shape;457;p14"/>
          <p:cNvPicPr preferRelativeResize="0"/>
          <p:nvPr/>
        </p:nvPicPr>
        <p:blipFill rotWithShape="1">
          <a:blip r:embed="rId4">
            <a:alphaModFix/>
          </a:blip>
          <a:srcRect b="853" l="0" r="0" t="853"/>
          <a:stretch/>
        </p:blipFill>
        <p:spPr>
          <a:xfrm>
            <a:off x="1066800" y="2691705"/>
            <a:ext cx="914400" cy="914400"/>
          </a:xfrm>
          <a:prstGeom prst="rect">
            <a:avLst/>
          </a:prstGeom>
          <a:noFill/>
          <a:ln>
            <a:noFill/>
          </a:ln>
        </p:spPr>
      </p:pic>
      <p:sp>
        <p:nvSpPr>
          <p:cNvPr id="458" name="Google Shape;458;p14"/>
          <p:cNvSpPr/>
          <p:nvPr/>
        </p:nvSpPr>
        <p:spPr>
          <a:xfrm>
            <a:off x="2152650" y="2638425"/>
            <a:ext cx="2543175" cy="706636"/>
          </a:xfrm>
          <a:prstGeom prst="rect">
            <a:avLst/>
          </a:prstGeom>
          <a:noFill/>
          <a:ln>
            <a:noFill/>
          </a:ln>
        </p:spPr>
        <p:txBody>
          <a:bodyPr anchorCtr="0" anchor="t" bIns="25400" lIns="25400" spcFirstLastPara="1" rIns="25400" wrap="square" tIns="25400">
            <a:noAutofit/>
          </a:bodyPr>
          <a:lstStyle/>
          <a:p>
            <a:pPr indent="0" lvl="0" marL="0" marR="0" rtl="0" algn="l">
              <a:lnSpc>
                <a:spcPct val="111429"/>
              </a:lnSpc>
              <a:spcBef>
                <a:spcPts val="0"/>
              </a:spcBef>
              <a:spcAft>
                <a:spcPts val="0"/>
              </a:spcAft>
              <a:buClr>
                <a:srgbClr val="111111"/>
              </a:buClr>
              <a:buSzPts val="1950"/>
              <a:buFont typeface="Montserrat"/>
              <a:buNone/>
            </a:pPr>
            <a:r>
              <a:rPr b="0" i="0" lang="en-US" sz="1950" u="none" cap="none" strike="noStrike">
                <a:solidFill>
                  <a:srgbClr val="111111"/>
                </a:solidFill>
                <a:latin typeface="Montserrat"/>
                <a:ea typeface="Montserrat"/>
                <a:cs typeface="Montserrat"/>
                <a:sym typeface="Montserrat"/>
              </a:rPr>
              <a:t>“Time for my eye screening.”</a:t>
            </a:r>
            <a:endParaRPr b="0" i="0" sz="1950" u="none" cap="none" strike="noStrike">
              <a:solidFill>
                <a:schemeClr val="dk1"/>
              </a:solidFill>
              <a:latin typeface="Calibri"/>
              <a:ea typeface="Calibri"/>
              <a:cs typeface="Calibri"/>
              <a:sym typeface="Calibri"/>
            </a:endParaRPr>
          </a:p>
        </p:txBody>
      </p:sp>
      <p:sp>
        <p:nvSpPr>
          <p:cNvPr id="459" name="Google Shape;459;p14"/>
          <p:cNvSpPr/>
          <p:nvPr/>
        </p:nvSpPr>
        <p:spPr>
          <a:xfrm>
            <a:off x="2152650" y="3383161"/>
            <a:ext cx="2713673"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Helen </a:t>
            </a:r>
            <a:r>
              <a:rPr b="0" i="0" lang="en-US" sz="1800" u="none" cap="none" strike="noStrike">
                <a:solidFill>
                  <a:srgbClr val="3D3D3D"/>
                </a:solidFill>
                <a:latin typeface="Montserrat"/>
                <a:ea typeface="Montserrat"/>
                <a:cs typeface="Montserrat"/>
                <a:sym typeface="Montserrat"/>
              </a:rPr>
              <a:t>— Patient</a:t>
            </a:r>
            <a:endParaRPr b="0" i="0" sz="1800" u="none" cap="none" strike="noStrike">
              <a:solidFill>
                <a:schemeClr val="dk1"/>
              </a:solidFill>
              <a:latin typeface="Calibri"/>
              <a:ea typeface="Calibri"/>
              <a:cs typeface="Calibri"/>
              <a:sym typeface="Calibri"/>
            </a:endParaRPr>
          </a:p>
        </p:txBody>
      </p:sp>
      <p:sp>
        <p:nvSpPr>
          <p:cNvPr id="460" name="Google Shape;460;p14"/>
          <p:cNvSpPr/>
          <p:nvPr/>
        </p:nvSpPr>
        <p:spPr>
          <a:xfrm>
            <a:off x="857250" y="4021336"/>
            <a:ext cx="3971925" cy="1716286"/>
          </a:xfrm>
          <a:prstGeom prst="roundRect">
            <a:avLst>
              <a:gd fmla="val 8880"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61" name="Google Shape;461;p14"/>
          <p:cNvPicPr preferRelativeResize="0"/>
          <p:nvPr/>
        </p:nvPicPr>
        <p:blipFill rotWithShape="1">
          <a:blip r:embed="rId5">
            <a:alphaModFix/>
          </a:blip>
          <a:srcRect b="2571" l="0" r="0" t="2571"/>
          <a:stretch/>
        </p:blipFill>
        <p:spPr>
          <a:xfrm>
            <a:off x="1066800" y="4422279"/>
            <a:ext cx="914400" cy="914400"/>
          </a:xfrm>
          <a:prstGeom prst="rect">
            <a:avLst/>
          </a:prstGeom>
          <a:noFill/>
          <a:ln>
            <a:noFill/>
          </a:ln>
        </p:spPr>
      </p:pic>
      <p:sp>
        <p:nvSpPr>
          <p:cNvPr id="462" name="Google Shape;462;p14"/>
          <p:cNvSpPr/>
          <p:nvPr/>
        </p:nvSpPr>
        <p:spPr>
          <a:xfrm>
            <a:off x="2152650" y="4230886"/>
            <a:ext cx="2543175" cy="706636"/>
          </a:xfrm>
          <a:prstGeom prst="rect">
            <a:avLst/>
          </a:prstGeom>
          <a:noFill/>
          <a:ln>
            <a:noFill/>
          </a:ln>
        </p:spPr>
        <p:txBody>
          <a:bodyPr anchorCtr="0" anchor="t" bIns="25400" lIns="25400" spcFirstLastPara="1" rIns="25400" wrap="square" tIns="25400">
            <a:noAutofit/>
          </a:bodyPr>
          <a:lstStyle/>
          <a:p>
            <a:pPr indent="0" lvl="0" marL="0" marR="0" rtl="0" algn="l">
              <a:lnSpc>
                <a:spcPct val="111429"/>
              </a:lnSpc>
              <a:spcBef>
                <a:spcPts val="0"/>
              </a:spcBef>
              <a:spcAft>
                <a:spcPts val="0"/>
              </a:spcAft>
              <a:buClr>
                <a:srgbClr val="111111"/>
              </a:buClr>
              <a:buSzPts val="1950"/>
              <a:buFont typeface="Montserrat"/>
              <a:buNone/>
            </a:pPr>
            <a:r>
              <a:rPr b="0" i="0" lang="en-US" sz="1950" u="none" cap="none" strike="noStrike">
                <a:solidFill>
                  <a:srgbClr val="111111"/>
                </a:solidFill>
                <a:latin typeface="Montserrat"/>
                <a:ea typeface="Montserrat"/>
                <a:cs typeface="Montserrat"/>
                <a:sym typeface="Montserrat"/>
              </a:rPr>
              <a:t>“Let me capture your eye image.”</a:t>
            </a:r>
            <a:endParaRPr b="0" i="0" sz="1950" u="none" cap="none" strike="noStrike">
              <a:solidFill>
                <a:schemeClr val="dk1"/>
              </a:solidFill>
              <a:latin typeface="Calibri"/>
              <a:ea typeface="Calibri"/>
              <a:cs typeface="Calibri"/>
              <a:sym typeface="Calibri"/>
            </a:endParaRPr>
          </a:p>
        </p:txBody>
      </p:sp>
      <p:sp>
        <p:nvSpPr>
          <p:cNvPr id="463" name="Google Shape;463;p14"/>
          <p:cNvSpPr/>
          <p:nvPr/>
        </p:nvSpPr>
        <p:spPr>
          <a:xfrm>
            <a:off x="2152650" y="4975622"/>
            <a:ext cx="2543175" cy="590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Arun </a:t>
            </a:r>
            <a:r>
              <a:rPr b="0" i="0" lang="en-US" sz="1800" u="none" cap="none" strike="noStrike">
                <a:solidFill>
                  <a:srgbClr val="3D3D3D"/>
                </a:solidFill>
                <a:latin typeface="Montserrat"/>
                <a:ea typeface="Montserrat"/>
                <a:cs typeface="Montserrat"/>
                <a:sym typeface="Montserrat"/>
              </a:rPr>
              <a:t>— Screening Technician</a:t>
            </a:r>
            <a:endParaRPr b="0" i="0" sz="1800" u="none" cap="none" strike="noStrike">
              <a:solidFill>
                <a:schemeClr val="dk1"/>
              </a:solidFill>
              <a:latin typeface="Calibri"/>
              <a:ea typeface="Calibri"/>
              <a:cs typeface="Calibri"/>
              <a:sym typeface="Calibri"/>
            </a:endParaRPr>
          </a:p>
        </p:txBody>
      </p:sp>
      <p:sp>
        <p:nvSpPr>
          <p:cNvPr id="464" name="Google Shape;464;p14"/>
          <p:cNvSpPr/>
          <p:nvPr/>
        </p:nvSpPr>
        <p:spPr>
          <a:xfrm>
            <a:off x="5057775" y="1819275"/>
            <a:ext cx="362769"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02</a:t>
            </a:r>
            <a:endParaRPr b="0" i="0" sz="1800" u="none" cap="none" strike="noStrike">
              <a:solidFill>
                <a:schemeClr val="dk1"/>
              </a:solidFill>
              <a:latin typeface="Calibri"/>
              <a:ea typeface="Calibri"/>
              <a:cs typeface="Calibri"/>
              <a:sym typeface="Calibri"/>
            </a:endParaRPr>
          </a:p>
        </p:txBody>
      </p:sp>
      <p:sp>
        <p:nvSpPr>
          <p:cNvPr id="465" name="Google Shape;465;p14"/>
          <p:cNvSpPr/>
          <p:nvPr/>
        </p:nvSpPr>
        <p:spPr>
          <a:xfrm>
            <a:off x="5477694" y="1819275"/>
            <a:ext cx="1234976"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SCREEN</a:t>
            </a:r>
            <a:endParaRPr b="0" i="0" sz="1800" u="none" cap="none" strike="noStrike">
              <a:solidFill>
                <a:schemeClr val="dk1"/>
              </a:solidFill>
              <a:latin typeface="Calibri"/>
              <a:ea typeface="Calibri"/>
              <a:cs typeface="Calibri"/>
              <a:sym typeface="Calibri"/>
            </a:endParaRPr>
          </a:p>
        </p:txBody>
      </p:sp>
      <p:sp>
        <p:nvSpPr>
          <p:cNvPr id="466" name="Google Shape;466;p14"/>
          <p:cNvSpPr/>
          <p:nvPr/>
        </p:nvSpPr>
        <p:spPr>
          <a:xfrm>
            <a:off x="5057775" y="2247900"/>
            <a:ext cx="3971925" cy="28575"/>
          </a:xfrm>
          <a:prstGeom prst="rect">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14"/>
          <p:cNvSpPr/>
          <p:nvPr/>
        </p:nvSpPr>
        <p:spPr>
          <a:xfrm>
            <a:off x="5057775" y="2428875"/>
            <a:ext cx="3971925" cy="7172325"/>
          </a:xfrm>
          <a:prstGeom prst="roundRect">
            <a:avLst>
              <a:gd fmla="val 3837" name="adj"/>
            </a:avLst>
          </a:prstGeom>
          <a:solidFill>
            <a:srgbClr val="11111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68" name="Google Shape;468;p14"/>
          <p:cNvPicPr preferRelativeResize="0"/>
          <p:nvPr/>
        </p:nvPicPr>
        <p:blipFill rotWithShape="1">
          <a:blip r:embed="rId3">
            <a:alphaModFix/>
          </a:blip>
          <a:srcRect b="-3807" l="0" r="0" t="-3807"/>
          <a:stretch/>
        </p:blipFill>
        <p:spPr>
          <a:xfrm>
            <a:off x="5286375" y="2657475"/>
            <a:ext cx="361950" cy="361950"/>
          </a:xfrm>
          <a:prstGeom prst="rect">
            <a:avLst/>
          </a:prstGeom>
          <a:noFill/>
          <a:ln>
            <a:noFill/>
          </a:ln>
        </p:spPr>
      </p:pic>
      <p:sp>
        <p:nvSpPr>
          <p:cNvPr id="469" name="Google Shape;469;p14"/>
          <p:cNvSpPr/>
          <p:nvPr/>
        </p:nvSpPr>
        <p:spPr>
          <a:xfrm>
            <a:off x="5781675" y="2700338"/>
            <a:ext cx="896317"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DB7F6"/>
              </a:buClr>
              <a:buSzPts val="1800"/>
              <a:buFont typeface="Montserrat"/>
              <a:buNone/>
            </a:pPr>
            <a:r>
              <a:rPr b="1" i="0" lang="en-US" sz="1800" u="none" cap="none" strike="noStrike">
                <a:solidFill>
                  <a:srgbClr val="7DB7F6"/>
                </a:solidFill>
                <a:latin typeface="Montserrat"/>
                <a:ea typeface="Montserrat"/>
                <a:cs typeface="Montserrat"/>
                <a:sym typeface="Montserrat"/>
              </a:rPr>
              <a:t>DUAL</a:t>
            </a:r>
            <a:endParaRPr b="0" i="0" sz="1800" u="none" cap="none" strike="noStrike">
              <a:solidFill>
                <a:schemeClr val="dk1"/>
              </a:solidFill>
              <a:latin typeface="Calibri"/>
              <a:ea typeface="Calibri"/>
              <a:cs typeface="Calibri"/>
              <a:sym typeface="Calibri"/>
            </a:endParaRPr>
          </a:p>
        </p:txBody>
      </p:sp>
      <p:pic>
        <p:nvPicPr>
          <p:cNvPr descr="preencoded.png" id="470" name="Google Shape;470;p14"/>
          <p:cNvPicPr preferRelativeResize="0"/>
          <p:nvPr/>
        </p:nvPicPr>
        <p:blipFill rotWithShape="1">
          <a:blip r:embed="rId6">
            <a:alphaModFix/>
          </a:blip>
          <a:srcRect b="31030" l="0" r="0" t="31030"/>
          <a:stretch/>
        </p:blipFill>
        <p:spPr>
          <a:xfrm>
            <a:off x="5286375" y="3152775"/>
            <a:ext cx="3514725" cy="1333500"/>
          </a:xfrm>
          <a:prstGeom prst="rect">
            <a:avLst/>
          </a:prstGeom>
          <a:noFill/>
          <a:ln>
            <a:noFill/>
          </a:ln>
        </p:spPr>
      </p:pic>
      <p:sp>
        <p:nvSpPr>
          <p:cNvPr id="471" name="Google Shape;471;p14"/>
          <p:cNvSpPr/>
          <p:nvPr/>
        </p:nvSpPr>
        <p:spPr>
          <a:xfrm>
            <a:off x="5286375" y="4619625"/>
            <a:ext cx="3866198" cy="358080"/>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E5E5E5"/>
              </a:buClr>
              <a:buSzPts val="1800"/>
              <a:buFont typeface="Montserrat"/>
              <a:buNone/>
            </a:pPr>
            <a:r>
              <a:rPr b="0" i="0" lang="en-US" sz="1800" u="none" cap="none" strike="noStrike">
                <a:solidFill>
                  <a:srgbClr val="E5E5E5"/>
                </a:solidFill>
                <a:latin typeface="Montserrat"/>
                <a:ea typeface="Montserrat"/>
                <a:cs typeface="Montserrat"/>
                <a:sym typeface="Montserrat"/>
              </a:rPr>
              <a:t>Checking image…</a:t>
            </a:r>
            <a:endParaRPr b="0" i="0" sz="1800" u="none" cap="none" strike="noStrike">
              <a:solidFill>
                <a:schemeClr val="dk1"/>
              </a:solidFill>
              <a:latin typeface="Calibri"/>
              <a:ea typeface="Calibri"/>
              <a:cs typeface="Calibri"/>
              <a:sym typeface="Calibri"/>
            </a:endParaRPr>
          </a:p>
        </p:txBody>
      </p:sp>
      <p:sp>
        <p:nvSpPr>
          <p:cNvPr id="472" name="Google Shape;472;p14"/>
          <p:cNvSpPr/>
          <p:nvPr/>
        </p:nvSpPr>
        <p:spPr>
          <a:xfrm>
            <a:off x="5286375" y="5072955"/>
            <a:ext cx="3620167" cy="678061"/>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E5E5E5"/>
              </a:buClr>
              <a:buSzPts val="1800"/>
              <a:buFont typeface="Montserrat"/>
              <a:buNone/>
            </a:pPr>
            <a:r>
              <a:rPr b="0" i="0" lang="en-US" sz="1800" u="none" cap="none" strike="noStrike">
                <a:solidFill>
                  <a:srgbClr val="E5E5E5"/>
                </a:solidFill>
                <a:latin typeface="Montserrat"/>
                <a:ea typeface="Montserrat"/>
                <a:cs typeface="Montserrat"/>
                <a:sym typeface="Montserrat"/>
              </a:rPr>
              <a:t>Screening Cataract + Glaucoma…</a:t>
            </a:r>
            <a:endParaRPr b="0" i="0" sz="1800" u="none" cap="none" strike="noStrike">
              <a:solidFill>
                <a:schemeClr val="dk1"/>
              </a:solidFill>
              <a:latin typeface="Calibri"/>
              <a:ea typeface="Calibri"/>
              <a:cs typeface="Calibri"/>
              <a:sym typeface="Calibri"/>
            </a:endParaRPr>
          </a:p>
        </p:txBody>
      </p:sp>
      <p:sp>
        <p:nvSpPr>
          <p:cNvPr id="473" name="Google Shape;473;p14"/>
          <p:cNvSpPr/>
          <p:nvPr/>
        </p:nvSpPr>
        <p:spPr>
          <a:xfrm>
            <a:off x="5286375" y="5846266"/>
            <a:ext cx="3866198" cy="358080"/>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Screening complete!</a:t>
            </a:r>
            <a:endParaRPr b="0" i="0" sz="1800" u="none" cap="none" strike="noStrike">
              <a:solidFill>
                <a:schemeClr val="dk1"/>
              </a:solidFill>
              <a:latin typeface="Calibri"/>
              <a:ea typeface="Calibri"/>
              <a:cs typeface="Calibri"/>
              <a:sym typeface="Calibri"/>
            </a:endParaRPr>
          </a:p>
        </p:txBody>
      </p:sp>
      <p:sp>
        <p:nvSpPr>
          <p:cNvPr id="474" name="Google Shape;474;p14"/>
          <p:cNvSpPr/>
          <p:nvPr/>
        </p:nvSpPr>
        <p:spPr>
          <a:xfrm>
            <a:off x="5286375" y="6299597"/>
            <a:ext cx="3514725" cy="9525"/>
          </a:xfrm>
          <a:prstGeom prst="rect">
            <a:avLst/>
          </a:prstGeom>
          <a:solidFill>
            <a:srgbClr val="3D3D3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14"/>
          <p:cNvSpPr/>
          <p:nvPr/>
        </p:nvSpPr>
        <p:spPr>
          <a:xfrm>
            <a:off x="5286375" y="6442472"/>
            <a:ext cx="3866198" cy="32861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FFFFF"/>
              </a:buClr>
              <a:buSzPts val="1875"/>
              <a:buFont typeface="Montserrat"/>
              <a:buNone/>
            </a:pPr>
            <a:r>
              <a:rPr b="1" i="0" lang="en-US" sz="1875" u="none" cap="none" strike="noStrike">
                <a:solidFill>
                  <a:srgbClr val="FFFFFF"/>
                </a:solidFill>
                <a:latin typeface="Montserrat"/>
                <a:ea typeface="Montserrat"/>
                <a:cs typeface="Montserrat"/>
                <a:sym typeface="Montserrat"/>
              </a:rPr>
              <a:t>✓ Cataract</a:t>
            </a:r>
            <a:endParaRPr b="0" i="0" sz="1875" u="none" cap="none" strike="noStrike">
              <a:solidFill>
                <a:schemeClr val="dk1"/>
              </a:solidFill>
              <a:latin typeface="Calibri"/>
              <a:ea typeface="Calibri"/>
              <a:cs typeface="Calibri"/>
              <a:sym typeface="Calibri"/>
            </a:endParaRPr>
          </a:p>
        </p:txBody>
      </p:sp>
      <p:sp>
        <p:nvSpPr>
          <p:cNvPr id="476" name="Google Shape;476;p14"/>
          <p:cNvSpPr/>
          <p:nvPr/>
        </p:nvSpPr>
        <p:spPr>
          <a:xfrm>
            <a:off x="5286375" y="6771084"/>
            <a:ext cx="3866198" cy="358080"/>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E5E5E5"/>
              </a:buClr>
              <a:buSzPts val="1800"/>
              <a:buFont typeface="Montserrat"/>
              <a:buNone/>
            </a:pPr>
            <a:r>
              <a:rPr b="0" i="0" lang="en-US" sz="1800" u="none" cap="none" strike="noStrike">
                <a:solidFill>
                  <a:srgbClr val="E5E5E5"/>
                </a:solidFill>
                <a:latin typeface="Montserrat"/>
                <a:ea typeface="Montserrat"/>
                <a:cs typeface="Montserrat"/>
                <a:sym typeface="Montserrat"/>
              </a:rPr>
              <a:t>No significant signs detected</a:t>
            </a:r>
            <a:endParaRPr b="0" i="0" sz="1800" u="none" cap="none" strike="noStrike">
              <a:solidFill>
                <a:schemeClr val="dk1"/>
              </a:solidFill>
              <a:latin typeface="Calibri"/>
              <a:ea typeface="Calibri"/>
              <a:cs typeface="Calibri"/>
              <a:sym typeface="Calibri"/>
            </a:endParaRPr>
          </a:p>
        </p:txBody>
      </p:sp>
      <p:sp>
        <p:nvSpPr>
          <p:cNvPr id="477" name="Google Shape;477;p14"/>
          <p:cNvSpPr/>
          <p:nvPr/>
        </p:nvSpPr>
        <p:spPr>
          <a:xfrm>
            <a:off x="5286375" y="7224415"/>
            <a:ext cx="3866198" cy="39528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0A58C"/>
              </a:buClr>
              <a:buSzPts val="1875"/>
              <a:buFont typeface="Montserrat"/>
              <a:buNone/>
            </a:pPr>
            <a:r>
              <a:rPr b="1" i="0" lang="en-US" sz="1875" u="none" cap="none" strike="noStrike">
                <a:solidFill>
                  <a:srgbClr val="F0A58C"/>
                </a:solidFill>
                <a:latin typeface="Montserrat"/>
                <a:ea typeface="Montserrat"/>
                <a:cs typeface="Montserrat"/>
                <a:sym typeface="Montserrat"/>
              </a:rPr>
              <a:t>⚠ Glaucoma</a:t>
            </a:r>
            <a:endParaRPr b="0" i="0" sz="1875" u="none" cap="none" strike="noStrike">
              <a:solidFill>
                <a:schemeClr val="dk1"/>
              </a:solidFill>
              <a:latin typeface="Calibri"/>
              <a:ea typeface="Calibri"/>
              <a:cs typeface="Calibri"/>
              <a:sym typeface="Calibri"/>
            </a:endParaRPr>
          </a:p>
        </p:txBody>
      </p:sp>
      <p:sp>
        <p:nvSpPr>
          <p:cNvPr id="478" name="Google Shape;478;p14"/>
          <p:cNvSpPr/>
          <p:nvPr/>
        </p:nvSpPr>
        <p:spPr>
          <a:xfrm>
            <a:off x="5286375" y="7619702"/>
            <a:ext cx="3620167" cy="678061"/>
          </a:xfrm>
          <a:prstGeom prst="rect">
            <a:avLst/>
          </a:prstGeom>
          <a:noFill/>
          <a:ln>
            <a:noFill/>
          </a:ln>
        </p:spPr>
        <p:txBody>
          <a:bodyPr anchorCtr="0" anchor="t" bIns="25400" lIns="25400" spcFirstLastPara="1" rIns="25400" wrap="square" tIns="25400">
            <a:noAutofit/>
          </a:bodyPr>
          <a:lstStyle/>
          <a:p>
            <a:pPr indent="0" lvl="0" marL="0" marR="0" rtl="0" algn="l">
              <a:lnSpc>
                <a:spcPct val="115862"/>
              </a:lnSpc>
              <a:spcBef>
                <a:spcPts val="0"/>
              </a:spcBef>
              <a:spcAft>
                <a:spcPts val="0"/>
              </a:spcAft>
              <a:buClr>
                <a:srgbClr val="E5E5E5"/>
              </a:buClr>
              <a:buSzPts val="1800"/>
              <a:buFont typeface="Montserrat"/>
              <a:buNone/>
            </a:pPr>
            <a:r>
              <a:rPr b="0" i="0" lang="en-US" sz="1800" u="none" cap="none" strike="noStrike">
                <a:solidFill>
                  <a:srgbClr val="E5E5E5"/>
                </a:solidFill>
                <a:latin typeface="Montserrat"/>
                <a:ea typeface="Montserrat"/>
                <a:cs typeface="Montserrat"/>
                <a:sym typeface="Montserrat"/>
              </a:rPr>
              <a:t>Possible elevated risk (Refer for further evaluation)</a:t>
            </a:r>
            <a:endParaRPr b="0" i="0" sz="1800" u="none" cap="none" strike="noStrike">
              <a:solidFill>
                <a:schemeClr val="dk1"/>
              </a:solidFill>
              <a:latin typeface="Calibri"/>
              <a:ea typeface="Calibri"/>
              <a:cs typeface="Calibri"/>
              <a:sym typeface="Calibri"/>
            </a:endParaRPr>
          </a:p>
        </p:txBody>
      </p:sp>
      <p:sp>
        <p:nvSpPr>
          <p:cNvPr id="479" name="Google Shape;479;p14"/>
          <p:cNvSpPr/>
          <p:nvPr/>
        </p:nvSpPr>
        <p:spPr>
          <a:xfrm>
            <a:off x="9258300" y="1819275"/>
            <a:ext cx="360759"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03</a:t>
            </a:r>
            <a:endParaRPr b="0" i="0" sz="1800" u="none" cap="none" strike="noStrike">
              <a:solidFill>
                <a:schemeClr val="dk1"/>
              </a:solidFill>
              <a:latin typeface="Calibri"/>
              <a:ea typeface="Calibri"/>
              <a:cs typeface="Calibri"/>
              <a:sym typeface="Calibri"/>
            </a:endParaRPr>
          </a:p>
        </p:txBody>
      </p:sp>
      <p:sp>
        <p:nvSpPr>
          <p:cNvPr id="480" name="Google Shape;480;p14"/>
          <p:cNvSpPr/>
          <p:nvPr/>
        </p:nvSpPr>
        <p:spPr>
          <a:xfrm>
            <a:off x="9676209" y="1819275"/>
            <a:ext cx="1234827"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REVIEW</a:t>
            </a:r>
            <a:endParaRPr b="0" i="0" sz="1800" u="none" cap="none" strike="noStrike">
              <a:solidFill>
                <a:schemeClr val="dk1"/>
              </a:solidFill>
              <a:latin typeface="Calibri"/>
              <a:ea typeface="Calibri"/>
              <a:cs typeface="Calibri"/>
              <a:sym typeface="Calibri"/>
            </a:endParaRPr>
          </a:p>
        </p:txBody>
      </p:sp>
      <p:sp>
        <p:nvSpPr>
          <p:cNvPr id="481" name="Google Shape;481;p14"/>
          <p:cNvSpPr/>
          <p:nvPr/>
        </p:nvSpPr>
        <p:spPr>
          <a:xfrm>
            <a:off x="9258300" y="2247900"/>
            <a:ext cx="3971925" cy="28575"/>
          </a:xfrm>
          <a:prstGeom prst="rect">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82" name="Google Shape;482;p14"/>
          <p:cNvPicPr preferRelativeResize="0"/>
          <p:nvPr/>
        </p:nvPicPr>
        <p:blipFill rotWithShape="1">
          <a:blip r:embed="rId7">
            <a:alphaModFix/>
          </a:blip>
          <a:srcRect b="0" l="13078" r="13078" t="0"/>
          <a:stretch/>
        </p:blipFill>
        <p:spPr>
          <a:xfrm>
            <a:off x="9258300" y="2428875"/>
            <a:ext cx="3971925" cy="5637907"/>
          </a:xfrm>
          <a:prstGeom prst="rect">
            <a:avLst/>
          </a:prstGeom>
          <a:noFill/>
          <a:ln>
            <a:noFill/>
          </a:ln>
        </p:spPr>
      </p:pic>
      <p:sp>
        <p:nvSpPr>
          <p:cNvPr id="483" name="Google Shape;483;p14"/>
          <p:cNvSpPr/>
          <p:nvPr/>
        </p:nvSpPr>
        <p:spPr>
          <a:xfrm>
            <a:off x="9258300" y="8219182"/>
            <a:ext cx="3971925" cy="1382018"/>
          </a:xfrm>
          <a:prstGeom prst="roundRect">
            <a:avLst>
              <a:gd fmla="val 11027"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14"/>
          <p:cNvSpPr/>
          <p:nvPr/>
        </p:nvSpPr>
        <p:spPr>
          <a:xfrm>
            <a:off x="9467850" y="8428732"/>
            <a:ext cx="3908107" cy="372368"/>
          </a:xfrm>
          <a:prstGeom prst="rect">
            <a:avLst/>
          </a:prstGeom>
          <a:noFill/>
          <a:ln>
            <a:noFill/>
          </a:ln>
        </p:spPr>
        <p:txBody>
          <a:bodyPr anchorCtr="0" anchor="t" bIns="25400" lIns="25400" spcFirstLastPara="1" rIns="25400" wrap="square" tIns="25400">
            <a:noAutofit/>
          </a:bodyPr>
          <a:lstStyle/>
          <a:p>
            <a:pPr indent="0" lvl="0" marL="0" marR="0" rtl="0" algn="l">
              <a:lnSpc>
                <a:spcPct val="111429"/>
              </a:lnSpc>
              <a:spcBef>
                <a:spcPts val="0"/>
              </a:spcBef>
              <a:spcAft>
                <a:spcPts val="0"/>
              </a:spcAft>
              <a:buClr>
                <a:srgbClr val="111111"/>
              </a:buClr>
              <a:buSzPts val="1950"/>
              <a:buFont typeface="Montserrat"/>
              <a:buNone/>
            </a:pPr>
            <a:r>
              <a:rPr b="0" i="0" lang="en-US" sz="1950" u="none" cap="none" strike="noStrike">
                <a:solidFill>
                  <a:srgbClr val="111111"/>
                </a:solidFill>
                <a:latin typeface="Montserrat"/>
                <a:ea typeface="Montserrat"/>
                <a:cs typeface="Montserrat"/>
                <a:sym typeface="Montserrat"/>
              </a:rPr>
              <a:t>“I’ll review the result.”</a:t>
            </a:r>
            <a:endParaRPr b="0" i="0" sz="1950" u="none" cap="none" strike="noStrike">
              <a:solidFill>
                <a:schemeClr val="dk1"/>
              </a:solidFill>
              <a:latin typeface="Calibri"/>
              <a:ea typeface="Calibri"/>
              <a:cs typeface="Calibri"/>
              <a:sym typeface="Calibri"/>
            </a:endParaRPr>
          </a:p>
        </p:txBody>
      </p:sp>
      <p:sp>
        <p:nvSpPr>
          <p:cNvPr id="485" name="Google Shape;485;p14"/>
          <p:cNvSpPr/>
          <p:nvPr/>
        </p:nvSpPr>
        <p:spPr>
          <a:xfrm>
            <a:off x="9467850" y="8839200"/>
            <a:ext cx="3659410" cy="59055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Dr. Maya </a:t>
            </a:r>
            <a:r>
              <a:rPr b="0" i="0" lang="en-US" sz="1800" u="none" cap="none" strike="noStrike">
                <a:solidFill>
                  <a:srgbClr val="3D3D3D"/>
                </a:solidFill>
                <a:latin typeface="Montserrat"/>
                <a:ea typeface="Montserrat"/>
                <a:cs typeface="Montserrat"/>
                <a:sym typeface="Montserrat"/>
              </a:rPr>
              <a:t>— Primary Care Physician</a:t>
            </a:r>
            <a:endParaRPr b="0" i="0" sz="1800" u="none" cap="none" strike="noStrike">
              <a:solidFill>
                <a:schemeClr val="dk1"/>
              </a:solidFill>
              <a:latin typeface="Calibri"/>
              <a:ea typeface="Calibri"/>
              <a:cs typeface="Calibri"/>
              <a:sym typeface="Calibri"/>
            </a:endParaRPr>
          </a:p>
        </p:txBody>
      </p:sp>
      <p:sp>
        <p:nvSpPr>
          <p:cNvPr id="486" name="Google Shape;486;p14"/>
          <p:cNvSpPr/>
          <p:nvPr/>
        </p:nvSpPr>
        <p:spPr>
          <a:xfrm>
            <a:off x="13458825" y="1819275"/>
            <a:ext cx="385242"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B5573F"/>
              </a:buClr>
              <a:buSzPts val="1800"/>
              <a:buFont typeface="Montserrat"/>
              <a:buNone/>
            </a:pPr>
            <a:r>
              <a:rPr b="1" i="0" lang="en-US" sz="1800" u="none" cap="none" strike="noStrike">
                <a:solidFill>
                  <a:srgbClr val="B5573F"/>
                </a:solidFill>
                <a:latin typeface="Montserrat"/>
                <a:ea typeface="Montserrat"/>
                <a:cs typeface="Montserrat"/>
                <a:sym typeface="Montserrat"/>
              </a:rPr>
              <a:t>04</a:t>
            </a:r>
            <a:endParaRPr b="0" i="0" sz="1800" u="none" cap="none" strike="noStrike">
              <a:solidFill>
                <a:schemeClr val="dk1"/>
              </a:solidFill>
              <a:latin typeface="Calibri"/>
              <a:ea typeface="Calibri"/>
              <a:cs typeface="Calibri"/>
              <a:sym typeface="Calibri"/>
            </a:endParaRPr>
          </a:p>
        </p:txBody>
      </p:sp>
      <p:sp>
        <p:nvSpPr>
          <p:cNvPr id="487" name="Google Shape;487;p14"/>
          <p:cNvSpPr/>
          <p:nvPr/>
        </p:nvSpPr>
        <p:spPr>
          <a:xfrm>
            <a:off x="13901217" y="1819275"/>
            <a:ext cx="1733126"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NEXT STEP</a:t>
            </a:r>
            <a:endParaRPr b="0" i="0" sz="1800" u="none" cap="none" strike="noStrike">
              <a:solidFill>
                <a:schemeClr val="dk1"/>
              </a:solidFill>
              <a:latin typeface="Calibri"/>
              <a:ea typeface="Calibri"/>
              <a:cs typeface="Calibri"/>
              <a:sym typeface="Calibri"/>
            </a:endParaRPr>
          </a:p>
        </p:txBody>
      </p:sp>
      <p:sp>
        <p:nvSpPr>
          <p:cNvPr id="488" name="Google Shape;488;p14"/>
          <p:cNvSpPr/>
          <p:nvPr/>
        </p:nvSpPr>
        <p:spPr>
          <a:xfrm>
            <a:off x="13458825" y="2247900"/>
            <a:ext cx="3971925" cy="28575"/>
          </a:xfrm>
          <a:prstGeom prst="rect">
            <a:avLst/>
          </a:prstGeom>
          <a:solidFill>
            <a:srgbClr val="B55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89" name="Google Shape;489;p14"/>
          <p:cNvPicPr preferRelativeResize="0"/>
          <p:nvPr/>
        </p:nvPicPr>
        <p:blipFill rotWithShape="1">
          <a:blip r:embed="rId4">
            <a:alphaModFix/>
          </a:blip>
          <a:srcRect b="0" l="15837" r="15837" t="0"/>
          <a:stretch/>
        </p:blipFill>
        <p:spPr>
          <a:xfrm>
            <a:off x="13458825" y="2428875"/>
            <a:ext cx="3971925" cy="5914132"/>
          </a:xfrm>
          <a:prstGeom prst="rect">
            <a:avLst/>
          </a:prstGeom>
          <a:noFill/>
          <a:ln>
            <a:noFill/>
          </a:ln>
        </p:spPr>
      </p:pic>
      <p:sp>
        <p:nvSpPr>
          <p:cNvPr id="490" name="Google Shape;490;p14"/>
          <p:cNvSpPr/>
          <p:nvPr/>
        </p:nvSpPr>
        <p:spPr>
          <a:xfrm>
            <a:off x="13458825" y="8495407"/>
            <a:ext cx="3971925" cy="1105793"/>
          </a:xfrm>
          <a:prstGeom prst="roundRect">
            <a:avLst>
              <a:gd fmla="val 13782" name="adj"/>
            </a:avLst>
          </a:prstGeom>
          <a:solidFill>
            <a:srgbClr val="FDF4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14"/>
          <p:cNvSpPr/>
          <p:nvPr/>
        </p:nvSpPr>
        <p:spPr>
          <a:xfrm>
            <a:off x="13668375" y="8704957"/>
            <a:ext cx="3908107" cy="372368"/>
          </a:xfrm>
          <a:prstGeom prst="rect">
            <a:avLst/>
          </a:prstGeom>
          <a:noFill/>
          <a:ln>
            <a:noFill/>
          </a:ln>
        </p:spPr>
        <p:txBody>
          <a:bodyPr anchorCtr="0" anchor="t" bIns="25400" lIns="25400" spcFirstLastPara="1" rIns="25400" wrap="square" tIns="25400">
            <a:noAutofit/>
          </a:bodyPr>
          <a:lstStyle/>
          <a:p>
            <a:pPr indent="0" lvl="0" marL="0" marR="0" rtl="0" algn="l">
              <a:lnSpc>
                <a:spcPct val="111429"/>
              </a:lnSpc>
              <a:spcBef>
                <a:spcPts val="0"/>
              </a:spcBef>
              <a:spcAft>
                <a:spcPts val="0"/>
              </a:spcAft>
              <a:buClr>
                <a:srgbClr val="111111"/>
              </a:buClr>
              <a:buSzPts val="1950"/>
              <a:buFont typeface="Montserrat"/>
              <a:buNone/>
            </a:pPr>
            <a:r>
              <a:rPr b="0" i="0" lang="en-US" sz="1950" u="none" cap="none" strike="noStrike">
                <a:solidFill>
                  <a:srgbClr val="111111"/>
                </a:solidFill>
                <a:latin typeface="Montserrat"/>
                <a:ea typeface="Montserrat"/>
                <a:cs typeface="Montserrat"/>
                <a:sym typeface="Montserrat"/>
              </a:rPr>
              <a:t>“Now I know my next step.”</a:t>
            </a:r>
            <a:endParaRPr b="0" i="0" sz="1950" u="none" cap="none" strike="noStrike">
              <a:solidFill>
                <a:schemeClr val="dk1"/>
              </a:solidFill>
              <a:latin typeface="Calibri"/>
              <a:ea typeface="Calibri"/>
              <a:cs typeface="Calibri"/>
              <a:sym typeface="Calibri"/>
            </a:endParaRPr>
          </a:p>
        </p:txBody>
      </p:sp>
      <p:sp>
        <p:nvSpPr>
          <p:cNvPr id="492" name="Google Shape;492;p14"/>
          <p:cNvSpPr/>
          <p:nvPr/>
        </p:nvSpPr>
        <p:spPr>
          <a:xfrm>
            <a:off x="13668375" y="9115425"/>
            <a:ext cx="3908107"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800"/>
              <a:buFont typeface="Montserrat"/>
              <a:buNone/>
            </a:pPr>
            <a:r>
              <a:rPr b="1" i="0" lang="en-US" sz="1800" u="none" cap="none" strike="noStrike">
                <a:solidFill>
                  <a:srgbClr val="111111"/>
                </a:solidFill>
                <a:latin typeface="Montserrat"/>
                <a:ea typeface="Montserrat"/>
                <a:cs typeface="Montserrat"/>
                <a:sym typeface="Montserrat"/>
              </a:rPr>
              <a:t>Helen </a:t>
            </a:r>
            <a:r>
              <a:rPr b="0" i="0" lang="en-US" sz="1800" u="none" cap="none" strike="noStrike">
                <a:solidFill>
                  <a:srgbClr val="3D3D3D"/>
                </a:solidFill>
                <a:latin typeface="Montserrat"/>
                <a:ea typeface="Montserrat"/>
                <a:cs typeface="Montserrat"/>
                <a:sym typeface="Montserrat"/>
              </a:rPr>
              <a:t>— Patient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6" name="Shape 496"/>
        <p:cNvGrpSpPr/>
        <p:nvPr/>
      </p:nvGrpSpPr>
      <p:grpSpPr>
        <a:xfrm>
          <a:off x="0" y="0"/>
          <a:ext cx="0" cy="0"/>
          <a:chOff x="0" y="0"/>
          <a:chExt cx="0" cy="0"/>
        </a:xfrm>
      </p:grpSpPr>
      <p:sp>
        <p:nvSpPr>
          <p:cNvPr id="497" name="Google Shape;497;h4b3dc0f200666b78_0_5"/>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h4b3dc0f200666b78_0_5"/>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06 · MVP</a:t>
            </a:r>
            <a:endParaRPr b="0" i="0" sz="1800" u="none" cap="none" strike="noStrike">
              <a:solidFill>
                <a:schemeClr val="dk1"/>
              </a:solidFill>
              <a:latin typeface="Montserrat"/>
              <a:ea typeface="Montserrat"/>
              <a:cs typeface="Montserrat"/>
              <a:sym typeface="Montserrat"/>
            </a:endParaRPr>
          </a:p>
        </p:txBody>
      </p:sp>
      <p:sp>
        <p:nvSpPr>
          <p:cNvPr id="499" name="Google Shape;499;h4b3dc0f200666b78_0_5"/>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Minimum viable product</a:t>
            </a:r>
            <a:endParaRPr b="0" i="0" sz="4200" u="none" cap="none" strike="noStrike">
              <a:solidFill>
                <a:schemeClr val="dk1"/>
              </a:solidFill>
              <a:latin typeface="Montserrat"/>
              <a:ea typeface="Montserrat"/>
              <a:cs typeface="Montserrat"/>
              <a:sym typeface="Montserrat"/>
            </a:endParaRPr>
          </a:p>
        </p:txBody>
      </p:sp>
      <p:pic>
        <p:nvPicPr>
          <p:cNvPr descr="preencoded.png" id="500" name="Google Shape;500;h4b3dc0f200666b78_0_5"/>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sp>
        <p:nvSpPr>
          <p:cNvPr id="501" name="Google Shape;501;h4b3dc0f200666b78_0_5"/>
          <p:cNvSpPr txBox="1"/>
          <p:nvPr/>
        </p:nvSpPr>
        <p:spPr>
          <a:xfrm>
            <a:off x="1047750" y="2450000"/>
            <a:ext cx="16192500" cy="500100"/>
          </a:xfrm>
          <a:prstGeom prst="rect">
            <a:avLst/>
          </a:prstGeom>
          <a:noFill/>
          <a:ln>
            <a:noFill/>
          </a:ln>
        </p:spPr>
        <p:txBody>
          <a:bodyPr anchorCtr="0" anchor="t" bIns="0" lIns="0" spcFirstLastPara="1" rIns="0" wrap="square" tIns="0">
            <a:normAutofit fontScale="25000" lnSpcReduction="20000"/>
          </a:bodyPr>
          <a:lstStyle/>
          <a:p>
            <a:pPr indent="0" lvl="0" marL="0" rtl="0" algn="l">
              <a:lnSpc>
                <a:spcPct val="115000"/>
              </a:lnSpc>
              <a:spcBef>
                <a:spcPts val="0"/>
              </a:spcBef>
              <a:spcAft>
                <a:spcPts val="0"/>
              </a:spcAft>
              <a:buClr>
                <a:schemeClr val="dk1"/>
              </a:buClr>
              <a:buSzPct val="37288"/>
              <a:buFont typeface="Arial"/>
              <a:buNone/>
            </a:pPr>
            <a:r>
              <a:rPr b="1" lang="en-US" sz="2950">
                <a:solidFill>
                  <a:srgbClr val="111111"/>
                </a:solidFill>
                <a:latin typeface="Montserrat"/>
                <a:ea typeface="Montserrat"/>
                <a:cs typeface="Montserrat"/>
                <a:sym typeface="Montserrat"/>
              </a:rPr>
              <a:t>                 </a:t>
            </a:r>
            <a:r>
              <a:rPr b="1" lang="en-US" sz="10400">
                <a:solidFill>
                  <a:srgbClr val="111111"/>
                </a:solidFill>
                <a:latin typeface="Montserrat"/>
                <a:ea typeface="Montserrat"/>
                <a:cs typeface="Montserrat"/>
                <a:sym typeface="Montserrat"/>
              </a:rPr>
              <a:t>                 One photo.               Two screening results.                A clear next step.</a:t>
            </a:r>
            <a:endParaRPr b="1" sz="10400">
              <a:solidFill>
                <a:srgbClr val="11111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563"/>
              <a:buFont typeface="Arial"/>
              <a:buNone/>
            </a:pPr>
            <a:r>
              <a:t/>
            </a:r>
            <a:endParaRPr b="1" sz="10400">
              <a:solidFill>
                <a:srgbClr val="111111"/>
              </a:solidFill>
              <a:latin typeface="Montserrat"/>
              <a:ea typeface="Montserrat"/>
              <a:cs typeface="Montserrat"/>
              <a:sym typeface="Montserrat"/>
            </a:endParaRPr>
          </a:p>
        </p:txBody>
      </p:sp>
      <p:sp>
        <p:nvSpPr>
          <p:cNvPr id="502" name="Google Shape;502;h4b3dc0f200666b78_0_5"/>
          <p:cNvSpPr/>
          <p:nvPr/>
        </p:nvSpPr>
        <p:spPr>
          <a:xfrm>
            <a:off x="1047750" y="3200000"/>
            <a:ext cx="7899900" cy="4899900"/>
          </a:xfrm>
          <a:prstGeom prst="roundRect">
            <a:avLst>
              <a:gd fmla="val 16667" name="adj"/>
            </a:avLst>
          </a:prstGeom>
          <a:solidFill>
            <a:srgbClr val="F7F9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h4b3dc0f200666b78_0_5"/>
          <p:cNvSpPr/>
          <p:nvPr/>
        </p:nvSpPr>
        <p:spPr>
          <a:xfrm>
            <a:off x="9340250" y="3200000"/>
            <a:ext cx="7899900" cy="4899900"/>
          </a:xfrm>
          <a:prstGeom prst="roundRect">
            <a:avLst>
              <a:gd fmla="val 16667" name="adj"/>
            </a:avLst>
          </a:prstGeom>
          <a:solidFill>
            <a:srgbClr val="FDF4F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sz="1700">
              <a:solidFill>
                <a:srgbClr val="111111"/>
              </a:solidFill>
              <a:latin typeface="Montserrat"/>
              <a:ea typeface="Montserrat"/>
              <a:cs typeface="Montserrat"/>
              <a:sym typeface="Montserrat"/>
            </a:endParaRPr>
          </a:p>
        </p:txBody>
      </p:sp>
      <p:sp>
        <p:nvSpPr>
          <p:cNvPr id="504" name="Google Shape;504;h4b3dc0f200666b78_0_5"/>
          <p:cNvSpPr/>
          <p:nvPr/>
        </p:nvSpPr>
        <p:spPr>
          <a:xfrm>
            <a:off x="7447650" y="8447575"/>
            <a:ext cx="1500000" cy="420000"/>
          </a:xfrm>
          <a:prstGeom prst="roundRect">
            <a:avLst>
              <a:gd fmla="val 16667" name="adj"/>
            </a:avLst>
          </a:prstGeom>
          <a:solidFill>
            <a:srgbClr val="1E6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5" name="Google Shape;505;h4b3dc0f200666b78_0_5"/>
          <p:cNvSpPr txBox="1"/>
          <p:nvPr/>
        </p:nvSpPr>
        <p:spPr>
          <a:xfrm>
            <a:off x="7447650" y="8447575"/>
            <a:ext cx="1500000" cy="4200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Montserrat"/>
                <a:ea typeface="Montserrat"/>
                <a:cs typeface="Montserrat"/>
                <a:sym typeface="Montserrat"/>
              </a:rPr>
              <a:t>Sprint 2</a:t>
            </a:r>
            <a:endParaRPr/>
          </a:p>
        </p:txBody>
      </p:sp>
      <p:sp>
        <p:nvSpPr>
          <p:cNvPr id="506" name="Google Shape;506;h4b3dc0f200666b78_0_5"/>
          <p:cNvSpPr/>
          <p:nvPr/>
        </p:nvSpPr>
        <p:spPr>
          <a:xfrm>
            <a:off x="1256275" y="8447575"/>
            <a:ext cx="1500000" cy="420000"/>
          </a:xfrm>
          <a:prstGeom prst="roundRect">
            <a:avLst>
              <a:gd fmla="val 16667" name="adj"/>
            </a:avLst>
          </a:pr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h4b3dc0f200666b78_0_5"/>
          <p:cNvSpPr txBox="1"/>
          <p:nvPr/>
        </p:nvSpPr>
        <p:spPr>
          <a:xfrm>
            <a:off x="1256275" y="8447572"/>
            <a:ext cx="1500000" cy="4200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3D3D3D"/>
                </a:solidFill>
                <a:latin typeface="Montserrat"/>
                <a:ea typeface="Montserrat"/>
                <a:cs typeface="Montserrat"/>
                <a:sym typeface="Montserrat"/>
              </a:rPr>
              <a:t>Sprint 1</a:t>
            </a:r>
            <a:endParaRPr/>
          </a:p>
        </p:txBody>
      </p:sp>
      <p:sp>
        <p:nvSpPr>
          <p:cNvPr id="508" name="Google Shape;508;h4b3dc0f200666b78_0_5"/>
          <p:cNvSpPr/>
          <p:nvPr/>
        </p:nvSpPr>
        <p:spPr>
          <a:xfrm>
            <a:off x="13639025" y="8447575"/>
            <a:ext cx="1500000" cy="420000"/>
          </a:xfrm>
          <a:prstGeom prst="roundRect">
            <a:avLst>
              <a:gd fmla="val 16667" name="adj"/>
            </a:avLst>
          </a:prstGeom>
          <a:solidFill>
            <a:srgbClr val="B5573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h4b3dc0f200666b78_0_5"/>
          <p:cNvSpPr txBox="1"/>
          <p:nvPr/>
        </p:nvSpPr>
        <p:spPr>
          <a:xfrm>
            <a:off x="13639025" y="8447575"/>
            <a:ext cx="1500000" cy="420000"/>
          </a:xfrm>
          <a:prstGeom prst="rect">
            <a:avLst/>
          </a:prstGeom>
          <a:noFill/>
          <a:ln>
            <a:noFill/>
          </a:ln>
        </p:spPr>
        <p:txBody>
          <a:bodyPr anchorCtr="0" anchor="ctr" bIns="0" lIns="0" spcFirstLastPara="1" rIns="0" wrap="square" tIns="0">
            <a:norm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FFFFF"/>
                </a:solidFill>
                <a:latin typeface="Montserrat"/>
                <a:ea typeface="Montserrat"/>
                <a:cs typeface="Montserrat"/>
                <a:sym typeface="Montserrat"/>
              </a:rPr>
              <a:t>Sprint 3</a:t>
            </a:r>
            <a:endParaRPr/>
          </a:p>
        </p:txBody>
      </p:sp>
      <p:pic>
        <p:nvPicPr>
          <p:cNvPr id="510" name="Google Shape;510;h4b3dc0f200666b78_0_5"/>
          <p:cNvPicPr preferRelativeResize="0"/>
          <p:nvPr/>
        </p:nvPicPr>
        <p:blipFill>
          <a:blip r:embed="rId4">
            <a:alphaModFix/>
          </a:blip>
          <a:stretch>
            <a:fillRect/>
          </a:stretch>
        </p:blipFill>
        <p:spPr>
          <a:xfrm>
            <a:off x="2933225" y="3443201"/>
            <a:ext cx="3849120" cy="3807725"/>
          </a:xfrm>
          <a:prstGeom prst="rect">
            <a:avLst/>
          </a:prstGeom>
          <a:solidFill>
            <a:srgbClr val="F7F9FB"/>
          </a:solidFill>
          <a:ln>
            <a:noFill/>
          </a:ln>
        </p:spPr>
      </p:pic>
      <p:sp>
        <p:nvSpPr>
          <p:cNvPr id="511" name="Google Shape;511;h4b3dc0f200666b78_0_5"/>
          <p:cNvSpPr txBox="1"/>
          <p:nvPr/>
        </p:nvSpPr>
        <p:spPr>
          <a:xfrm>
            <a:off x="2682661" y="7325381"/>
            <a:ext cx="5594400" cy="50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750">
                <a:solidFill>
                  <a:srgbClr val="555555"/>
                </a:solidFill>
                <a:latin typeface="Montserrat"/>
                <a:ea typeface="Montserrat"/>
                <a:cs typeface="Montserrat"/>
                <a:sym typeface="Montserrat"/>
              </a:rPr>
              <a:t>Example fundus photo from ODIR-5K</a:t>
            </a:r>
            <a:endParaRPr sz="1750">
              <a:solidFill>
                <a:srgbClr val="555555"/>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512" name="Google Shape;512;h4b3dc0f200666b78_0_5"/>
          <p:cNvSpPr txBox="1"/>
          <p:nvPr/>
        </p:nvSpPr>
        <p:spPr>
          <a:xfrm>
            <a:off x="9798300" y="3909500"/>
            <a:ext cx="752400" cy="77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3400">
                <a:solidFill>
                  <a:srgbClr val="2171C6"/>
                </a:solidFill>
                <a:latin typeface="Montserrat"/>
                <a:ea typeface="Montserrat"/>
                <a:cs typeface="Montserrat"/>
                <a:sym typeface="Montserrat"/>
              </a:rPr>
              <a:t>01</a:t>
            </a:r>
            <a:endParaRPr b="1" sz="3400">
              <a:solidFill>
                <a:srgbClr val="2171C6"/>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513" name="Google Shape;513;h4b3dc0f200666b78_0_5"/>
          <p:cNvSpPr txBox="1"/>
          <p:nvPr/>
        </p:nvSpPr>
        <p:spPr>
          <a:xfrm>
            <a:off x="9819838" y="5206945"/>
            <a:ext cx="752400" cy="77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3400">
                <a:solidFill>
                  <a:srgbClr val="2171C6"/>
                </a:solidFill>
                <a:latin typeface="Montserrat"/>
                <a:ea typeface="Montserrat"/>
                <a:cs typeface="Montserrat"/>
                <a:sym typeface="Montserrat"/>
              </a:rPr>
              <a:t>02</a:t>
            </a:r>
            <a:endParaRPr b="1" sz="3400">
              <a:solidFill>
                <a:srgbClr val="2171C6"/>
              </a:solidFill>
              <a:latin typeface="Montserrat"/>
              <a:ea typeface="Montserrat"/>
              <a:cs typeface="Montserrat"/>
              <a:sym typeface="Montserrat"/>
            </a:endParaRPr>
          </a:p>
          <a:p>
            <a:pPr indent="0" lvl="0" marL="0" rtl="0" algn="l">
              <a:spcBef>
                <a:spcPts val="0"/>
              </a:spcBef>
              <a:spcAft>
                <a:spcPts val="0"/>
              </a:spcAft>
              <a:buNone/>
            </a:pPr>
            <a:r>
              <a:t/>
            </a:r>
            <a:endParaRPr b="1" sz="3400">
              <a:solidFill>
                <a:srgbClr val="2171C6"/>
              </a:solidFill>
              <a:latin typeface="Montserrat"/>
              <a:ea typeface="Montserrat"/>
              <a:cs typeface="Montserrat"/>
              <a:sym typeface="Montserrat"/>
            </a:endParaRPr>
          </a:p>
        </p:txBody>
      </p:sp>
      <p:sp>
        <p:nvSpPr>
          <p:cNvPr id="514" name="Google Shape;514;h4b3dc0f200666b78_0_5"/>
          <p:cNvSpPr txBox="1"/>
          <p:nvPr/>
        </p:nvSpPr>
        <p:spPr>
          <a:xfrm>
            <a:off x="9841375" y="6602536"/>
            <a:ext cx="752400" cy="77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3400">
                <a:solidFill>
                  <a:srgbClr val="2171C6"/>
                </a:solidFill>
                <a:latin typeface="Montserrat"/>
                <a:ea typeface="Montserrat"/>
                <a:cs typeface="Montserrat"/>
                <a:sym typeface="Montserrat"/>
              </a:rPr>
              <a:t>03</a:t>
            </a:r>
            <a:endParaRPr b="1" sz="3400">
              <a:solidFill>
                <a:srgbClr val="2171C6"/>
              </a:solidFill>
              <a:latin typeface="Montserrat"/>
              <a:ea typeface="Montserrat"/>
              <a:cs typeface="Montserrat"/>
              <a:sym typeface="Montserrat"/>
            </a:endParaRPr>
          </a:p>
          <a:p>
            <a:pPr indent="0" lvl="0" marL="0" rtl="0" algn="l">
              <a:spcBef>
                <a:spcPts val="0"/>
              </a:spcBef>
              <a:spcAft>
                <a:spcPts val="0"/>
              </a:spcAft>
              <a:buNone/>
            </a:pPr>
            <a:r>
              <a:t/>
            </a:r>
            <a:endParaRPr b="1" sz="3400">
              <a:solidFill>
                <a:srgbClr val="2171C6"/>
              </a:solidFill>
              <a:latin typeface="Montserrat"/>
              <a:ea typeface="Montserrat"/>
              <a:cs typeface="Montserrat"/>
              <a:sym typeface="Montserrat"/>
            </a:endParaRPr>
          </a:p>
        </p:txBody>
      </p:sp>
      <p:sp>
        <p:nvSpPr>
          <p:cNvPr id="515" name="Google Shape;515;h4b3dc0f200666b78_0_5"/>
          <p:cNvSpPr txBox="1"/>
          <p:nvPr/>
        </p:nvSpPr>
        <p:spPr>
          <a:xfrm>
            <a:off x="10877925" y="3958580"/>
            <a:ext cx="5381700" cy="50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700">
                <a:solidFill>
                  <a:srgbClr val="111111"/>
                </a:solidFill>
                <a:latin typeface="Montserrat"/>
                <a:ea typeface="Montserrat"/>
                <a:cs typeface="Montserrat"/>
                <a:sym typeface="Montserrat"/>
              </a:rPr>
              <a:t>Upload one eye photo</a:t>
            </a:r>
            <a:endParaRPr b="1" sz="27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516" name="Google Shape;516;h4b3dc0f200666b78_0_5"/>
          <p:cNvSpPr txBox="1"/>
          <p:nvPr/>
        </p:nvSpPr>
        <p:spPr>
          <a:xfrm>
            <a:off x="10877928" y="5321456"/>
            <a:ext cx="5381700" cy="50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700">
                <a:solidFill>
                  <a:srgbClr val="111111"/>
                </a:solidFill>
                <a:latin typeface="Montserrat"/>
                <a:ea typeface="Montserrat"/>
                <a:cs typeface="Montserrat"/>
                <a:sym typeface="Montserrat"/>
              </a:rPr>
              <a:t>View both screening results</a:t>
            </a:r>
            <a:endParaRPr b="1" sz="27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b="1" sz="2700">
              <a:solidFill>
                <a:srgbClr val="111111"/>
              </a:solidFill>
              <a:latin typeface="Montserrat"/>
              <a:ea typeface="Montserrat"/>
              <a:cs typeface="Montserrat"/>
              <a:sym typeface="Montserrat"/>
            </a:endParaRPr>
          </a:p>
        </p:txBody>
      </p:sp>
      <p:sp>
        <p:nvSpPr>
          <p:cNvPr id="517" name="Google Shape;517;h4b3dc0f200666b78_0_5"/>
          <p:cNvSpPr txBox="1"/>
          <p:nvPr/>
        </p:nvSpPr>
        <p:spPr>
          <a:xfrm>
            <a:off x="10915875" y="6684325"/>
            <a:ext cx="5305800" cy="50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700">
                <a:solidFill>
                  <a:srgbClr val="111111"/>
                </a:solidFill>
                <a:latin typeface="Montserrat"/>
                <a:ea typeface="Montserrat"/>
                <a:cs typeface="Montserrat"/>
                <a:sym typeface="Montserrat"/>
              </a:rPr>
              <a:t>See the referral decision</a:t>
            </a:r>
            <a:endParaRPr b="1" sz="27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b="1" sz="2700">
              <a:solidFill>
                <a:srgbClr val="111111"/>
              </a:solidFill>
              <a:latin typeface="Montserrat"/>
              <a:ea typeface="Montserrat"/>
              <a:cs typeface="Montserrat"/>
              <a:sym typeface="Montserrat"/>
            </a:endParaRPr>
          </a:p>
        </p:txBody>
      </p:sp>
      <p:sp>
        <p:nvSpPr>
          <p:cNvPr id="518" name="Google Shape;518;h4b3dc0f200666b78_0_5"/>
          <p:cNvSpPr txBox="1"/>
          <p:nvPr/>
        </p:nvSpPr>
        <p:spPr>
          <a:xfrm>
            <a:off x="10877925" y="4514746"/>
            <a:ext cx="6362400" cy="42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700">
                <a:solidFill>
                  <a:srgbClr val="111111"/>
                </a:solidFill>
                <a:latin typeface="Montserrat"/>
                <a:ea typeface="Montserrat"/>
                <a:cs typeface="Montserrat"/>
                <a:sym typeface="Montserrat"/>
              </a:rPr>
              <a:t>Choose the patient and left or right eye.</a:t>
            </a:r>
            <a:endParaRPr sz="17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sz="1700"/>
          </a:p>
        </p:txBody>
      </p:sp>
      <p:sp>
        <p:nvSpPr>
          <p:cNvPr id="519" name="Google Shape;519;h4b3dc0f200666b78_0_5"/>
          <p:cNvSpPr txBox="1"/>
          <p:nvPr/>
        </p:nvSpPr>
        <p:spPr>
          <a:xfrm>
            <a:off x="10899463" y="5861264"/>
            <a:ext cx="6362400" cy="42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700">
                <a:solidFill>
                  <a:srgbClr val="111111"/>
                </a:solidFill>
                <a:latin typeface="Montserrat"/>
                <a:ea typeface="Montserrat"/>
                <a:cs typeface="Montserrat"/>
                <a:sym typeface="Montserrat"/>
              </a:rPr>
              <a:t>Separate results for cataract and glaucoma.</a:t>
            </a:r>
            <a:endParaRPr sz="225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sz="1700">
              <a:solidFill>
                <a:srgbClr val="111111"/>
              </a:solidFill>
              <a:latin typeface="Montserrat"/>
              <a:ea typeface="Montserrat"/>
              <a:cs typeface="Montserrat"/>
              <a:sym typeface="Montserrat"/>
            </a:endParaRPr>
          </a:p>
        </p:txBody>
      </p:sp>
      <p:sp>
        <p:nvSpPr>
          <p:cNvPr id="520" name="Google Shape;520;h4b3dc0f200666b78_0_5"/>
          <p:cNvSpPr txBox="1"/>
          <p:nvPr/>
        </p:nvSpPr>
        <p:spPr>
          <a:xfrm>
            <a:off x="10921000" y="7207782"/>
            <a:ext cx="6362400" cy="42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700">
                <a:solidFill>
                  <a:srgbClr val="111111"/>
                </a:solidFill>
                <a:latin typeface="Montserrat"/>
                <a:ea typeface="Montserrat"/>
                <a:cs typeface="Montserrat"/>
                <a:sym typeface="Montserrat"/>
              </a:rPr>
              <a:t>No concern, Refer, or Uncertain, refer.</a:t>
            </a:r>
            <a:endParaRPr sz="17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sz="1700">
              <a:solidFill>
                <a:srgbClr val="111111"/>
              </a:solidFill>
              <a:latin typeface="Montserrat"/>
              <a:ea typeface="Montserrat"/>
              <a:cs typeface="Montserrat"/>
              <a:sym typeface="Montserrat"/>
            </a:endParaRPr>
          </a:p>
        </p:txBody>
      </p:sp>
      <p:sp>
        <p:nvSpPr>
          <p:cNvPr id="521" name="Google Shape;521;h4b3dc0f200666b78_0_5"/>
          <p:cNvSpPr txBox="1"/>
          <p:nvPr/>
        </p:nvSpPr>
        <p:spPr>
          <a:xfrm>
            <a:off x="1161415" y="8980414"/>
            <a:ext cx="3484200" cy="77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111111"/>
                </a:solidFill>
                <a:latin typeface="Montserrat"/>
                <a:ea typeface="Montserrat"/>
                <a:cs typeface="Montserrat"/>
                <a:sym typeface="Montserrat"/>
              </a:rPr>
              <a:t>Prototype, trained models</a:t>
            </a:r>
            <a:endParaRPr sz="1800">
              <a:solidFill>
                <a:srgbClr val="11111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800">
                <a:solidFill>
                  <a:srgbClr val="111111"/>
                </a:solidFill>
                <a:latin typeface="Montserrat"/>
                <a:ea typeface="Montserrat"/>
                <a:cs typeface="Montserrat"/>
                <a:sym typeface="Montserrat"/>
              </a:rPr>
              <a:t>Frozen calibration cutoffs</a:t>
            </a:r>
            <a:endParaRPr sz="18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522" name="Google Shape;522;h4b3dc0f200666b78_0_5"/>
          <p:cNvSpPr txBox="1"/>
          <p:nvPr/>
        </p:nvSpPr>
        <p:spPr>
          <a:xfrm>
            <a:off x="7369190" y="9012514"/>
            <a:ext cx="3484200" cy="77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111111"/>
                </a:solidFill>
                <a:latin typeface="Montserrat"/>
                <a:ea typeface="Montserrat"/>
                <a:cs typeface="Montserrat"/>
                <a:sym typeface="Montserrat"/>
              </a:rPr>
              <a:t>Connect the trained model</a:t>
            </a:r>
            <a:endParaRPr sz="1800">
              <a:solidFill>
                <a:srgbClr val="11111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800">
                <a:solidFill>
                  <a:srgbClr val="111111"/>
                </a:solidFill>
                <a:latin typeface="Montserrat"/>
                <a:ea typeface="Montserrat"/>
                <a:cs typeface="Montserrat"/>
                <a:sym typeface="Montserrat"/>
              </a:rPr>
              <a:t>Run external evaluation</a:t>
            </a:r>
            <a:endParaRPr sz="18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sz="1800">
              <a:solidFill>
                <a:srgbClr val="111111"/>
              </a:solidFill>
              <a:latin typeface="Montserrat"/>
              <a:ea typeface="Montserrat"/>
              <a:cs typeface="Montserrat"/>
              <a:sym typeface="Montserrat"/>
            </a:endParaRPr>
          </a:p>
        </p:txBody>
      </p:sp>
      <p:sp>
        <p:nvSpPr>
          <p:cNvPr id="523" name="Google Shape;523;h4b3dc0f200666b78_0_5"/>
          <p:cNvSpPr txBox="1"/>
          <p:nvPr/>
        </p:nvSpPr>
        <p:spPr>
          <a:xfrm>
            <a:off x="13593333" y="9067811"/>
            <a:ext cx="3684900" cy="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800">
                <a:solidFill>
                  <a:srgbClr val="111111"/>
                </a:solidFill>
                <a:latin typeface="Montserrat"/>
                <a:ea typeface="Montserrat"/>
                <a:cs typeface="Montserrat"/>
                <a:sym typeface="Montserrat"/>
              </a:rPr>
              <a:t>Grad-CAM heatmaps</a:t>
            </a:r>
            <a:endParaRPr sz="1800">
              <a:solidFill>
                <a:srgbClr val="11111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800">
                <a:solidFill>
                  <a:srgbClr val="111111"/>
                </a:solidFill>
                <a:latin typeface="Montserrat"/>
                <a:ea typeface="Montserrat"/>
                <a:cs typeface="Montserrat"/>
                <a:sym typeface="Montserrat"/>
              </a:rPr>
              <a:t>Complete app integration</a:t>
            </a:r>
            <a:endParaRPr sz="18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16"/>
          <p:cNvSpPr/>
          <p:nvPr/>
        </p:nvSpPr>
        <p:spPr>
          <a:xfrm>
            <a:off x="521208" y="796488"/>
            <a:ext cx="9000000" cy="34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286DAE"/>
              </a:buClr>
              <a:buSzPts val="1400"/>
              <a:buFont typeface="Inter"/>
              <a:buNone/>
            </a:pPr>
            <a:r>
              <a:rPr b="1" i="0" lang="en-US" sz="1800" u="none" cap="none" strike="noStrike">
                <a:solidFill>
                  <a:srgbClr val="286DAE"/>
                </a:solidFill>
                <a:latin typeface="Montserrat"/>
                <a:ea typeface="Montserrat"/>
                <a:cs typeface="Montserrat"/>
                <a:sym typeface="Montserrat"/>
              </a:rPr>
              <a:t>07 · TECHNOLOGIES</a:t>
            </a:r>
            <a:endParaRPr b="0" i="0" sz="1800" u="none" cap="none" strike="noStrike">
              <a:solidFill>
                <a:schemeClr val="dk1"/>
              </a:solidFill>
              <a:latin typeface="Montserrat"/>
              <a:ea typeface="Montserrat"/>
              <a:cs typeface="Montserrat"/>
              <a:sym typeface="Montserrat"/>
            </a:endParaRPr>
          </a:p>
        </p:txBody>
      </p:sp>
      <p:sp>
        <p:nvSpPr>
          <p:cNvPr id="530" name="Google Shape;530;p16"/>
          <p:cNvSpPr/>
          <p:nvPr/>
        </p:nvSpPr>
        <p:spPr>
          <a:xfrm>
            <a:off x="493775" y="1249125"/>
            <a:ext cx="5386800" cy="8916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B1020"/>
              </a:buClr>
              <a:buSzPts val="6100"/>
              <a:buFont typeface="Georgia"/>
              <a:buNone/>
            </a:pPr>
            <a:r>
              <a:rPr b="1" i="0" lang="en-US" sz="6100" u="none" cap="none" strike="noStrike">
                <a:solidFill>
                  <a:srgbClr val="0B1020"/>
                </a:solidFill>
                <a:latin typeface="Montserrat"/>
                <a:ea typeface="Montserrat"/>
                <a:cs typeface="Montserrat"/>
                <a:sym typeface="Montserrat"/>
              </a:rPr>
              <a:t>Tech Stack</a:t>
            </a:r>
            <a:endParaRPr b="1" i="0" sz="6100" u="none" cap="none" strike="noStrike">
              <a:solidFill>
                <a:schemeClr val="dk1"/>
              </a:solidFill>
              <a:latin typeface="Montserrat"/>
              <a:ea typeface="Montserrat"/>
              <a:cs typeface="Montserrat"/>
              <a:sym typeface="Montserrat"/>
            </a:endParaRPr>
          </a:p>
        </p:txBody>
      </p:sp>
      <p:cxnSp>
        <p:nvCxnSpPr>
          <p:cNvPr id="531" name="Google Shape;531;p16"/>
          <p:cNvCxnSpPr/>
          <p:nvPr/>
        </p:nvCxnSpPr>
        <p:spPr>
          <a:xfrm>
            <a:off x="0" y="2618793"/>
            <a:ext cx="18288000" cy="0"/>
          </a:xfrm>
          <a:prstGeom prst="straightConnector1">
            <a:avLst/>
          </a:prstGeom>
          <a:noFill/>
          <a:ln cap="flat" cmpd="sng" w="12700">
            <a:solidFill>
              <a:srgbClr val="DDE2E8"/>
            </a:solidFill>
            <a:prstDash val="solid"/>
            <a:round/>
            <a:headEnd len="sm" w="sm" type="none"/>
            <a:tailEnd len="sm" w="sm" type="none"/>
          </a:ln>
        </p:spPr>
      </p:cxnSp>
      <p:cxnSp>
        <p:nvCxnSpPr>
          <p:cNvPr id="532" name="Google Shape;532;p16"/>
          <p:cNvCxnSpPr/>
          <p:nvPr/>
        </p:nvCxnSpPr>
        <p:spPr>
          <a:xfrm>
            <a:off x="4690872" y="2989124"/>
            <a:ext cx="0" cy="4361700"/>
          </a:xfrm>
          <a:prstGeom prst="straightConnector1">
            <a:avLst/>
          </a:prstGeom>
          <a:noFill/>
          <a:ln cap="flat" cmpd="sng" w="12700">
            <a:solidFill>
              <a:srgbClr val="DDE2E8"/>
            </a:solidFill>
            <a:prstDash val="solid"/>
            <a:round/>
            <a:headEnd len="sm" w="sm" type="none"/>
            <a:tailEnd len="sm" w="sm" type="none"/>
          </a:ln>
        </p:spPr>
      </p:cxnSp>
      <p:cxnSp>
        <p:nvCxnSpPr>
          <p:cNvPr id="533" name="Google Shape;533;p16"/>
          <p:cNvCxnSpPr/>
          <p:nvPr/>
        </p:nvCxnSpPr>
        <p:spPr>
          <a:xfrm>
            <a:off x="9121140" y="2989124"/>
            <a:ext cx="0" cy="4361700"/>
          </a:xfrm>
          <a:prstGeom prst="straightConnector1">
            <a:avLst/>
          </a:prstGeom>
          <a:noFill/>
          <a:ln cap="flat" cmpd="sng" w="12700">
            <a:solidFill>
              <a:srgbClr val="DDE2E8"/>
            </a:solidFill>
            <a:prstDash val="solid"/>
            <a:round/>
            <a:headEnd len="sm" w="sm" type="none"/>
            <a:tailEnd len="sm" w="sm" type="none"/>
          </a:ln>
        </p:spPr>
      </p:cxnSp>
      <p:cxnSp>
        <p:nvCxnSpPr>
          <p:cNvPr id="534" name="Google Shape;534;p16"/>
          <p:cNvCxnSpPr/>
          <p:nvPr/>
        </p:nvCxnSpPr>
        <p:spPr>
          <a:xfrm>
            <a:off x="13523976" y="2989124"/>
            <a:ext cx="0" cy="4361700"/>
          </a:xfrm>
          <a:prstGeom prst="straightConnector1">
            <a:avLst/>
          </a:prstGeom>
          <a:noFill/>
          <a:ln cap="flat" cmpd="sng" w="12700">
            <a:solidFill>
              <a:srgbClr val="DDE2E8"/>
            </a:solidFill>
            <a:prstDash val="solid"/>
            <a:round/>
            <a:headEnd len="sm" w="sm" type="none"/>
            <a:tailEnd len="sm" w="sm" type="none"/>
          </a:ln>
        </p:spPr>
      </p:cxnSp>
      <p:sp>
        <p:nvSpPr>
          <p:cNvPr id="535" name="Google Shape;535;p16"/>
          <p:cNvSpPr/>
          <p:nvPr/>
        </p:nvSpPr>
        <p:spPr>
          <a:xfrm>
            <a:off x="521208" y="3071421"/>
            <a:ext cx="576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82B7"/>
              </a:buClr>
              <a:buSzPts val="1600"/>
              <a:buFont typeface="Inter"/>
              <a:buNone/>
            </a:pPr>
            <a:r>
              <a:rPr b="1" i="0" lang="en-US" sz="1800" u="none" cap="none" strike="noStrike">
                <a:solidFill>
                  <a:srgbClr val="4E82B7"/>
                </a:solidFill>
                <a:latin typeface="Montserrat"/>
                <a:ea typeface="Montserrat"/>
                <a:cs typeface="Montserrat"/>
                <a:sym typeface="Montserrat"/>
              </a:rPr>
              <a:t>01</a:t>
            </a:r>
            <a:endParaRPr b="0" i="0" sz="1800" u="none" cap="none" strike="noStrike">
              <a:solidFill>
                <a:schemeClr val="dk1"/>
              </a:solidFill>
              <a:latin typeface="Montserrat"/>
              <a:ea typeface="Montserrat"/>
              <a:cs typeface="Montserrat"/>
              <a:sym typeface="Montserrat"/>
            </a:endParaRPr>
          </a:p>
        </p:txBody>
      </p:sp>
      <p:cxnSp>
        <p:nvCxnSpPr>
          <p:cNvPr id="536" name="Google Shape;536;p16"/>
          <p:cNvCxnSpPr/>
          <p:nvPr/>
        </p:nvCxnSpPr>
        <p:spPr>
          <a:xfrm>
            <a:off x="521208" y="3455468"/>
            <a:ext cx="260700" cy="0"/>
          </a:xfrm>
          <a:prstGeom prst="straightConnector1">
            <a:avLst/>
          </a:prstGeom>
          <a:noFill/>
          <a:ln cap="flat" cmpd="sng" w="13950">
            <a:solidFill>
              <a:srgbClr val="2AA7B8"/>
            </a:solidFill>
            <a:prstDash val="solid"/>
            <a:round/>
            <a:headEnd len="sm" w="sm" type="none"/>
            <a:tailEnd len="sm" w="sm" type="none"/>
          </a:ln>
        </p:spPr>
      </p:cxnSp>
      <p:sp>
        <p:nvSpPr>
          <p:cNvPr id="537" name="Google Shape;537;p16"/>
          <p:cNvSpPr/>
          <p:nvPr/>
        </p:nvSpPr>
        <p:spPr>
          <a:xfrm>
            <a:off x="521208" y="3729789"/>
            <a:ext cx="3909000" cy="589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B1020"/>
              </a:buClr>
              <a:buSzPts val="3900"/>
              <a:buFont typeface="Georgia"/>
              <a:buNone/>
            </a:pPr>
            <a:r>
              <a:rPr b="0" i="0" lang="en-US" sz="3900" u="none" cap="none" strike="noStrike">
                <a:solidFill>
                  <a:srgbClr val="0B1020"/>
                </a:solidFill>
                <a:latin typeface="Montserrat SemiBold"/>
                <a:ea typeface="Montserrat SemiBold"/>
                <a:cs typeface="Montserrat SemiBold"/>
                <a:sym typeface="Montserrat SemiBold"/>
              </a:rPr>
              <a:t>Model / ML</a:t>
            </a:r>
            <a:endParaRPr b="0" i="0" sz="3900" u="none" cap="none" strike="noStrike">
              <a:solidFill>
                <a:schemeClr val="dk1"/>
              </a:solidFill>
              <a:latin typeface="Montserrat SemiBold"/>
              <a:ea typeface="Montserrat SemiBold"/>
              <a:cs typeface="Montserrat SemiBold"/>
              <a:sym typeface="Montserrat SemiBold"/>
            </a:endParaRPr>
          </a:p>
        </p:txBody>
      </p:sp>
      <p:sp>
        <p:nvSpPr>
          <p:cNvPr id="538" name="Google Shape;538;p16"/>
          <p:cNvSpPr/>
          <p:nvPr/>
        </p:nvSpPr>
        <p:spPr>
          <a:xfrm>
            <a:off x="548640" y="4443021"/>
            <a:ext cx="3909000" cy="987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Computer vision and deep learning</a:t>
            </a:r>
            <a:endParaRPr b="0" i="0" sz="1700" u="none" cap="none" strike="noStrike">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for robust, clinically relevant</a:t>
            </a:r>
            <a:endParaRPr b="0" i="0" sz="1700" u="none" cap="none" strike="noStrike">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predictions.</a:t>
            </a:r>
            <a:endParaRPr b="0" i="0" sz="1700" u="none" cap="none" strike="noStrike">
              <a:solidFill>
                <a:schemeClr val="dk1"/>
              </a:solidFill>
              <a:latin typeface="Montserrat"/>
              <a:ea typeface="Montserrat"/>
              <a:cs typeface="Montserrat"/>
              <a:sym typeface="Montserrat"/>
            </a:endParaRPr>
          </a:p>
        </p:txBody>
      </p:sp>
      <p:sp>
        <p:nvSpPr>
          <p:cNvPr id="539" name="Google Shape;539;p16"/>
          <p:cNvSpPr/>
          <p:nvPr/>
        </p:nvSpPr>
        <p:spPr>
          <a:xfrm>
            <a:off x="548640" y="5608881"/>
            <a:ext cx="13443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40" name="Google Shape;540;p16"/>
          <p:cNvSpPr/>
          <p:nvPr/>
        </p:nvSpPr>
        <p:spPr>
          <a:xfrm>
            <a:off x="699516" y="5728210"/>
            <a:ext cx="10425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Python</a:t>
            </a:r>
            <a:endParaRPr b="0" i="0" sz="1600" u="none" cap="none" strike="noStrike">
              <a:solidFill>
                <a:schemeClr val="dk1"/>
              </a:solidFill>
              <a:latin typeface="Inter"/>
              <a:ea typeface="Inter"/>
              <a:cs typeface="Inter"/>
              <a:sym typeface="Inter"/>
            </a:endParaRPr>
          </a:p>
        </p:txBody>
      </p:sp>
      <p:sp>
        <p:nvSpPr>
          <p:cNvPr id="541" name="Google Shape;541;p16"/>
          <p:cNvSpPr/>
          <p:nvPr/>
        </p:nvSpPr>
        <p:spPr>
          <a:xfrm>
            <a:off x="2071116" y="5608881"/>
            <a:ext cx="14814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42" name="Google Shape;542;p16"/>
          <p:cNvSpPr/>
          <p:nvPr/>
        </p:nvSpPr>
        <p:spPr>
          <a:xfrm>
            <a:off x="2221992" y="5728210"/>
            <a:ext cx="11796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PyTorch</a:t>
            </a:r>
            <a:endParaRPr b="0" i="0" sz="1600" u="none" cap="none" strike="noStrike">
              <a:solidFill>
                <a:schemeClr val="dk1"/>
              </a:solidFill>
              <a:latin typeface="Inter"/>
              <a:ea typeface="Inter"/>
              <a:cs typeface="Inter"/>
              <a:sym typeface="Inter"/>
            </a:endParaRPr>
          </a:p>
        </p:txBody>
      </p:sp>
      <p:sp>
        <p:nvSpPr>
          <p:cNvPr id="543" name="Google Shape;543;p16"/>
          <p:cNvSpPr/>
          <p:nvPr/>
        </p:nvSpPr>
        <p:spPr>
          <a:xfrm>
            <a:off x="548640" y="6267249"/>
            <a:ext cx="14403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44" name="Google Shape;544;p16"/>
          <p:cNvSpPr/>
          <p:nvPr/>
        </p:nvSpPr>
        <p:spPr>
          <a:xfrm>
            <a:off x="699516" y="6386578"/>
            <a:ext cx="11385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OpenCV</a:t>
            </a:r>
            <a:endParaRPr b="0" i="0" sz="1600" u="none" cap="none" strike="noStrike">
              <a:solidFill>
                <a:schemeClr val="dk1"/>
              </a:solidFill>
              <a:latin typeface="Inter"/>
              <a:ea typeface="Inter"/>
              <a:cs typeface="Inter"/>
              <a:sym typeface="Inter"/>
            </a:endParaRPr>
          </a:p>
        </p:txBody>
      </p:sp>
      <p:sp>
        <p:nvSpPr>
          <p:cNvPr id="545" name="Google Shape;545;p16"/>
          <p:cNvSpPr/>
          <p:nvPr/>
        </p:nvSpPr>
        <p:spPr>
          <a:xfrm>
            <a:off x="5102352" y="3071421"/>
            <a:ext cx="576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82B7"/>
              </a:buClr>
              <a:buSzPts val="1600"/>
              <a:buFont typeface="Inter"/>
              <a:buNone/>
            </a:pPr>
            <a:r>
              <a:rPr b="1" i="0" lang="en-US" sz="1800" u="none" cap="none" strike="noStrike">
                <a:solidFill>
                  <a:srgbClr val="4E82B7"/>
                </a:solidFill>
                <a:latin typeface="Montserrat"/>
                <a:ea typeface="Montserrat"/>
                <a:cs typeface="Montserrat"/>
                <a:sym typeface="Montserrat"/>
              </a:rPr>
              <a:t>02</a:t>
            </a:r>
            <a:endParaRPr b="0" i="0" sz="1800" u="none" cap="none" strike="noStrike">
              <a:solidFill>
                <a:schemeClr val="dk1"/>
              </a:solidFill>
              <a:latin typeface="Montserrat"/>
              <a:ea typeface="Montserrat"/>
              <a:cs typeface="Montserrat"/>
              <a:sym typeface="Montserrat"/>
            </a:endParaRPr>
          </a:p>
        </p:txBody>
      </p:sp>
      <p:cxnSp>
        <p:nvCxnSpPr>
          <p:cNvPr id="546" name="Google Shape;546;p16"/>
          <p:cNvCxnSpPr/>
          <p:nvPr/>
        </p:nvCxnSpPr>
        <p:spPr>
          <a:xfrm>
            <a:off x="5102352" y="3455468"/>
            <a:ext cx="260700" cy="0"/>
          </a:xfrm>
          <a:prstGeom prst="straightConnector1">
            <a:avLst/>
          </a:prstGeom>
          <a:noFill/>
          <a:ln cap="flat" cmpd="sng" w="13950">
            <a:solidFill>
              <a:srgbClr val="2AA7B8"/>
            </a:solidFill>
            <a:prstDash val="solid"/>
            <a:round/>
            <a:headEnd len="sm" w="sm" type="none"/>
            <a:tailEnd len="sm" w="sm" type="none"/>
          </a:ln>
        </p:spPr>
      </p:cxnSp>
      <p:sp>
        <p:nvSpPr>
          <p:cNvPr id="547" name="Google Shape;547;p16"/>
          <p:cNvSpPr/>
          <p:nvPr/>
        </p:nvSpPr>
        <p:spPr>
          <a:xfrm>
            <a:off x="5102352" y="3729789"/>
            <a:ext cx="3909000" cy="589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B1020"/>
              </a:buClr>
              <a:buSzPts val="3900"/>
              <a:buFont typeface="Georgia"/>
              <a:buNone/>
            </a:pPr>
            <a:r>
              <a:rPr b="0" i="0" lang="en-US" sz="3900" u="none" cap="none" strike="noStrike">
                <a:solidFill>
                  <a:srgbClr val="0B1020"/>
                </a:solidFill>
                <a:latin typeface="Montserrat SemiBold"/>
                <a:ea typeface="Montserrat SemiBold"/>
                <a:cs typeface="Montserrat SemiBold"/>
                <a:sym typeface="Montserrat SemiBold"/>
              </a:rPr>
              <a:t>Backend</a:t>
            </a:r>
            <a:endParaRPr b="0" i="0" sz="3900" u="none" cap="none" strike="noStrike">
              <a:solidFill>
                <a:schemeClr val="dk1"/>
              </a:solidFill>
              <a:latin typeface="Montserrat SemiBold"/>
              <a:ea typeface="Montserrat SemiBold"/>
              <a:cs typeface="Montserrat SemiBold"/>
              <a:sym typeface="Montserrat SemiBold"/>
            </a:endParaRPr>
          </a:p>
        </p:txBody>
      </p:sp>
      <p:sp>
        <p:nvSpPr>
          <p:cNvPr id="548" name="Google Shape;548;p16"/>
          <p:cNvSpPr/>
          <p:nvPr/>
        </p:nvSpPr>
        <p:spPr>
          <a:xfrm>
            <a:off x="5129784" y="4443021"/>
            <a:ext cx="3909000" cy="987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High-performance APIs and</a:t>
            </a:r>
            <a:endParaRPr b="0" i="0" sz="1700" u="none" cap="none" strike="noStrike">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data services for secure, reliable</a:t>
            </a:r>
            <a:endParaRPr b="0" i="0" sz="1700" u="none" cap="none" strike="noStrike">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inference.</a:t>
            </a:r>
            <a:endParaRPr b="0" i="0" sz="1700" u="none" cap="none" strike="noStrike">
              <a:solidFill>
                <a:schemeClr val="dk1"/>
              </a:solidFill>
              <a:latin typeface="Montserrat"/>
              <a:ea typeface="Montserrat"/>
              <a:cs typeface="Montserrat"/>
              <a:sym typeface="Montserrat"/>
            </a:endParaRPr>
          </a:p>
        </p:txBody>
      </p:sp>
      <p:sp>
        <p:nvSpPr>
          <p:cNvPr id="549" name="Google Shape;549;p16"/>
          <p:cNvSpPr/>
          <p:nvPr/>
        </p:nvSpPr>
        <p:spPr>
          <a:xfrm>
            <a:off x="5129784" y="5608881"/>
            <a:ext cx="15363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50" name="Google Shape;550;p16"/>
          <p:cNvSpPr/>
          <p:nvPr/>
        </p:nvSpPr>
        <p:spPr>
          <a:xfrm>
            <a:off x="5280660" y="5728210"/>
            <a:ext cx="12345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FastAPI</a:t>
            </a:r>
            <a:endParaRPr b="0" i="0" sz="1600" u="none" cap="none" strike="noStrike">
              <a:solidFill>
                <a:schemeClr val="dk1"/>
              </a:solidFill>
              <a:latin typeface="Inter"/>
              <a:ea typeface="Inter"/>
              <a:cs typeface="Inter"/>
              <a:sym typeface="Inter"/>
            </a:endParaRPr>
          </a:p>
        </p:txBody>
      </p:sp>
      <p:sp>
        <p:nvSpPr>
          <p:cNvPr id="551" name="Google Shape;551;p16"/>
          <p:cNvSpPr/>
          <p:nvPr/>
        </p:nvSpPr>
        <p:spPr>
          <a:xfrm>
            <a:off x="6844275" y="5608873"/>
            <a:ext cx="1851600" cy="589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52" name="Google Shape;552;p16"/>
          <p:cNvSpPr/>
          <p:nvPr/>
        </p:nvSpPr>
        <p:spPr>
          <a:xfrm>
            <a:off x="6995150" y="5678497"/>
            <a:ext cx="1549800" cy="460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Supabase</a:t>
            </a:r>
            <a:endParaRPr sz="1600">
              <a:solidFill>
                <a:srgbClr val="152235"/>
              </a:solidFill>
              <a:latin typeface="Inter"/>
              <a:ea typeface="Inter"/>
              <a:cs typeface="Inter"/>
              <a:sym typeface="Inter"/>
            </a:endParaRPr>
          </a:p>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PostgreSQL</a:t>
            </a:r>
            <a:endParaRPr b="0" i="0" sz="1600" u="none" cap="none" strike="noStrike">
              <a:solidFill>
                <a:schemeClr val="dk1"/>
              </a:solidFill>
              <a:latin typeface="Inter"/>
              <a:ea typeface="Inter"/>
              <a:cs typeface="Inter"/>
              <a:sym typeface="Inter"/>
            </a:endParaRPr>
          </a:p>
        </p:txBody>
      </p:sp>
      <p:sp>
        <p:nvSpPr>
          <p:cNvPr id="553" name="Google Shape;553;p16"/>
          <p:cNvSpPr/>
          <p:nvPr/>
        </p:nvSpPr>
        <p:spPr>
          <a:xfrm>
            <a:off x="5129784" y="6267249"/>
            <a:ext cx="21945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54" name="Google Shape;554;p16"/>
          <p:cNvSpPr/>
          <p:nvPr/>
        </p:nvSpPr>
        <p:spPr>
          <a:xfrm>
            <a:off x="5280660" y="6386578"/>
            <a:ext cx="18927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Supabase Storage</a:t>
            </a:r>
            <a:endParaRPr b="0" i="0" sz="1600" u="none" cap="none" strike="noStrike">
              <a:solidFill>
                <a:schemeClr val="dk1"/>
              </a:solidFill>
              <a:latin typeface="Inter"/>
              <a:ea typeface="Inter"/>
              <a:cs typeface="Inter"/>
              <a:sym typeface="Inter"/>
            </a:endParaRPr>
          </a:p>
        </p:txBody>
      </p:sp>
      <p:sp>
        <p:nvSpPr>
          <p:cNvPr id="555" name="Google Shape;555;p16"/>
          <p:cNvSpPr/>
          <p:nvPr/>
        </p:nvSpPr>
        <p:spPr>
          <a:xfrm>
            <a:off x="9532620" y="3071421"/>
            <a:ext cx="576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82B7"/>
              </a:buClr>
              <a:buSzPts val="1600"/>
              <a:buFont typeface="Inter"/>
              <a:buNone/>
            </a:pPr>
            <a:r>
              <a:rPr b="1" i="0" lang="en-US" sz="1800" u="none" cap="none" strike="noStrike">
                <a:solidFill>
                  <a:srgbClr val="4E82B7"/>
                </a:solidFill>
                <a:latin typeface="Montserrat"/>
                <a:ea typeface="Montserrat"/>
                <a:cs typeface="Montserrat"/>
                <a:sym typeface="Montserrat"/>
              </a:rPr>
              <a:t>03</a:t>
            </a:r>
            <a:endParaRPr b="0" i="0" sz="1800" u="none" cap="none" strike="noStrike">
              <a:solidFill>
                <a:schemeClr val="dk1"/>
              </a:solidFill>
              <a:latin typeface="Montserrat"/>
              <a:ea typeface="Montserrat"/>
              <a:cs typeface="Montserrat"/>
              <a:sym typeface="Montserrat"/>
            </a:endParaRPr>
          </a:p>
        </p:txBody>
      </p:sp>
      <p:cxnSp>
        <p:nvCxnSpPr>
          <p:cNvPr id="556" name="Google Shape;556;p16"/>
          <p:cNvCxnSpPr/>
          <p:nvPr/>
        </p:nvCxnSpPr>
        <p:spPr>
          <a:xfrm>
            <a:off x="9532620" y="3455468"/>
            <a:ext cx="260700" cy="0"/>
          </a:xfrm>
          <a:prstGeom prst="straightConnector1">
            <a:avLst/>
          </a:prstGeom>
          <a:noFill/>
          <a:ln cap="flat" cmpd="sng" w="13950">
            <a:solidFill>
              <a:srgbClr val="2AA7B8"/>
            </a:solidFill>
            <a:prstDash val="solid"/>
            <a:round/>
            <a:headEnd len="sm" w="sm" type="none"/>
            <a:tailEnd len="sm" w="sm" type="none"/>
          </a:ln>
        </p:spPr>
      </p:cxnSp>
      <p:sp>
        <p:nvSpPr>
          <p:cNvPr id="557" name="Google Shape;557;p16"/>
          <p:cNvSpPr/>
          <p:nvPr/>
        </p:nvSpPr>
        <p:spPr>
          <a:xfrm>
            <a:off x="9532620" y="3729789"/>
            <a:ext cx="3909000" cy="589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B1020"/>
              </a:buClr>
              <a:buSzPts val="3900"/>
              <a:buFont typeface="Georgia"/>
              <a:buNone/>
            </a:pPr>
            <a:r>
              <a:rPr b="0" i="0" lang="en-US" sz="3900" u="none" cap="none" strike="noStrike">
                <a:solidFill>
                  <a:srgbClr val="0B1020"/>
                </a:solidFill>
                <a:latin typeface="Montserrat SemiBold"/>
                <a:ea typeface="Montserrat SemiBold"/>
                <a:cs typeface="Montserrat SemiBold"/>
                <a:sym typeface="Montserrat SemiBold"/>
              </a:rPr>
              <a:t>Frontend</a:t>
            </a:r>
            <a:endParaRPr b="0" i="0" sz="3900" u="none" cap="none" strike="noStrike">
              <a:solidFill>
                <a:schemeClr val="dk1"/>
              </a:solidFill>
              <a:latin typeface="Montserrat SemiBold"/>
              <a:ea typeface="Montserrat SemiBold"/>
              <a:cs typeface="Montserrat SemiBold"/>
              <a:sym typeface="Montserrat SemiBold"/>
            </a:endParaRPr>
          </a:p>
        </p:txBody>
      </p:sp>
      <p:sp>
        <p:nvSpPr>
          <p:cNvPr id="558" name="Google Shape;558;p16"/>
          <p:cNvSpPr/>
          <p:nvPr/>
        </p:nvSpPr>
        <p:spPr>
          <a:xfrm>
            <a:off x="9560052" y="4443021"/>
            <a:ext cx="3909000" cy="987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A responsive, clinician-friendly</a:t>
            </a:r>
            <a:endParaRPr b="0" i="0" sz="1700" u="none" cap="none" strike="noStrike">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interface for seamless screening</a:t>
            </a:r>
            <a:endParaRPr b="0" i="0" sz="1700" u="none" cap="none" strike="noStrike">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workflows.</a:t>
            </a:r>
            <a:endParaRPr b="0" i="0" sz="1700" u="none" cap="none" strike="noStrike">
              <a:solidFill>
                <a:schemeClr val="dk1"/>
              </a:solidFill>
              <a:latin typeface="Montserrat"/>
              <a:ea typeface="Montserrat"/>
              <a:cs typeface="Montserrat"/>
              <a:sym typeface="Montserrat"/>
            </a:endParaRPr>
          </a:p>
        </p:txBody>
      </p:sp>
      <p:sp>
        <p:nvSpPr>
          <p:cNvPr id="559" name="Google Shape;559;p16"/>
          <p:cNvSpPr/>
          <p:nvPr/>
        </p:nvSpPr>
        <p:spPr>
          <a:xfrm>
            <a:off x="9560052" y="5608881"/>
            <a:ext cx="10974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60" name="Google Shape;560;p16"/>
          <p:cNvSpPr/>
          <p:nvPr/>
        </p:nvSpPr>
        <p:spPr>
          <a:xfrm>
            <a:off x="9710928" y="5728210"/>
            <a:ext cx="7956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HTML</a:t>
            </a:r>
            <a:endParaRPr b="0" i="0" sz="1600" u="none" cap="none" strike="noStrike">
              <a:solidFill>
                <a:schemeClr val="dk1"/>
              </a:solidFill>
              <a:latin typeface="Inter"/>
              <a:ea typeface="Inter"/>
              <a:cs typeface="Inter"/>
              <a:sym typeface="Inter"/>
            </a:endParaRPr>
          </a:p>
        </p:txBody>
      </p:sp>
      <p:sp>
        <p:nvSpPr>
          <p:cNvPr id="561" name="Google Shape;561;p16"/>
          <p:cNvSpPr/>
          <p:nvPr/>
        </p:nvSpPr>
        <p:spPr>
          <a:xfrm>
            <a:off x="10835640" y="5608881"/>
            <a:ext cx="10287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62" name="Google Shape;562;p16"/>
          <p:cNvSpPr/>
          <p:nvPr/>
        </p:nvSpPr>
        <p:spPr>
          <a:xfrm>
            <a:off x="10986516" y="5728210"/>
            <a:ext cx="7269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CSS</a:t>
            </a:r>
            <a:endParaRPr b="0" i="0" sz="1600" u="none" cap="none" strike="noStrike">
              <a:solidFill>
                <a:schemeClr val="dk1"/>
              </a:solidFill>
              <a:latin typeface="Inter"/>
              <a:ea typeface="Inter"/>
              <a:cs typeface="Inter"/>
              <a:sym typeface="Inter"/>
            </a:endParaRPr>
          </a:p>
        </p:txBody>
      </p:sp>
      <p:sp>
        <p:nvSpPr>
          <p:cNvPr id="563" name="Google Shape;563;p16"/>
          <p:cNvSpPr/>
          <p:nvPr/>
        </p:nvSpPr>
        <p:spPr>
          <a:xfrm>
            <a:off x="9560052" y="6267249"/>
            <a:ext cx="15774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64" name="Google Shape;564;p16"/>
          <p:cNvSpPr/>
          <p:nvPr/>
        </p:nvSpPr>
        <p:spPr>
          <a:xfrm>
            <a:off x="9710928" y="6386578"/>
            <a:ext cx="12756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JavaScript</a:t>
            </a:r>
            <a:endParaRPr b="0" i="0" sz="1600" u="none" cap="none" strike="noStrike">
              <a:solidFill>
                <a:schemeClr val="dk1"/>
              </a:solidFill>
              <a:latin typeface="Inter"/>
              <a:ea typeface="Inter"/>
              <a:cs typeface="Inter"/>
              <a:sym typeface="Inter"/>
            </a:endParaRPr>
          </a:p>
        </p:txBody>
      </p:sp>
      <p:sp>
        <p:nvSpPr>
          <p:cNvPr id="565" name="Google Shape;565;p16"/>
          <p:cNvSpPr/>
          <p:nvPr/>
        </p:nvSpPr>
        <p:spPr>
          <a:xfrm>
            <a:off x="11315700" y="6267249"/>
            <a:ext cx="12345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66" name="Google Shape;566;p16"/>
          <p:cNvSpPr/>
          <p:nvPr/>
        </p:nvSpPr>
        <p:spPr>
          <a:xfrm>
            <a:off x="11466576" y="6386578"/>
            <a:ext cx="9327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React</a:t>
            </a:r>
            <a:endParaRPr b="0" i="0" sz="1600" u="none" cap="none" strike="noStrike">
              <a:solidFill>
                <a:schemeClr val="dk1"/>
              </a:solidFill>
              <a:latin typeface="Inter"/>
              <a:ea typeface="Inter"/>
              <a:cs typeface="Inter"/>
              <a:sym typeface="Inter"/>
            </a:endParaRPr>
          </a:p>
        </p:txBody>
      </p:sp>
      <p:sp>
        <p:nvSpPr>
          <p:cNvPr id="567" name="Google Shape;567;p16"/>
          <p:cNvSpPr/>
          <p:nvPr/>
        </p:nvSpPr>
        <p:spPr>
          <a:xfrm>
            <a:off x="9560052" y="6925616"/>
            <a:ext cx="14127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68" name="Google Shape;568;p16"/>
          <p:cNvSpPr/>
          <p:nvPr/>
        </p:nvSpPr>
        <p:spPr>
          <a:xfrm>
            <a:off x="9710928" y="7044946"/>
            <a:ext cx="11109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Vite</a:t>
            </a:r>
            <a:endParaRPr b="0" i="0" sz="1600" u="none" cap="none" strike="noStrike">
              <a:solidFill>
                <a:schemeClr val="dk1"/>
              </a:solidFill>
              <a:latin typeface="Inter"/>
              <a:ea typeface="Inter"/>
              <a:cs typeface="Inter"/>
              <a:sym typeface="Inter"/>
            </a:endParaRPr>
          </a:p>
        </p:txBody>
      </p:sp>
      <p:sp>
        <p:nvSpPr>
          <p:cNvPr id="569" name="Google Shape;569;p16"/>
          <p:cNvSpPr/>
          <p:nvPr/>
        </p:nvSpPr>
        <p:spPr>
          <a:xfrm>
            <a:off x="13935456" y="3071421"/>
            <a:ext cx="576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82B7"/>
              </a:buClr>
              <a:buSzPts val="1600"/>
              <a:buFont typeface="Inter"/>
              <a:buNone/>
            </a:pPr>
            <a:r>
              <a:rPr b="1" i="0" lang="en-US" sz="1800" u="none" cap="none" strike="noStrike">
                <a:solidFill>
                  <a:srgbClr val="4E82B7"/>
                </a:solidFill>
                <a:latin typeface="Montserrat"/>
                <a:ea typeface="Montserrat"/>
                <a:cs typeface="Montserrat"/>
                <a:sym typeface="Montserrat"/>
              </a:rPr>
              <a:t>04</a:t>
            </a:r>
            <a:endParaRPr b="0" i="0" sz="1800" u="none" cap="none" strike="noStrike">
              <a:solidFill>
                <a:schemeClr val="dk1"/>
              </a:solidFill>
              <a:latin typeface="Montserrat"/>
              <a:ea typeface="Montserrat"/>
              <a:cs typeface="Montserrat"/>
              <a:sym typeface="Montserrat"/>
            </a:endParaRPr>
          </a:p>
        </p:txBody>
      </p:sp>
      <p:cxnSp>
        <p:nvCxnSpPr>
          <p:cNvPr id="570" name="Google Shape;570;p16"/>
          <p:cNvCxnSpPr/>
          <p:nvPr/>
        </p:nvCxnSpPr>
        <p:spPr>
          <a:xfrm>
            <a:off x="13935456" y="3455468"/>
            <a:ext cx="260700" cy="0"/>
          </a:xfrm>
          <a:prstGeom prst="straightConnector1">
            <a:avLst/>
          </a:prstGeom>
          <a:noFill/>
          <a:ln cap="flat" cmpd="sng" w="13950">
            <a:solidFill>
              <a:srgbClr val="2AA7B8"/>
            </a:solidFill>
            <a:prstDash val="solid"/>
            <a:round/>
            <a:headEnd len="sm" w="sm" type="none"/>
            <a:tailEnd len="sm" w="sm" type="none"/>
          </a:ln>
        </p:spPr>
      </p:cxnSp>
      <p:sp>
        <p:nvSpPr>
          <p:cNvPr id="571" name="Google Shape;571;p16"/>
          <p:cNvSpPr/>
          <p:nvPr/>
        </p:nvSpPr>
        <p:spPr>
          <a:xfrm>
            <a:off x="13935456" y="3729789"/>
            <a:ext cx="3909000" cy="5898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B1020"/>
              </a:buClr>
              <a:buSzPts val="3900"/>
              <a:buFont typeface="Georgia"/>
              <a:buNone/>
            </a:pPr>
            <a:r>
              <a:rPr b="0" i="0" lang="en-US" sz="3900" u="none" cap="none" strike="noStrike">
                <a:solidFill>
                  <a:srgbClr val="0B1020"/>
                </a:solidFill>
                <a:latin typeface="Montserrat SemiBold"/>
                <a:ea typeface="Montserrat SemiBold"/>
                <a:cs typeface="Montserrat SemiBold"/>
                <a:sym typeface="Montserrat SemiBold"/>
              </a:rPr>
              <a:t>Infra &amp; Tooling</a:t>
            </a:r>
            <a:endParaRPr b="0" i="0" sz="3900" u="none" cap="none" strike="noStrike">
              <a:solidFill>
                <a:schemeClr val="dk1"/>
              </a:solidFill>
              <a:latin typeface="Montserrat SemiBold"/>
              <a:ea typeface="Montserrat SemiBold"/>
              <a:cs typeface="Montserrat SemiBold"/>
              <a:sym typeface="Montserrat SemiBold"/>
            </a:endParaRPr>
          </a:p>
        </p:txBody>
      </p:sp>
      <p:sp>
        <p:nvSpPr>
          <p:cNvPr id="572" name="Google Shape;572;p16"/>
          <p:cNvSpPr/>
          <p:nvPr/>
        </p:nvSpPr>
        <p:spPr>
          <a:xfrm>
            <a:off x="13962888" y="4443021"/>
            <a:ext cx="3909000" cy="9876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Scalable infrastructure and modern</a:t>
            </a:r>
            <a:endParaRPr b="0" i="0" sz="1700" u="none" cap="none" strike="noStrike">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developer tooling for iteration</a:t>
            </a:r>
            <a:endParaRPr b="0" i="0" sz="1700" u="none" cap="none" strike="noStrike">
              <a:solidFill>
                <a:schemeClr val="dk1"/>
              </a:solidFill>
              <a:latin typeface="Montserrat"/>
              <a:ea typeface="Montserrat"/>
              <a:cs typeface="Montserrat"/>
              <a:sym typeface="Montserrat"/>
            </a:endParaRPr>
          </a:p>
          <a:p>
            <a:pPr indent="0" lvl="0" marL="0" marR="0" rtl="0" algn="l">
              <a:lnSpc>
                <a:spcPct val="95000"/>
              </a:lnSpc>
              <a:spcBef>
                <a:spcPts val="0"/>
              </a:spcBef>
              <a:spcAft>
                <a:spcPts val="0"/>
              </a:spcAft>
              <a:buClr>
                <a:srgbClr val="748197"/>
              </a:buClr>
              <a:buSzPts val="2000"/>
              <a:buFont typeface="Inter"/>
              <a:buNone/>
            </a:pPr>
            <a:r>
              <a:rPr b="0" i="0" lang="en-US" sz="1700" u="none" cap="none" strike="noStrike">
                <a:solidFill>
                  <a:srgbClr val="748197"/>
                </a:solidFill>
                <a:latin typeface="Montserrat"/>
                <a:ea typeface="Montserrat"/>
                <a:cs typeface="Montserrat"/>
                <a:sym typeface="Montserrat"/>
              </a:rPr>
              <a:t>and deployment.</a:t>
            </a:r>
            <a:endParaRPr b="0" i="0" sz="1700" u="none" cap="none" strike="noStrike">
              <a:solidFill>
                <a:schemeClr val="dk1"/>
              </a:solidFill>
              <a:latin typeface="Montserrat"/>
              <a:ea typeface="Montserrat"/>
              <a:cs typeface="Montserrat"/>
              <a:sym typeface="Montserrat"/>
            </a:endParaRPr>
          </a:p>
        </p:txBody>
      </p:sp>
      <p:sp>
        <p:nvSpPr>
          <p:cNvPr id="573" name="Google Shape;573;p16"/>
          <p:cNvSpPr/>
          <p:nvPr/>
        </p:nvSpPr>
        <p:spPr>
          <a:xfrm>
            <a:off x="13962888" y="5608881"/>
            <a:ext cx="1440300" cy="493800"/>
          </a:xfrm>
          <a:prstGeom prst="roundRect">
            <a:avLst>
              <a:gd fmla="val 50000" name="adj"/>
            </a:avLst>
          </a:prstGeom>
          <a:solidFill>
            <a:srgbClr val="EAF8FB"/>
          </a:solidFill>
          <a:ln cap="flat" cmpd="sng" w="12700">
            <a:solidFill>
              <a:srgbClr val="2AA7B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74" name="Google Shape;574;p16"/>
          <p:cNvSpPr/>
          <p:nvPr/>
        </p:nvSpPr>
        <p:spPr>
          <a:xfrm>
            <a:off x="14113764" y="5728210"/>
            <a:ext cx="11385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Docker</a:t>
            </a:r>
            <a:endParaRPr b="0" i="0" sz="1600" u="none" cap="none" strike="noStrike">
              <a:solidFill>
                <a:schemeClr val="dk1"/>
              </a:solidFill>
              <a:latin typeface="Inter"/>
              <a:ea typeface="Inter"/>
              <a:cs typeface="Inter"/>
              <a:sym typeface="Inter"/>
            </a:endParaRPr>
          </a:p>
        </p:txBody>
      </p:sp>
      <p:sp>
        <p:nvSpPr>
          <p:cNvPr id="575" name="Google Shape;575;p16"/>
          <p:cNvSpPr/>
          <p:nvPr/>
        </p:nvSpPr>
        <p:spPr>
          <a:xfrm>
            <a:off x="15581376" y="5608881"/>
            <a:ext cx="14403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76" name="Google Shape;576;p16"/>
          <p:cNvSpPr/>
          <p:nvPr/>
        </p:nvSpPr>
        <p:spPr>
          <a:xfrm>
            <a:off x="15732252" y="5728210"/>
            <a:ext cx="11385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GitHub</a:t>
            </a:r>
            <a:endParaRPr b="0" i="0" sz="1600" u="none" cap="none" strike="noStrike">
              <a:solidFill>
                <a:schemeClr val="dk1"/>
              </a:solidFill>
              <a:latin typeface="Inter"/>
              <a:ea typeface="Inter"/>
              <a:cs typeface="Inter"/>
              <a:sym typeface="Inter"/>
            </a:endParaRPr>
          </a:p>
        </p:txBody>
      </p:sp>
      <p:sp>
        <p:nvSpPr>
          <p:cNvPr id="577" name="Google Shape;577;p16"/>
          <p:cNvSpPr/>
          <p:nvPr/>
        </p:nvSpPr>
        <p:spPr>
          <a:xfrm>
            <a:off x="13962888" y="6267249"/>
            <a:ext cx="20301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78" name="Google Shape;578;p16"/>
          <p:cNvSpPr/>
          <p:nvPr/>
        </p:nvSpPr>
        <p:spPr>
          <a:xfrm>
            <a:off x="14113764" y="6386578"/>
            <a:ext cx="17283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GitHub Actions</a:t>
            </a:r>
            <a:endParaRPr b="0" i="0" sz="1600" u="none" cap="none" strike="noStrike">
              <a:solidFill>
                <a:schemeClr val="dk1"/>
              </a:solidFill>
              <a:latin typeface="Inter"/>
              <a:ea typeface="Inter"/>
              <a:cs typeface="Inter"/>
              <a:sym typeface="Inter"/>
            </a:endParaRPr>
          </a:p>
        </p:txBody>
      </p:sp>
      <p:sp>
        <p:nvSpPr>
          <p:cNvPr id="579" name="Google Shape;579;p16"/>
          <p:cNvSpPr/>
          <p:nvPr/>
        </p:nvSpPr>
        <p:spPr>
          <a:xfrm>
            <a:off x="16171164" y="6267249"/>
            <a:ext cx="13716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80" name="Google Shape;580;p16"/>
          <p:cNvSpPr/>
          <p:nvPr/>
        </p:nvSpPr>
        <p:spPr>
          <a:xfrm>
            <a:off x="16322040" y="6386578"/>
            <a:ext cx="10698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Vercel</a:t>
            </a:r>
            <a:endParaRPr b="0" i="0" sz="1600" u="none" cap="none" strike="noStrike">
              <a:solidFill>
                <a:schemeClr val="dk1"/>
              </a:solidFill>
              <a:latin typeface="Inter"/>
              <a:ea typeface="Inter"/>
              <a:cs typeface="Inter"/>
              <a:sym typeface="Inter"/>
            </a:endParaRPr>
          </a:p>
        </p:txBody>
      </p:sp>
      <p:sp>
        <p:nvSpPr>
          <p:cNvPr id="581" name="Google Shape;581;p16"/>
          <p:cNvSpPr/>
          <p:nvPr/>
        </p:nvSpPr>
        <p:spPr>
          <a:xfrm>
            <a:off x="13962888" y="6925616"/>
            <a:ext cx="13716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82" name="Google Shape;582;p16"/>
          <p:cNvSpPr/>
          <p:nvPr/>
        </p:nvSpPr>
        <p:spPr>
          <a:xfrm>
            <a:off x="14113764" y="7044946"/>
            <a:ext cx="10698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b="0" i="0" lang="en-US" sz="1600" u="none" cap="none" strike="noStrike">
                <a:solidFill>
                  <a:srgbClr val="152235"/>
                </a:solidFill>
                <a:latin typeface="Inter"/>
                <a:ea typeface="Inter"/>
                <a:cs typeface="Inter"/>
                <a:sym typeface="Inter"/>
              </a:rPr>
              <a:t>Render</a:t>
            </a:r>
            <a:endParaRPr b="0" i="0" sz="1600" u="none" cap="none" strike="noStrike">
              <a:solidFill>
                <a:schemeClr val="dk1"/>
              </a:solidFill>
              <a:latin typeface="Inter"/>
              <a:ea typeface="Inter"/>
              <a:cs typeface="Inter"/>
              <a:sym typeface="Inter"/>
            </a:endParaRPr>
          </a:p>
        </p:txBody>
      </p:sp>
      <p:sp>
        <p:nvSpPr>
          <p:cNvPr id="583" name="Google Shape;583;p16"/>
          <p:cNvSpPr/>
          <p:nvPr/>
        </p:nvSpPr>
        <p:spPr>
          <a:xfrm>
            <a:off x="15512800" y="6900559"/>
            <a:ext cx="2257200" cy="6537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84" name="Google Shape;584;p16"/>
          <p:cNvSpPr/>
          <p:nvPr/>
        </p:nvSpPr>
        <p:spPr>
          <a:xfrm>
            <a:off x="15657409" y="7007351"/>
            <a:ext cx="2030100" cy="460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Kaggle / Google Colab GPU</a:t>
            </a:r>
            <a:endParaRPr b="0" i="0" sz="1600" u="none" cap="none" strike="noStrike">
              <a:solidFill>
                <a:schemeClr val="dk1"/>
              </a:solidFill>
              <a:latin typeface="Inter"/>
              <a:ea typeface="Inter"/>
              <a:cs typeface="Inter"/>
              <a:sym typeface="Inter"/>
            </a:endParaRPr>
          </a:p>
        </p:txBody>
      </p:sp>
      <p:sp>
        <p:nvSpPr>
          <p:cNvPr id="585" name="Google Shape;585;p16"/>
          <p:cNvSpPr/>
          <p:nvPr/>
        </p:nvSpPr>
        <p:spPr>
          <a:xfrm>
            <a:off x="384048" y="7625133"/>
            <a:ext cx="17529000" cy="1001400"/>
          </a:xfrm>
          <a:prstGeom prst="roundRect">
            <a:avLst>
              <a:gd fmla="val 8219" name="adj"/>
            </a:avLst>
          </a:prstGeom>
          <a:solidFill>
            <a:srgbClr val="FFFFFF"/>
          </a:solidFill>
          <a:ln cap="flat" cmpd="sng" w="12700">
            <a:solidFill>
              <a:srgbClr val="D0DBE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86" name="Google Shape;586;p16"/>
          <p:cNvSpPr/>
          <p:nvPr/>
        </p:nvSpPr>
        <p:spPr>
          <a:xfrm>
            <a:off x="795528" y="7885737"/>
            <a:ext cx="342900" cy="384000"/>
          </a:xfrm>
          <a:prstGeom prst="can">
            <a:avLst>
              <a:gd fmla="val 25000" name="adj"/>
            </a:avLst>
          </a:prstGeom>
          <a:solidFill>
            <a:srgbClr val="FFFFFF">
              <a:alpha val="0"/>
            </a:srgbClr>
          </a:solidFill>
          <a:ln cap="flat" cmpd="sng" w="15225">
            <a:solidFill>
              <a:srgbClr val="4E82B7"/>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87" name="Google Shape;587;p16"/>
          <p:cNvSpPr/>
          <p:nvPr/>
        </p:nvSpPr>
        <p:spPr>
          <a:xfrm>
            <a:off x="1591056" y="7872021"/>
            <a:ext cx="33603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82B7"/>
              </a:buClr>
              <a:buSzPts val="1200"/>
              <a:buFont typeface="Inter"/>
              <a:buNone/>
            </a:pPr>
            <a:r>
              <a:rPr b="1" i="0" lang="en-US" sz="1200" u="none" cap="none" strike="noStrike">
                <a:solidFill>
                  <a:srgbClr val="4E82B7"/>
                </a:solidFill>
                <a:latin typeface="Montserrat"/>
                <a:ea typeface="Montserrat"/>
                <a:cs typeface="Montserrat"/>
                <a:sym typeface="Montserrat"/>
              </a:rPr>
              <a:t>TRAINING &amp; VALIDATION DATA</a:t>
            </a:r>
            <a:endParaRPr b="0" i="0" sz="1200" u="none" cap="none" strike="noStrike">
              <a:solidFill>
                <a:schemeClr val="dk1"/>
              </a:solidFill>
              <a:latin typeface="Montserrat"/>
              <a:ea typeface="Montserrat"/>
              <a:cs typeface="Montserrat"/>
              <a:sym typeface="Montserrat"/>
            </a:endParaRPr>
          </a:p>
        </p:txBody>
      </p:sp>
      <p:sp>
        <p:nvSpPr>
          <p:cNvPr id="588" name="Google Shape;588;p16"/>
          <p:cNvSpPr/>
          <p:nvPr/>
        </p:nvSpPr>
        <p:spPr>
          <a:xfrm>
            <a:off x="1591056" y="8187489"/>
            <a:ext cx="2126100" cy="35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1020"/>
              </a:buClr>
              <a:buSzPts val="2100"/>
              <a:buFont typeface="Georgia"/>
              <a:buNone/>
            </a:pPr>
            <a:r>
              <a:rPr b="1" i="0" lang="en-US" sz="2100" u="none" cap="none" strike="noStrike">
                <a:solidFill>
                  <a:srgbClr val="0B1020"/>
                </a:solidFill>
                <a:latin typeface="Montserrat"/>
                <a:ea typeface="Montserrat"/>
                <a:cs typeface="Montserrat"/>
                <a:sym typeface="Montserrat"/>
              </a:rPr>
              <a:t>Train: ODIR-5K</a:t>
            </a:r>
            <a:endParaRPr b="1" i="0" sz="2100" u="none" cap="none" strike="noStrike">
              <a:solidFill>
                <a:schemeClr val="dk1"/>
              </a:solidFill>
              <a:latin typeface="Montserrat"/>
              <a:ea typeface="Montserrat"/>
              <a:cs typeface="Montserrat"/>
              <a:sym typeface="Montserrat"/>
            </a:endParaRPr>
          </a:p>
        </p:txBody>
      </p:sp>
      <p:cxnSp>
        <p:nvCxnSpPr>
          <p:cNvPr id="589" name="Google Shape;589;p16"/>
          <p:cNvCxnSpPr/>
          <p:nvPr/>
        </p:nvCxnSpPr>
        <p:spPr>
          <a:xfrm>
            <a:off x="4183380" y="7899453"/>
            <a:ext cx="0" cy="480000"/>
          </a:xfrm>
          <a:prstGeom prst="straightConnector1">
            <a:avLst/>
          </a:prstGeom>
          <a:noFill/>
          <a:ln cap="flat" cmpd="sng" w="13950">
            <a:solidFill>
              <a:srgbClr val="DDE2E8"/>
            </a:solidFill>
            <a:prstDash val="solid"/>
            <a:round/>
            <a:headEnd len="sm" w="sm" type="none"/>
            <a:tailEnd len="sm" w="sm" type="none"/>
          </a:ln>
        </p:spPr>
      </p:cxnSp>
      <p:sp>
        <p:nvSpPr>
          <p:cNvPr id="590" name="Google Shape;590;p16"/>
          <p:cNvSpPr/>
          <p:nvPr/>
        </p:nvSpPr>
        <p:spPr>
          <a:xfrm>
            <a:off x="4594849" y="8187500"/>
            <a:ext cx="9916500" cy="356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1020"/>
              </a:buClr>
              <a:buSzPts val="1800"/>
              <a:buFont typeface="Georgia"/>
              <a:buNone/>
            </a:pPr>
            <a:r>
              <a:rPr b="0" i="0" lang="en-US" sz="1800" u="none" cap="none" strike="noStrike">
                <a:solidFill>
                  <a:srgbClr val="0B1020"/>
                </a:solidFill>
                <a:latin typeface="Montserrat"/>
                <a:ea typeface="Montserrat"/>
                <a:cs typeface="Montserrat"/>
                <a:sym typeface="Montserrat"/>
              </a:rPr>
              <a:t>External validation / test-only:  ORIGA · DRISHTI-GS · ACRIMA · retina_dataset_2016</a:t>
            </a:r>
            <a:endParaRPr b="0" i="0" sz="1800" u="none" cap="none" strike="noStrike">
              <a:solidFill>
                <a:schemeClr val="dk1"/>
              </a:solidFill>
              <a:latin typeface="Montserrat"/>
              <a:ea typeface="Montserrat"/>
              <a:cs typeface="Montserrat"/>
              <a:sym typeface="Montserrat"/>
            </a:endParaRPr>
          </a:p>
        </p:txBody>
      </p:sp>
      <p:cxnSp>
        <p:nvCxnSpPr>
          <p:cNvPr id="591" name="Google Shape;591;p16"/>
          <p:cNvCxnSpPr/>
          <p:nvPr/>
        </p:nvCxnSpPr>
        <p:spPr>
          <a:xfrm>
            <a:off x="15389352" y="7913169"/>
            <a:ext cx="0" cy="521100"/>
          </a:xfrm>
          <a:prstGeom prst="straightConnector1">
            <a:avLst/>
          </a:prstGeom>
          <a:noFill/>
          <a:ln cap="flat" cmpd="sng" w="12700">
            <a:solidFill>
              <a:srgbClr val="DDE2E8"/>
            </a:solidFill>
            <a:prstDash val="solid"/>
            <a:round/>
            <a:headEnd len="sm" w="sm" type="none"/>
            <a:tailEnd len="sm" w="sm" type="none"/>
          </a:ln>
        </p:spPr>
      </p:cxnSp>
      <p:sp>
        <p:nvSpPr>
          <p:cNvPr id="592" name="Google Shape;592;p16"/>
          <p:cNvSpPr/>
          <p:nvPr/>
        </p:nvSpPr>
        <p:spPr>
          <a:xfrm>
            <a:off x="15773400" y="7885737"/>
            <a:ext cx="15087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A99AE"/>
              </a:buClr>
              <a:buSzPts val="1100"/>
              <a:buFont typeface="Inter"/>
              <a:buNone/>
            </a:pPr>
            <a:r>
              <a:rPr b="0" i="0" lang="en-US" sz="1100" u="none" cap="none" strike="noStrike">
                <a:solidFill>
                  <a:srgbClr val="8A99AE"/>
                </a:solidFill>
                <a:latin typeface="Montserrat"/>
                <a:ea typeface="Montserrat"/>
                <a:cs typeface="Montserrat"/>
                <a:sym typeface="Montserrat"/>
              </a:rPr>
              <a:t>REAL DATA</a:t>
            </a:r>
            <a:endParaRPr b="0" i="0" sz="11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8A99AE"/>
              </a:buClr>
              <a:buSzPts val="1100"/>
              <a:buFont typeface="Inter"/>
              <a:buNone/>
            </a:pPr>
            <a:r>
              <a:rPr b="0" i="0" lang="en-US" sz="1100" u="none" cap="none" strike="noStrike">
                <a:solidFill>
                  <a:srgbClr val="8A99AE"/>
                </a:solidFill>
                <a:latin typeface="Montserrat"/>
                <a:ea typeface="Montserrat"/>
                <a:cs typeface="Montserrat"/>
                <a:sym typeface="Montserrat"/>
              </a:rPr>
              <a:t>STRONGER MODELS</a:t>
            </a:r>
            <a:endParaRPr b="0" i="0" sz="11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8A99AE"/>
              </a:buClr>
              <a:buSzPts val="1100"/>
              <a:buFont typeface="Inter"/>
              <a:buNone/>
            </a:pPr>
            <a:r>
              <a:rPr b="0" i="0" lang="en-US" sz="1100" u="none" cap="none" strike="noStrike">
                <a:solidFill>
                  <a:srgbClr val="8A99AE"/>
                </a:solidFill>
                <a:latin typeface="Montserrat"/>
                <a:ea typeface="Montserrat"/>
                <a:cs typeface="Montserrat"/>
                <a:sym typeface="Montserrat"/>
              </a:rPr>
              <a:t>BETTER OUTCOMES</a:t>
            </a:r>
            <a:endParaRPr b="0" i="0" sz="1100" u="none" cap="none" strike="noStrike">
              <a:solidFill>
                <a:schemeClr val="dk1"/>
              </a:solidFill>
              <a:latin typeface="Montserrat"/>
              <a:ea typeface="Montserrat"/>
              <a:cs typeface="Montserrat"/>
              <a:sym typeface="Montserrat"/>
            </a:endParaRPr>
          </a:p>
        </p:txBody>
      </p:sp>
      <p:sp>
        <p:nvSpPr>
          <p:cNvPr id="593" name="Google Shape;593;p16"/>
          <p:cNvSpPr/>
          <p:nvPr/>
        </p:nvSpPr>
        <p:spPr>
          <a:xfrm>
            <a:off x="521208" y="9133893"/>
            <a:ext cx="2400300" cy="21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E82B7"/>
              </a:buClr>
              <a:buSzPts val="1200"/>
              <a:buFont typeface="Inter"/>
              <a:buNone/>
            </a:pPr>
            <a:r>
              <a:rPr b="0" i="0" lang="en-US" sz="1200" u="none" cap="none" strike="noStrike">
                <a:solidFill>
                  <a:srgbClr val="4E82B7"/>
                </a:solidFill>
                <a:latin typeface="Montserrat SemiBold"/>
                <a:ea typeface="Montserrat SemiBold"/>
                <a:cs typeface="Montserrat SemiBold"/>
                <a:sym typeface="Montserrat SemiBold"/>
              </a:rPr>
              <a:t>END-TO-END  PIPELINE</a:t>
            </a:r>
            <a:endParaRPr b="0" i="0" sz="1200" u="none" cap="none" strike="noStrike">
              <a:solidFill>
                <a:schemeClr val="dk1"/>
              </a:solidFill>
              <a:latin typeface="Montserrat SemiBold"/>
              <a:ea typeface="Montserrat SemiBold"/>
              <a:cs typeface="Montserrat SemiBold"/>
              <a:sym typeface="Montserrat SemiBold"/>
            </a:endParaRPr>
          </a:p>
        </p:txBody>
      </p:sp>
      <p:sp>
        <p:nvSpPr>
          <p:cNvPr id="594" name="Google Shape;594;p16"/>
          <p:cNvSpPr/>
          <p:nvPr/>
        </p:nvSpPr>
        <p:spPr>
          <a:xfrm>
            <a:off x="3236976" y="8914437"/>
            <a:ext cx="1700700" cy="576000"/>
          </a:xfrm>
          <a:prstGeom prst="roundRect">
            <a:avLst>
              <a:gd fmla="val 14286" name="adj"/>
            </a:avLst>
          </a:prstGeom>
          <a:solidFill>
            <a:srgbClr val="EAF8FB"/>
          </a:solidFill>
          <a:ln cap="flat" cmpd="sng" w="12700">
            <a:solidFill>
              <a:srgbClr val="2AA7B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95" name="Google Shape;595;p16"/>
          <p:cNvSpPr/>
          <p:nvPr/>
        </p:nvSpPr>
        <p:spPr>
          <a:xfrm>
            <a:off x="3346704" y="9092745"/>
            <a:ext cx="1481400" cy="23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500"/>
              <a:buFont typeface="Inter"/>
              <a:buNone/>
            </a:pPr>
            <a:r>
              <a:rPr b="0" i="0" lang="en-US" sz="1500" u="none" cap="none" strike="noStrike">
                <a:solidFill>
                  <a:srgbClr val="152235"/>
                </a:solidFill>
                <a:latin typeface="Montserrat"/>
                <a:ea typeface="Montserrat"/>
                <a:cs typeface="Montserrat"/>
                <a:sym typeface="Montserrat"/>
              </a:rPr>
              <a:t>Fundus image</a:t>
            </a:r>
            <a:endParaRPr b="0" i="0" sz="1500" u="none" cap="none" strike="noStrike">
              <a:solidFill>
                <a:schemeClr val="dk1"/>
              </a:solidFill>
              <a:latin typeface="Montserrat"/>
              <a:ea typeface="Montserrat"/>
              <a:cs typeface="Montserrat"/>
              <a:sym typeface="Montserrat"/>
            </a:endParaRPr>
          </a:p>
        </p:txBody>
      </p:sp>
      <p:cxnSp>
        <p:nvCxnSpPr>
          <p:cNvPr id="596" name="Google Shape;596;p16"/>
          <p:cNvCxnSpPr/>
          <p:nvPr/>
        </p:nvCxnSpPr>
        <p:spPr>
          <a:xfrm>
            <a:off x="5157216" y="9202473"/>
            <a:ext cx="246900" cy="0"/>
          </a:xfrm>
          <a:prstGeom prst="straightConnector1">
            <a:avLst/>
          </a:prstGeom>
          <a:noFill/>
          <a:ln cap="flat" cmpd="sng" w="12700">
            <a:solidFill>
              <a:srgbClr val="8AA3BC"/>
            </a:solidFill>
            <a:prstDash val="solid"/>
            <a:round/>
            <a:headEnd len="sm" w="sm" type="none"/>
            <a:tailEnd len="sm" w="sm" type="none"/>
          </a:ln>
        </p:spPr>
      </p:cxnSp>
      <p:sp>
        <p:nvSpPr>
          <p:cNvPr id="597" name="Google Shape;597;p16"/>
          <p:cNvSpPr/>
          <p:nvPr/>
        </p:nvSpPr>
        <p:spPr>
          <a:xfrm rot="5400000">
            <a:off x="5335542" y="9120051"/>
            <a:ext cx="123300" cy="164700"/>
          </a:xfrm>
          <a:prstGeom prst="triangle">
            <a:avLst>
              <a:gd fmla="val 50000" name="adj"/>
            </a:avLst>
          </a:prstGeom>
          <a:solidFill>
            <a:srgbClr val="8AA3BC"/>
          </a:solidFill>
          <a:ln cap="flat" cmpd="sng" w="12700">
            <a:solidFill>
              <a:srgbClr val="8AA3BC"/>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98" name="Google Shape;598;p16"/>
          <p:cNvSpPr/>
          <p:nvPr/>
        </p:nvSpPr>
        <p:spPr>
          <a:xfrm>
            <a:off x="5623560" y="8914437"/>
            <a:ext cx="1920300" cy="576000"/>
          </a:xfrm>
          <a:prstGeom prst="roundRect">
            <a:avLst>
              <a:gd fmla="val 14286" name="adj"/>
            </a:avLst>
          </a:prstGeom>
          <a:solidFill>
            <a:srgbClr val="F7FAFC"/>
          </a:solidFill>
          <a:ln cap="flat" cmpd="sng" w="12700">
            <a:solidFill>
              <a:srgbClr val="D0DBE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599" name="Google Shape;599;p16"/>
          <p:cNvSpPr/>
          <p:nvPr/>
        </p:nvSpPr>
        <p:spPr>
          <a:xfrm>
            <a:off x="5733288" y="9092745"/>
            <a:ext cx="1700700" cy="23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500"/>
              <a:buFont typeface="Inter"/>
              <a:buNone/>
            </a:pPr>
            <a:r>
              <a:rPr b="0" i="0" lang="en-US" sz="1500" u="none" cap="none" strike="noStrike">
                <a:solidFill>
                  <a:srgbClr val="152235"/>
                </a:solidFill>
                <a:latin typeface="Montserrat"/>
                <a:ea typeface="Montserrat"/>
                <a:cs typeface="Montserrat"/>
                <a:sym typeface="Montserrat"/>
              </a:rPr>
              <a:t>React</a:t>
            </a:r>
            <a:r>
              <a:rPr lang="en-US" sz="1500">
                <a:solidFill>
                  <a:srgbClr val="152235"/>
                </a:solidFill>
                <a:latin typeface="Montserrat"/>
                <a:ea typeface="Montserrat"/>
                <a:cs typeface="Montserrat"/>
                <a:sym typeface="Montserrat"/>
              </a:rPr>
              <a:t> </a:t>
            </a:r>
            <a:r>
              <a:rPr b="0" i="0" lang="en-US" sz="1500" u="none" cap="none" strike="noStrike">
                <a:solidFill>
                  <a:srgbClr val="152235"/>
                </a:solidFill>
                <a:latin typeface="Montserrat"/>
                <a:ea typeface="Montserrat"/>
                <a:cs typeface="Montserrat"/>
                <a:sym typeface="Montserrat"/>
              </a:rPr>
              <a:t>UI</a:t>
            </a:r>
            <a:endParaRPr b="0" i="0" sz="1500" u="none" cap="none" strike="noStrike">
              <a:solidFill>
                <a:schemeClr val="dk1"/>
              </a:solidFill>
              <a:latin typeface="Montserrat"/>
              <a:ea typeface="Montserrat"/>
              <a:cs typeface="Montserrat"/>
              <a:sym typeface="Montserrat"/>
            </a:endParaRPr>
          </a:p>
        </p:txBody>
      </p:sp>
      <p:cxnSp>
        <p:nvCxnSpPr>
          <p:cNvPr id="600" name="Google Shape;600;p16"/>
          <p:cNvCxnSpPr/>
          <p:nvPr/>
        </p:nvCxnSpPr>
        <p:spPr>
          <a:xfrm>
            <a:off x="7763256" y="9202473"/>
            <a:ext cx="219600" cy="0"/>
          </a:xfrm>
          <a:prstGeom prst="straightConnector1">
            <a:avLst/>
          </a:prstGeom>
          <a:noFill/>
          <a:ln cap="flat" cmpd="sng" w="12700">
            <a:solidFill>
              <a:srgbClr val="8AA3BC"/>
            </a:solidFill>
            <a:prstDash val="solid"/>
            <a:round/>
            <a:headEnd len="sm" w="sm" type="none"/>
            <a:tailEnd len="sm" w="sm" type="none"/>
          </a:ln>
        </p:spPr>
      </p:cxnSp>
      <p:sp>
        <p:nvSpPr>
          <p:cNvPr id="601" name="Google Shape;601;p16"/>
          <p:cNvSpPr/>
          <p:nvPr/>
        </p:nvSpPr>
        <p:spPr>
          <a:xfrm rot="5400000">
            <a:off x="7914150" y="9120051"/>
            <a:ext cx="123300" cy="164700"/>
          </a:xfrm>
          <a:prstGeom prst="triangle">
            <a:avLst>
              <a:gd fmla="val 50000" name="adj"/>
            </a:avLst>
          </a:prstGeom>
          <a:solidFill>
            <a:srgbClr val="8AA3BC"/>
          </a:solidFill>
          <a:ln cap="flat" cmpd="sng" w="12700">
            <a:solidFill>
              <a:srgbClr val="8AA3BC"/>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602" name="Google Shape;602;p16"/>
          <p:cNvSpPr/>
          <p:nvPr/>
        </p:nvSpPr>
        <p:spPr>
          <a:xfrm>
            <a:off x="8202168" y="8914437"/>
            <a:ext cx="1618500" cy="576000"/>
          </a:xfrm>
          <a:prstGeom prst="roundRect">
            <a:avLst>
              <a:gd fmla="val 14286" name="adj"/>
            </a:avLst>
          </a:prstGeom>
          <a:solidFill>
            <a:srgbClr val="F7FAFC"/>
          </a:solidFill>
          <a:ln cap="flat" cmpd="sng" w="12700">
            <a:solidFill>
              <a:srgbClr val="D0DBE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603" name="Google Shape;603;p16"/>
          <p:cNvSpPr/>
          <p:nvPr/>
        </p:nvSpPr>
        <p:spPr>
          <a:xfrm>
            <a:off x="8311896" y="9092745"/>
            <a:ext cx="1398900" cy="23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500"/>
              <a:buFont typeface="Inter"/>
              <a:buNone/>
            </a:pPr>
            <a:r>
              <a:rPr b="0" i="0" lang="en-US" sz="1500" u="none" cap="none" strike="noStrike">
                <a:solidFill>
                  <a:srgbClr val="152235"/>
                </a:solidFill>
                <a:latin typeface="Montserrat"/>
                <a:ea typeface="Montserrat"/>
                <a:cs typeface="Montserrat"/>
                <a:sym typeface="Montserrat"/>
              </a:rPr>
              <a:t>FastAPI</a:t>
            </a:r>
            <a:endParaRPr b="0" i="0" sz="1500" u="none" cap="none" strike="noStrike">
              <a:solidFill>
                <a:schemeClr val="dk1"/>
              </a:solidFill>
              <a:latin typeface="Montserrat"/>
              <a:ea typeface="Montserrat"/>
              <a:cs typeface="Montserrat"/>
              <a:sym typeface="Montserrat"/>
            </a:endParaRPr>
          </a:p>
        </p:txBody>
      </p:sp>
      <p:cxnSp>
        <p:nvCxnSpPr>
          <p:cNvPr id="604" name="Google Shape;604;p16"/>
          <p:cNvCxnSpPr/>
          <p:nvPr/>
        </p:nvCxnSpPr>
        <p:spPr>
          <a:xfrm>
            <a:off x="10040112" y="9202473"/>
            <a:ext cx="246900" cy="0"/>
          </a:xfrm>
          <a:prstGeom prst="straightConnector1">
            <a:avLst/>
          </a:prstGeom>
          <a:noFill/>
          <a:ln cap="flat" cmpd="sng" w="12700">
            <a:solidFill>
              <a:srgbClr val="8AA3BC"/>
            </a:solidFill>
            <a:prstDash val="solid"/>
            <a:round/>
            <a:headEnd len="sm" w="sm" type="none"/>
            <a:tailEnd len="sm" w="sm" type="none"/>
          </a:ln>
        </p:spPr>
      </p:cxnSp>
      <p:sp>
        <p:nvSpPr>
          <p:cNvPr id="605" name="Google Shape;605;p16"/>
          <p:cNvSpPr/>
          <p:nvPr/>
        </p:nvSpPr>
        <p:spPr>
          <a:xfrm rot="5400000">
            <a:off x="10218438" y="9120051"/>
            <a:ext cx="123300" cy="164700"/>
          </a:xfrm>
          <a:prstGeom prst="triangle">
            <a:avLst>
              <a:gd fmla="val 50000" name="adj"/>
            </a:avLst>
          </a:prstGeom>
          <a:solidFill>
            <a:srgbClr val="8AA3BC"/>
          </a:solidFill>
          <a:ln cap="flat" cmpd="sng" w="12700">
            <a:solidFill>
              <a:srgbClr val="8AA3BC"/>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606" name="Google Shape;606;p16"/>
          <p:cNvSpPr/>
          <p:nvPr/>
        </p:nvSpPr>
        <p:spPr>
          <a:xfrm>
            <a:off x="10506456" y="8914437"/>
            <a:ext cx="1920300" cy="576000"/>
          </a:xfrm>
          <a:prstGeom prst="roundRect">
            <a:avLst>
              <a:gd fmla="val 14286" name="adj"/>
            </a:avLst>
          </a:prstGeom>
          <a:solidFill>
            <a:srgbClr val="F7FAFC"/>
          </a:solidFill>
          <a:ln cap="flat" cmpd="sng" w="12700">
            <a:solidFill>
              <a:srgbClr val="D0DBE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607" name="Google Shape;607;p16"/>
          <p:cNvSpPr/>
          <p:nvPr/>
        </p:nvSpPr>
        <p:spPr>
          <a:xfrm>
            <a:off x="10616184" y="9092745"/>
            <a:ext cx="1700700" cy="23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500"/>
              <a:buFont typeface="Inter"/>
              <a:buNone/>
            </a:pPr>
            <a:r>
              <a:rPr b="0" i="0" lang="en-US" sz="1500" u="none" cap="none" strike="noStrike">
                <a:solidFill>
                  <a:srgbClr val="152235"/>
                </a:solidFill>
                <a:latin typeface="Montserrat"/>
                <a:ea typeface="Montserrat"/>
                <a:cs typeface="Montserrat"/>
                <a:sym typeface="Montserrat"/>
              </a:rPr>
              <a:t>PyTorch model</a:t>
            </a:r>
            <a:endParaRPr b="0" i="0" sz="1500" u="none" cap="none" strike="noStrike">
              <a:solidFill>
                <a:schemeClr val="dk1"/>
              </a:solidFill>
              <a:latin typeface="Montserrat"/>
              <a:ea typeface="Montserrat"/>
              <a:cs typeface="Montserrat"/>
              <a:sym typeface="Montserrat"/>
            </a:endParaRPr>
          </a:p>
        </p:txBody>
      </p:sp>
      <p:cxnSp>
        <p:nvCxnSpPr>
          <p:cNvPr id="608" name="Google Shape;608;p16"/>
          <p:cNvCxnSpPr/>
          <p:nvPr/>
        </p:nvCxnSpPr>
        <p:spPr>
          <a:xfrm>
            <a:off x="12646152" y="9202473"/>
            <a:ext cx="192000" cy="0"/>
          </a:xfrm>
          <a:prstGeom prst="straightConnector1">
            <a:avLst/>
          </a:prstGeom>
          <a:noFill/>
          <a:ln cap="flat" cmpd="sng" w="12700">
            <a:solidFill>
              <a:srgbClr val="8AA3BC"/>
            </a:solidFill>
            <a:prstDash val="solid"/>
            <a:round/>
            <a:headEnd len="sm" w="sm" type="none"/>
            <a:tailEnd len="sm" w="sm" type="none"/>
          </a:ln>
        </p:spPr>
      </p:cxnSp>
      <p:sp>
        <p:nvSpPr>
          <p:cNvPr id="609" name="Google Shape;609;p16"/>
          <p:cNvSpPr/>
          <p:nvPr/>
        </p:nvSpPr>
        <p:spPr>
          <a:xfrm rot="5400000">
            <a:off x="12769614" y="9120051"/>
            <a:ext cx="123300" cy="164700"/>
          </a:xfrm>
          <a:prstGeom prst="triangle">
            <a:avLst>
              <a:gd fmla="val 50000" name="adj"/>
            </a:avLst>
          </a:prstGeom>
          <a:solidFill>
            <a:srgbClr val="8AA3BC"/>
          </a:solidFill>
          <a:ln cap="flat" cmpd="sng" w="12700">
            <a:solidFill>
              <a:srgbClr val="8AA3BC"/>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610" name="Google Shape;610;p16"/>
          <p:cNvSpPr/>
          <p:nvPr/>
        </p:nvSpPr>
        <p:spPr>
          <a:xfrm>
            <a:off x="13057632" y="8914437"/>
            <a:ext cx="2030100" cy="576000"/>
          </a:xfrm>
          <a:prstGeom prst="roundRect">
            <a:avLst>
              <a:gd fmla="val 14286" name="adj"/>
            </a:avLst>
          </a:prstGeom>
          <a:solidFill>
            <a:srgbClr val="EAF8FB"/>
          </a:solidFill>
          <a:ln cap="flat" cmpd="sng" w="12700">
            <a:solidFill>
              <a:srgbClr val="2AA7B8"/>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611" name="Google Shape;611;p16"/>
          <p:cNvSpPr/>
          <p:nvPr/>
        </p:nvSpPr>
        <p:spPr>
          <a:xfrm>
            <a:off x="13167360" y="9092745"/>
            <a:ext cx="1810500" cy="233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500"/>
              <a:buFont typeface="Inter"/>
              <a:buNone/>
            </a:pPr>
            <a:r>
              <a:rPr b="0" i="0" lang="en-US" sz="1500" u="none" cap="none" strike="noStrike">
                <a:solidFill>
                  <a:srgbClr val="152235"/>
                </a:solidFill>
                <a:latin typeface="Montserrat"/>
                <a:ea typeface="Montserrat"/>
                <a:cs typeface="Montserrat"/>
                <a:sym typeface="Montserrat"/>
              </a:rPr>
              <a:t>Screening result</a:t>
            </a:r>
            <a:endParaRPr b="0" i="0" sz="1500" u="none" cap="none" strike="noStrike">
              <a:solidFill>
                <a:schemeClr val="dk1"/>
              </a:solidFill>
              <a:latin typeface="Montserrat"/>
              <a:ea typeface="Montserrat"/>
              <a:cs typeface="Montserrat"/>
              <a:sym typeface="Montserrat"/>
            </a:endParaRPr>
          </a:p>
        </p:txBody>
      </p:sp>
      <p:cxnSp>
        <p:nvCxnSpPr>
          <p:cNvPr id="612" name="Google Shape;612;p16"/>
          <p:cNvCxnSpPr/>
          <p:nvPr/>
        </p:nvCxnSpPr>
        <p:spPr>
          <a:xfrm>
            <a:off x="15430500" y="8887005"/>
            <a:ext cx="0" cy="576000"/>
          </a:xfrm>
          <a:prstGeom prst="straightConnector1">
            <a:avLst/>
          </a:prstGeom>
          <a:noFill/>
          <a:ln cap="flat" cmpd="sng" w="12700">
            <a:solidFill>
              <a:srgbClr val="DDE2E8"/>
            </a:solidFill>
            <a:prstDash val="solid"/>
            <a:round/>
            <a:headEnd len="sm" w="sm" type="none"/>
            <a:tailEnd len="sm" w="sm" type="none"/>
          </a:ln>
        </p:spPr>
      </p:cxnSp>
      <p:sp>
        <p:nvSpPr>
          <p:cNvPr id="613" name="Google Shape;613;p16"/>
          <p:cNvSpPr/>
          <p:nvPr/>
        </p:nvSpPr>
        <p:spPr>
          <a:xfrm>
            <a:off x="15841980" y="8887005"/>
            <a:ext cx="1536300" cy="57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8A99AE"/>
              </a:buClr>
              <a:buSzPts val="1100"/>
              <a:buFont typeface="Inter"/>
              <a:buNone/>
            </a:pPr>
            <a:r>
              <a:rPr b="0" i="0" lang="en-US" sz="1100" u="none" cap="none" strike="noStrike">
                <a:solidFill>
                  <a:srgbClr val="8A99AE"/>
                </a:solidFill>
                <a:latin typeface="Montserrat"/>
                <a:ea typeface="Montserrat"/>
                <a:cs typeface="Montserrat"/>
                <a:sym typeface="Montserrat"/>
              </a:rPr>
              <a:t>FROM IMAGE</a:t>
            </a:r>
            <a:endParaRPr b="0" i="0" sz="11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8A99AE"/>
              </a:buClr>
              <a:buSzPts val="1100"/>
              <a:buFont typeface="Inter"/>
              <a:buNone/>
            </a:pPr>
            <a:r>
              <a:rPr b="0" i="0" lang="en-US" sz="1100" u="none" cap="none" strike="noStrike">
                <a:solidFill>
                  <a:srgbClr val="8A99AE"/>
                </a:solidFill>
                <a:latin typeface="Montserrat"/>
                <a:ea typeface="Montserrat"/>
                <a:cs typeface="Montserrat"/>
                <a:sym typeface="Montserrat"/>
              </a:rPr>
              <a:t>TO INSIGHT</a:t>
            </a:r>
            <a:endParaRPr b="0" i="0" sz="11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8A99AE"/>
              </a:buClr>
              <a:buSzPts val="1100"/>
              <a:buFont typeface="Inter"/>
              <a:buNone/>
            </a:pPr>
            <a:r>
              <a:rPr b="0" i="0" lang="en-US" sz="1100" u="none" cap="none" strike="noStrike">
                <a:solidFill>
                  <a:srgbClr val="8A99AE"/>
                </a:solidFill>
                <a:latin typeface="Montserrat"/>
                <a:ea typeface="Montserrat"/>
                <a:cs typeface="Montserrat"/>
                <a:sym typeface="Montserrat"/>
              </a:rPr>
              <a:t>FOR BRIGHTER LIVES</a:t>
            </a:r>
            <a:endParaRPr b="0" i="0" sz="1100" u="none" cap="none" strike="noStrike">
              <a:solidFill>
                <a:schemeClr val="dk1"/>
              </a:solidFill>
              <a:latin typeface="Montserrat"/>
              <a:ea typeface="Montserrat"/>
              <a:cs typeface="Montserrat"/>
              <a:sym typeface="Montserrat"/>
            </a:endParaRPr>
          </a:p>
        </p:txBody>
      </p:sp>
      <p:sp>
        <p:nvSpPr>
          <p:cNvPr id="614" name="Google Shape;614;p16"/>
          <p:cNvSpPr/>
          <p:nvPr/>
        </p:nvSpPr>
        <p:spPr>
          <a:xfrm>
            <a:off x="2112232" y="6263124"/>
            <a:ext cx="1440300" cy="493800"/>
          </a:xfrm>
          <a:prstGeom prst="roundRect">
            <a:avLst>
              <a:gd fmla="val 50000" name="adj"/>
            </a:avLst>
          </a:prstGeom>
          <a:solidFill>
            <a:srgbClr val="F7FAFC"/>
          </a:solidFill>
          <a:ln cap="flat" cmpd="sng" w="12700">
            <a:solidFill>
              <a:srgbClr val="C8D4E2"/>
            </a:solidFill>
            <a:prstDash val="solid"/>
            <a:round/>
            <a:headEnd len="sm" w="sm" type="none"/>
            <a:tailEnd len="sm" w="sm" type="none"/>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dk1"/>
              </a:solidFill>
              <a:latin typeface="Inter"/>
              <a:ea typeface="Inter"/>
              <a:cs typeface="Inter"/>
              <a:sym typeface="Inter"/>
            </a:endParaRPr>
          </a:p>
        </p:txBody>
      </p:sp>
      <p:sp>
        <p:nvSpPr>
          <p:cNvPr id="615" name="Google Shape;615;p16"/>
          <p:cNvSpPr/>
          <p:nvPr/>
        </p:nvSpPr>
        <p:spPr>
          <a:xfrm>
            <a:off x="2263108" y="6382453"/>
            <a:ext cx="1138500" cy="24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52235"/>
              </a:buClr>
              <a:buSzPts val="1600"/>
              <a:buFont typeface="Inter"/>
              <a:buNone/>
            </a:pPr>
            <a:r>
              <a:rPr lang="en-US" sz="1600">
                <a:solidFill>
                  <a:srgbClr val="152235"/>
                </a:solidFill>
                <a:latin typeface="Inter"/>
                <a:ea typeface="Inter"/>
                <a:cs typeface="Inter"/>
                <a:sym typeface="Inter"/>
              </a:rPr>
              <a:t>scikit-learn</a:t>
            </a:r>
            <a:endParaRPr b="0" i="0" sz="1600" u="none" cap="none" strike="noStrike">
              <a:solidFill>
                <a:schemeClr val="dk1"/>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sp>
        <p:nvSpPr>
          <p:cNvPr id="621" name="Google Shape;621;p17"/>
          <p:cNvSpPr/>
          <p:nvPr/>
        </p:nvSpPr>
        <p:spPr>
          <a:xfrm>
            <a:off x="952500" y="2047875"/>
            <a:ext cx="163830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17"/>
          <p:cNvSpPr/>
          <p:nvPr/>
        </p:nvSpPr>
        <p:spPr>
          <a:xfrm>
            <a:off x="952500" y="762000"/>
            <a:ext cx="9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08 · ALGORITHMS</a:t>
            </a:r>
            <a:endParaRPr b="0" i="0" sz="1800" u="none" cap="none" strike="noStrike">
              <a:solidFill>
                <a:schemeClr val="dk1"/>
              </a:solidFill>
              <a:latin typeface="Calibri"/>
              <a:ea typeface="Calibri"/>
              <a:cs typeface="Calibri"/>
              <a:sym typeface="Calibri"/>
            </a:endParaRPr>
          </a:p>
        </p:txBody>
      </p:sp>
      <p:sp>
        <p:nvSpPr>
          <p:cNvPr id="623" name="Google Shape;623;p17"/>
          <p:cNvSpPr/>
          <p:nvPr/>
        </p:nvSpPr>
        <p:spPr>
          <a:xfrm>
            <a:off x="952500" y="1171575"/>
            <a:ext cx="6859734"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Approach &amp; evaluation</a:t>
            </a:r>
            <a:endParaRPr b="0" i="0" sz="4200" u="none" cap="none" strike="noStrike">
              <a:solidFill>
                <a:schemeClr val="dk1"/>
              </a:solidFill>
              <a:latin typeface="Calibri"/>
              <a:ea typeface="Calibri"/>
              <a:cs typeface="Calibri"/>
              <a:sym typeface="Calibri"/>
            </a:endParaRPr>
          </a:p>
        </p:txBody>
      </p:sp>
      <p:pic>
        <p:nvPicPr>
          <p:cNvPr descr="preencoded.png" id="624" name="Google Shape;624;p17"/>
          <p:cNvPicPr preferRelativeResize="0"/>
          <p:nvPr/>
        </p:nvPicPr>
        <p:blipFill rotWithShape="1">
          <a:blip r:embed="rId3">
            <a:alphaModFix/>
          </a:blip>
          <a:srcRect b="-3807" l="0" r="0" t="-3807"/>
          <a:stretch/>
        </p:blipFill>
        <p:spPr>
          <a:xfrm>
            <a:off x="16725900" y="762000"/>
            <a:ext cx="609600" cy="609600"/>
          </a:xfrm>
          <a:prstGeom prst="rect">
            <a:avLst/>
          </a:prstGeom>
          <a:noFill/>
          <a:ln>
            <a:noFill/>
          </a:ln>
        </p:spPr>
      </p:pic>
      <p:sp>
        <p:nvSpPr>
          <p:cNvPr id="625" name="Google Shape;625;p17"/>
          <p:cNvSpPr/>
          <p:nvPr/>
        </p:nvSpPr>
        <p:spPr>
          <a:xfrm>
            <a:off x="952500" y="2343150"/>
            <a:ext cx="8780145"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CANDIDATE APPROACHES</a:t>
            </a:r>
            <a:endParaRPr b="0" i="0" sz="1800" u="none" cap="none" strike="noStrike">
              <a:solidFill>
                <a:schemeClr val="dk1"/>
              </a:solidFill>
              <a:latin typeface="Calibri"/>
              <a:ea typeface="Calibri"/>
              <a:cs typeface="Calibri"/>
              <a:sym typeface="Calibri"/>
            </a:endParaRPr>
          </a:p>
        </p:txBody>
      </p:sp>
      <p:sp>
        <p:nvSpPr>
          <p:cNvPr id="626" name="Google Shape;626;p17"/>
          <p:cNvSpPr/>
          <p:nvPr/>
        </p:nvSpPr>
        <p:spPr>
          <a:xfrm>
            <a:off x="952500" y="2790825"/>
            <a:ext cx="7981950" cy="1385888"/>
          </a:xfrm>
          <a:prstGeom prst="roundRect">
            <a:avLst>
              <a:gd fmla="val 8247"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17"/>
          <p:cNvSpPr/>
          <p:nvPr/>
        </p:nvSpPr>
        <p:spPr>
          <a:xfrm>
            <a:off x="1181100" y="2981325"/>
            <a:ext cx="438150" cy="438150"/>
          </a:xfrm>
          <a:prstGeom prst="ellipse">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17"/>
          <p:cNvSpPr/>
          <p:nvPr/>
        </p:nvSpPr>
        <p:spPr>
          <a:xfrm>
            <a:off x="1143000" y="2981325"/>
            <a:ext cx="514350" cy="47625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01</a:t>
            </a:r>
            <a:endParaRPr b="0" i="0" sz="1800" u="none" cap="none" strike="noStrike">
              <a:solidFill>
                <a:schemeClr val="dk1"/>
              </a:solidFill>
              <a:latin typeface="Calibri"/>
              <a:ea typeface="Calibri"/>
              <a:cs typeface="Calibri"/>
              <a:sym typeface="Calibri"/>
            </a:endParaRPr>
          </a:p>
        </p:txBody>
      </p:sp>
      <p:sp>
        <p:nvSpPr>
          <p:cNvPr id="629" name="Google Shape;629;p17"/>
          <p:cNvSpPr/>
          <p:nvPr/>
        </p:nvSpPr>
        <p:spPr>
          <a:xfrm>
            <a:off x="1809750" y="2981325"/>
            <a:ext cx="7585710"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950"/>
              <a:buFont typeface="Montserrat"/>
              <a:buNone/>
            </a:pPr>
            <a:r>
              <a:rPr b="1" i="0" lang="en-US" sz="1950" u="none" cap="none" strike="noStrike">
                <a:solidFill>
                  <a:srgbClr val="111111"/>
                </a:solidFill>
                <a:latin typeface="Montserrat"/>
                <a:ea typeface="Montserrat"/>
                <a:cs typeface="Montserrat"/>
                <a:sym typeface="Montserrat"/>
              </a:rPr>
              <a:t>CNN transfer learning</a:t>
            </a:r>
            <a:endParaRPr b="0" i="0" sz="1950" u="none" cap="none" strike="noStrike">
              <a:solidFill>
                <a:schemeClr val="dk1"/>
              </a:solidFill>
              <a:latin typeface="Calibri"/>
              <a:ea typeface="Calibri"/>
              <a:cs typeface="Calibri"/>
              <a:sym typeface="Calibri"/>
            </a:endParaRPr>
          </a:p>
        </p:txBody>
      </p:sp>
      <p:sp>
        <p:nvSpPr>
          <p:cNvPr id="630" name="Google Shape;630;p17"/>
          <p:cNvSpPr/>
          <p:nvPr/>
        </p:nvSpPr>
        <p:spPr>
          <a:xfrm>
            <a:off x="1809750" y="3319463"/>
            <a:ext cx="7102983"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Use ResNet/EfficientNet to learn disease patterns from eye images.</a:t>
            </a:r>
            <a:endParaRPr b="0" i="0" sz="1875" u="none" cap="none" strike="noStrike">
              <a:solidFill>
                <a:schemeClr val="dk1"/>
              </a:solidFill>
              <a:latin typeface="Calibri"/>
              <a:ea typeface="Calibri"/>
              <a:cs typeface="Calibri"/>
              <a:sym typeface="Calibri"/>
            </a:endParaRPr>
          </a:p>
        </p:txBody>
      </p:sp>
      <p:sp>
        <p:nvSpPr>
          <p:cNvPr id="631" name="Google Shape;631;p17"/>
          <p:cNvSpPr/>
          <p:nvPr/>
        </p:nvSpPr>
        <p:spPr>
          <a:xfrm>
            <a:off x="952500" y="4310063"/>
            <a:ext cx="7981950" cy="1385888"/>
          </a:xfrm>
          <a:prstGeom prst="roundRect">
            <a:avLst>
              <a:gd fmla="val 8247"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17"/>
          <p:cNvSpPr/>
          <p:nvPr/>
        </p:nvSpPr>
        <p:spPr>
          <a:xfrm>
            <a:off x="1181100" y="4500563"/>
            <a:ext cx="438150" cy="438150"/>
          </a:xfrm>
          <a:prstGeom prst="ellipse">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17"/>
          <p:cNvSpPr/>
          <p:nvPr/>
        </p:nvSpPr>
        <p:spPr>
          <a:xfrm>
            <a:off x="1143000" y="4500563"/>
            <a:ext cx="514350" cy="47625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02</a:t>
            </a:r>
            <a:endParaRPr b="0" i="0" sz="1800" u="none" cap="none" strike="noStrike">
              <a:solidFill>
                <a:schemeClr val="dk1"/>
              </a:solidFill>
              <a:latin typeface="Calibri"/>
              <a:ea typeface="Calibri"/>
              <a:cs typeface="Calibri"/>
              <a:sym typeface="Calibri"/>
            </a:endParaRPr>
          </a:p>
        </p:txBody>
      </p:sp>
      <p:sp>
        <p:nvSpPr>
          <p:cNvPr id="634" name="Google Shape;634;p17"/>
          <p:cNvSpPr/>
          <p:nvPr/>
        </p:nvSpPr>
        <p:spPr>
          <a:xfrm>
            <a:off x="1809750" y="4500563"/>
            <a:ext cx="7585710"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950"/>
              <a:buFont typeface="Montserrat"/>
              <a:buNone/>
            </a:pPr>
            <a:r>
              <a:rPr b="1" i="0" lang="en-US" sz="1950" u="none" cap="none" strike="noStrike">
                <a:solidFill>
                  <a:srgbClr val="111111"/>
                </a:solidFill>
                <a:latin typeface="Montserrat"/>
                <a:ea typeface="Montserrat"/>
                <a:cs typeface="Montserrat"/>
                <a:sym typeface="Montserrat"/>
              </a:rPr>
              <a:t>Multi-task heads</a:t>
            </a:r>
            <a:endParaRPr b="0" i="0" sz="1950" u="none" cap="none" strike="noStrike">
              <a:solidFill>
                <a:schemeClr val="dk1"/>
              </a:solidFill>
              <a:latin typeface="Calibri"/>
              <a:ea typeface="Calibri"/>
              <a:cs typeface="Calibri"/>
              <a:sym typeface="Calibri"/>
            </a:endParaRPr>
          </a:p>
        </p:txBody>
      </p:sp>
      <p:sp>
        <p:nvSpPr>
          <p:cNvPr id="635" name="Google Shape;635;p17"/>
          <p:cNvSpPr/>
          <p:nvPr/>
        </p:nvSpPr>
        <p:spPr>
          <a:xfrm>
            <a:off x="1809750" y="4838700"/>
            <a:ext cx="7102983"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One model detects both cataract and glaucoma using shared features.</a:t>
            </a:r>
            <a:endParaRPr b="0" i="0" sz="1875" u="none" cap="none" strike="noStrike">
              <a:solidFill>
                <a:schemeClr val="dk1"/>
              </a:solidFill>
              <a:latin typeface="Calibri"/>
              <a:ea typeface="Calibri"/>
              <a:cs typeface="Calibri"/>
              <a:sym typeface="Calibri"/>
            </a:endParaRPr>
          </a:p>
        </p:txBody>
      </p:sp>
      <p:sp>
        <p:nvSpPr>
          <p:cNvPr id="636" name="Google Shape;636;p17"/>
          <p:cNvSpPr/>
          <p:nvPr/>
        </p:nvSpPr>
        <p:spPr>
          <a:xfrm>
            <a:off x="952500" y="5829300"/>
            <a:ext cx="7981950" cy="1385888"/>
          </a:xfrm>
          <a:prstGeom prst="roundRect">
            <a:avLst>
              <a:gd fmla="val 8247"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17"/>
          <p:cNvSpPr/>
          <p:nvPr/>
        </p:nvSpPr>
        <p:spPr>
          <a:xfrm>
            <a:off x="1181100" y="6019800"/>
            <a:ext cx="438150" cy="438150"/>
          </a:xfrm>
          <a:prstGeom prst="ellipse">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17"/>
          <p:cNvSpPr/>
          <p:nvPr/>
        </p:nvSpPr>
        <p:spPr>
          <a:xfrm>
            <a:off x="1143000" y="6019800"/>
            <a:ext cx="514350" cy="47625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03</a:t>
            </a:r>
            <a:endParaRPr b="0" i="0" sz="1800" u="none" cap="none" strike="noStrike">
              <a:solidFill>
                <a:schemeClr val="dk1"/>
              </a:solidFill>
              <a:latin typeface="Calibri"/>
              <a:ea typeface="Calibri"/>
              <a:cs typeface="Calibri"/>
              <a:sym typeface="Calibri"/>
            </a:endParaRPr>
          </a:p>
        </p:txBody>
      </p:sp>
      <p:sp>
        <p:nvSpPr>
          <p:cNvPr id="639" name="Google Shape;639;p17"/>
          <p:cNvSpPr/>
          <p:nvPr/>
        </p:nvSpPr>
        <p:spPr>
          <a:xfrm>
            <a:off x="1809750" y="6019800"/>
            <a:ext cx="7585710"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950"/>
              <a:buFont typeface="Montserrat"/>
              <a:buNone/>
            </a:pPr>
            <a:r>
              <a:rPr b="1" i="0" lang="en-US" sz="1950" u="none" cap="none" strike="noStrike">
                <a:solidFill>
                  <a:srgbClr val="111111"/>
                </a:solidFill>
                <a:latin typeface="Montserrat"/>
                <a:ea typeface="Montserrat"/>
                <a:cs typeface="Montserrat"/>
                <a:sym typeface="Montserrat"/>
              </a:rPr>
              <a:t>Baseline for comparison</a:t>
            </a:r>
            <a:endParaRPr b="0" i="0" sz="1950" u="none" cap="none" strike="noStrike">
              <a:solidFill>
                <a:schemeClr val="dk1"/>
              </a:solidFill>
              <a:latin typeface="Calibri"/>
              <a:ea typeface="Calibri"/>
              <a:cs typeface="Calibri"/>
              <a:sym typeface="Calibri"/>
            </a:endParaRPr>
          </a:p>
        </p:txBody>
      </p:sp>
      <p:sp>
        <p:nvSpPr>
          <p:cNvPr id="640" name="Google Shape;640;p17"/>
          <p:cNvSpPr/>
          <p:nvPr/>
        </p:nvSpPr>
        <p:spPr>
          <a:xfrm>
            <a:off x="1809750" y="6357938"/>
            <a:ext cx="7102983"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Use Logistic Regression as a simple model for comparison.</a:t>
            </a:r>
            <a:endParaRPr b="0" i="0" sz="1875" u="none" cap="none" strike="noStrike">
              <a:solidFill>
                <a:schemeClr val="dk1"/>
              </a:solidFill>
              <a:latin typeface="Calibri"/>
              <a:ea typeface="Calibri"/>
              <a:cs typeface="Calibri"/>
              <a:sym typeface="Calibri"/>
            </a:endParaRPr>
          </a:p>
        </p:txBody>
      </p:sp>
      <p:sp>
        <p:nvSpPr>
          <p:cNvPr id="641" name="Google Shape;641;p17"/>
          <p:cNvSpPr/>
          <p:nvPr/>
        </p:nvSpPr>
        <p:spPr>
          <a:xfrm>
            <a:off x="952500" y="7348538"/>
            <a:ext cx="7981950" cy="1385888"/>
          </a:xfrm>
          <a:prstGeom prst="roundRect">
            <a:avLst>
              <a:gd fmla="val 8247"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17"/>
          <p:cNvSpPr/>
          <p:nvPr/>
        </p:nvSpPr>
        <p:spPr>
          <a:xfrm>
            <a:off x="1181100" y="7539037"/>
            <a:ext cx="438150" cy="438150"/>
          </a:xfrm>
          <a:prstGeom prst="ellipse">
            <a:avLst/>
          </a:prstGeom>
          <a:solidFill>
            <a:srgbClr val="1E6FB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17"/>
          <p:cNvSpPr/>
          <p:nvPr/>
        </p:nvSpPr>
        <p:spPr>
          <a:xfrm>
            <a:off x="1143000" y="7539037"/>
            <a:ext cx="514350" cy="476250"/>
          </a:xfrm>
          <a:prstGeom prst="rect">
            <a:avLst/>
          </a:prstGeom>
          <a:noFill/>
          <a:ln>
            <a:noFill/>
          </a:ln>
        </p:spPr>
        <p:txBody>
          <a:bodyPr anchorCtr="0" anchor="ctr" bIns="25400" lIns="25400" spcFirstLastPara="1" rIns="25400" wrap="square" tIns="25400">
            <a:noAutofit/>
          </a:bodyPr>
          <a:lstStyle/>
          <a:p>
            <a:pPr indent="0" lvl="0" marL="0" marR="0" rtl="0" algn="ctr">
              <a:lnSpc>
                <a:spcPct val="100000"/>
              </a:lnSpc>
              <a:spcBef>
                <a:spcPts val="0"/>
              </a:spcBef>
              <a:spcAft>
                <a:spcPts val="0"/>
              </a:spcAft>
              <a:buClr>
                <a:srgbClr val="FFFFFF"/>
              </a:buClr>
              <a:buSzPts val="1800"/>
              <a:buFont typeface="Montserrat"/>
              <a:buNone/>
            </a:pPr>
            <a:r>
              <a:rPr b="1" i="0" lang="en-US" sz="1800" u="none" cap="none" strike="noStrike">
                <a:solidFill>
                  <a:srgbClr val="FFFFFF"/>
                </a:solidFill>
                <a:latin typeface="Montserrat"/>
                <a:ea typeface="Montserrat"/>
                <a:cs typeface="Montserrat"/>
                <a:sym typeface="Montserrat"/>
              </a:rPr>
              <a:t>04</a:t>
            </a:r>
            <a:endParaRPr b="0" i="0" sz="1800" u="none" cap="none" strike="noStrike">
              <a:solidFill>
                <a:schemeClr val="dk1"/>
              </a:solidFill>
              <a:latin typeface="Calibri"/>
              <a:ea typeface="Calibri"/>
              <a:cs typeface="Calibri"/>
              <a:sym typeface="Calibri"/>
            </a:endParaRPr>
          </a:p>
        </p:txBody>
      </p:sp>
      <p:sp>
        <p:nvSpPr>
          <p:cNvPr id="644" name="Google Shape;644;p17"/>
          <p:cNvSpPr/>
          <p:nvPr/>
        </p:nvSpPr>
        <p:spPr>
          <a:xfrm>
            <a:off x="1809750" y="7539037"/>
            <a:ext cx="7585710"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1950"/>
              <a:buFont typeface="Montserrat"/>
              <a:buNone/>
            </a:pPr>
            <a:r>
              <a:rPr b="1" i="0" lang="en-US" sz="1950" u="none" cap="none" strike="noStrike">
                <a:solidFill>
                  <a:srgbClr val="111111"/>
                </a:solidFill>
                <a:latin typeface="Montserrat"/>
                <a:ea typeface="Montserrat"/>
                <a:cs typeface="Montserrat"/>
                <a:sym typeface="Montserrat"/>
              </a:rPr>
              <a:t>Image-quality classifier</a:t>
            </a:r>
            <a:endParaRPr b="0" i="0" sz="1950" u="none" cap="none" strike="noStrike">
              <a:solidFill>
                <a:schemeClr val="dk1"/>
              </a:solidFill>
              <a:latin typeface="Calibri"/>
              <a:ea typeface="Calibri"/>
              <a:cs typeface="Calibri"/>
              <a:sym typeface="Calibri"/>
            </a:endParaRPr>
          </a:p>
        </p:txBody>
      </p:sp>
      <p:sp>
        <p:nvSpPr>
          <p:cNvPr id="645" name="Google Shape;645;p17"/>
          <p:cNvSpPr/>
          <p:nvPr/>
        </p:nvSpPr>
        <p:spPr>
          <a:xfrm>
            <a:off x="1809750" y="7877175"/>
            <a:ext cx="7102983"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Detects ungradable or poor-quality eye images before prediction</a:t>
            </a:r>
            <a:endParaRPr b="0" i="0" sz="1875" u="none" cap="none" strike="noStrike">
              <a:solidFill>
                <a:schemeClr val="dk1"/>
              </a:solidFill>
              <a:latin typeface="Calibri"/>
              <a:ea typeface="Calibri"/>
              <a:cs typeface="Calibri"/>
              <a:sym typeface="Calibri"/>
            </a:endParaRPr>
          </a:p>
        </p:txBody>
      </p:sp>
      <p:sp>
        <p:nvSpPr>
          <p:cNvPr id="646" name="Google Shape;646;p17"/>
          <p:cNvSpPr/>
          <p:nvPr/>
        </p:nvSpPr>
        <p:spPr>
          <a:xfrm>
            <a:off x="9353550" y="2343150"/>
            <a:ext cx="8780145"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3D3D3D"/>
              </a:buClr>
              <a:buSzPts val="1800"/>
              <a:buFont typeface="Montserrat"/>
              <a:buNone/>
            </a:pPr>
            <a:r>
              <a:rPr b="1" i="0" lang="en-US" sz="1800" u="none" cap="none" strike="noStrike">
                <a:solidFill>
                  <a:srgbClr val="3D3D3D"/>
                </a:solidFill>
                <a:latin typeface="Montserrat"/>
                <a:ea typeface="Montserrat"/>
                <a:cs typeface="Montserrat"/>
                <a:sym typeface="Montserrat"/>
              </a:rPr>
              <a:t>HOW WE WILL JUDGE IT</a:t>
            </a:r>
            <a:endParaRPr b="0" i="0" sz="1800" u="none" cap="none" strike="noStrike">
              <a:solidFill>
                <a:schemeClr val="dk1"/>
              </a:solidFill>
              <a:latin typeface="Calibri"/>
              <a:ea typeface="Calibri"/>
              <a:cs typeface="Calibri"/>
              <a:sym typeface="Calibri"/>
            </a:endParaRPr>
          </a:p>
        </p:txBody>
      </p:sp>
      <p:sp>
        <p:nvSpPr>
          <p:cNvPr id="647" name="Google Shape;647;p17"/>
          <p:cNvSpPr/>
          <p:nvPr/>
        </p:nvSpPr>
        <p:spPr>
          <a:xfrm>
            <a:off x="9353550" y="2790825"/>
            <a:ext cx="7981950" cy="5776913"/>
          </a:xfrm>
          <a:prstGeom prst="roundRect">
            <a:avLst>
              <a:gd fmla="val 2638"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17"/>
          <p:cNvSpPr/>
          <p:nvPr/>
        </p:nvSpPr>
        <p:spPr>
          <a:xfrm>
            <a:off x="9620250" y="3038475"/>
            <a:ext cx="8193405"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Sensitivity</a:t>
            </a:r>
            <a:endParaRPr b="0" i="0" sz="1950" u="none" cap="none" strike="noStrike">
              <a:solidFill>
                <a:schemeClr val="dk1"/>
              </a:solidFill>
              <a:latin typeface="Calibri"/>
              <a:ea typeface="Calibri"/>
              <a:cs typeface="Calibri"/>
              <a:sym typeface="Calibri"/>
            </a:endParaRPr>
          </a:p>
        </p:txBody>
      </p:sp>
      <p:sp>
        <p:nvSpPr>
          <p:cNvPr id="649" name="Google Shape;649;p17"/>
          <p:cNvSpPr/>
          <p:nvPr/>
        </p:nvSpPr>
        <p:spPr>
          <a:xfrm>
            <a:off x="9620250" y="3376613"/>
            <a:ext cx="8193405" cy="371475"/>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How well the model detects actual cataract/glaucoma cases.</a:t>
            </a:r>
            <a:endParaRPr b="0" i="0" sz="1875" u="none" cap="none" strike="noStrike">
              <a:solidFill>
                <a:schemeClr val="dk1"/>
              </a:solidFill>
              <a:latin typeface="Calibri"/>
              <a:ea typeface="Calibri"/>
              <a:cs typeface="Calibri"/>
              <a:sym typeface="Calibri"/>
            </a:endParaRPr>
          </a:p>
        </p:txBody>
      </p:sp>
      <p:sp>
        <p:nvSpPr>
          <p:cNvPr id="650" name="Google Shape;650;p17"/>
          <p:cNvSpPr/>
          <p:nvPr/>
        </p:nvSpPr>
        <p:spPr>
          <a:xfrm>
            <a:off x="9620250" y="3862387"/>
            <a:ext cx="744855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17"/>
          <p:cNvSpPr/>
          <p:nvPr/>
        </p:nvSpPr>
        <p:spPr>
          <a:xfrm>
            <a:off x="9620250" y="4024313"/>
            <a:ext cx="8193405"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Specificity</a:t>
            </a:r>
            <a:endParaRPr b="0" i="0" sz="1950" u="none" cap="none" strike="noStrike">
              <a:solidFill>
                <a:schemeClr val="dk1"/>
              </a:solidFill>
              <a:latin typeface="Calibri"/>
              <a:ea typeface="Calibri"/>
              <a:cs typeface="Calibri"/>
              <a:sym typeface="Calibri"/>
            </a:endParaRPr>
          </a:p>
        </p:txBody>
      </p:sp>
      <p:sp>
        <p:nvSpPr>
          <p:cNvPr id="652" name="Google Shape;652;p17"/>
          <p:cNvSpPr/>
          <p:nvPr/>
        </p:nvSpPr>
        <p:spPr>
          <a:xfrm>
            <a:off x="9620250" y="4362450"/>
            <a:ext cx="8193405" cy="371475"/>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How well it identifies healthy eyes.</a:t>
            </a:r>
            <a:endParaRPr b="0" i="0" sz="1875" u="none" cap="none" strike="noStrike">
              <a:solidFill>
                <a:schemeClr val="dk1"/>
              </a:solidFill>
              <a:latin typeface="Calibri"/>
              <a:ea typeface="Calibri"/>
              <a:cs typeface="Calibri"/>
              <a:sym typeface="Calibri"/>
            </a:endParaRPr>
          </a:p>
        </p:txBody>
      </p:sp>
      <p:sp>
        <p:nvSpPr>
          <p:cNvPr id="653" name="Google Shape;653;p17"/>
          <p:cNvSpPr/>
          <p:nvPr/>
        </p:nvSpPr>
        <p:spPr>
          <a:xfrm>
            <a:off x="9620250" y="4848225"/>
            <a:ext cx="744855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17"/>
          <p:cNvSpPr/>
          <p:nvPr/>
        </p:nvSpPr>
        <p:spPr>
          <a:xfrm>
            <a:off x="9620250" y="5010150"/>
            <a:ext cx="8193405"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AUC (Area Under the Curve)</a:t>
            </a:r>
            <a:endParaRPr b="0" i="0" sz="1950" u="none" cap="none" strike="noStrike">
              <a:solidFill>
                <a:schemeClr val="dk1"/>
              </a:solidFill>
              <a:latin typeface="Calibri"/>
              <a:ea typeface="Calibri"/>
              <a:cs typeface="Calibri"/>
              <a:sym typeface="Calibri"/>
            </a:endParaRPr>
          </a:p>
        </p:txBody>
      </p:sp>
      <p:sp>
        <p:nvSpPr>
          <p:cNvPr id="655" name="Google Shape;655;p17"/>
          <p:cNvSpPr/>
          <p:nvPr/>
        </p:nvSpPr>
        <p:spPr>
          <a:xfrm>
            <a:off x="9620250" y="5348288"/>
            <a:ext cx="7672007"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Overall ability to distinguish between healthy and diseased eyes.</a:t>
            </a:r>
            <a:endParaRPr b="0" i="0" sz="1875" u="none" cap="none" strike="noStrike">
              <a:solidFill>
                <a:schemeClr val="dk1"/>
              </a:solidFill>
              <a:latin typeface="Calibri"/>
              <a:ea typeface="Calibri"/>
              <a:cs typeface="Calibri"/>
              <a:sym typeface="Calibri"/>
            </a:endParaRPr>
          </a:p>
        </p:txBody>
      </p:sp>
      <p:sp>
        <p:nvSpPr>
          <p:cNvPr id="656" name="Google Shape;656;p17"/>
          <p:cNvSpPr/>
          <p:nvPr/>
        </p:nvSpPr>
        <p:spPr>
          <a:xfrm>
            <a:off x="9620250" y="6167438"/>
            <a:ext cx="744855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17"/>
          <p:cNvSpPr/>
          <p:nvPr/>
        </p:nvSpPr>
        <p:spPr>
          <a:xfrm>
            <a:off x="9620250" y="6329363"/>
            <a:ext cx="8193405"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Confusion Matrix</a:t>
            </a:r>
            <a:endParaRPr b="0" i="0" sz="1950" u="none" cap="none" strike="noStrike">
              <a:solidFill>
                <a:schemeClr val="dk1"/>
              </a:solidFill>
              <a:latin typeface="Calibri"/>
              <a:ea typeface="Calibri"/>
              <a:cs typeface="Calibri"/>
              <a:sym typeface="Calibri"/>
            </a:endParaRPr>
          </a:p>
        </p:txBody>
      </p:sp>
      <p:sp>
        <p:nvSpPr>
          <p:cNvPr id="658" name="Google Shape;658;p17"/>
          <p:cNvSpPr/>
          <p:nvPr/>
        </p:nvSpPr>
        <p:spPr>
          <a:xfrm>
            <a:off x="9620250" y="6667500"/>
            <a:ext cx="8193405" cy="371475"/>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Shows correct and incorrect predictions for each condition.</a:t>
            </a:r>
            <a:endParaRPr b="0" i="0" sz="1875" u="none" cap="none" strike="noStrike">
              <a:solidFill>
                <a:schemeClr val="dk1"/>
              </a:solidFill>
              <a:latin typeface="Calibri"/>
              <a:ea typeface="Calibri"/>
              <a:cs typeface="Calibri"/>
              <a:sym typeface="Calibri"/>
            </a:endParaRPr>
          </a:p>
        </p:txBody>
      </p:sp>
      <p:sp>
        <p:nvSpPr>
          <p:cNvPr id="659" name="Google Shape;659;p17"/>
          <p:cNvSpPr/>
          <p:nvPr/>
        </p:nvSpPr>
        <p:spPr>
          <a:xfrm>
            <a:off x="9620250" y="7153275"/>
            <a:ext cx="744855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17"/>
          <p:cNvSpPr/>
          <p:nvPr/>
        </p:nvSpPr>
        <p:spPr>
          <a:xfrm>
            <a:off x="9620250" y="7315200"/>
            <a:ext cx="8193405"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950"/>
              <a:buFont typeface="Montserrat"/>
              <a:buNone/>
            </a:pPr>
            <a:r>
              <a:rPr b="1" i="0" lang="en-US" sz="1950" u="none" cap="none" strike="noStrike">
                <a:solidFill>
                  <a:srgbClr val="1E6FBF"/>
                </a:solidFill>
                <a:latin typeface="Montserrat"/>
                <a:ea typeface="Montserrat"/>
                <a:cs typeface="Montserrat"/>
                <a:sym typeface="Montserrat"/>
              </a:rPr>
              <a:t>Test Set</a:t>
            </a:r>
            <a:endParaRPr b="0" i="0" sz="1950" u="none" cap="none" strike="noStrike">
              <a:solidFill>
                <a:schemeClr val="dk1"/>
              </a:solidFill>
              <a:latin typeface="Calibri"/>
              <a:ea typeface="Calibri"/>
              <a:cs typeface="Calibri"/>
              <a:sym typeface="Calibri"/>
            </a:endParaRPr>
          </a:p>
        </p:txBody>
      </p:sp>
      <p:sp>
        <p:nvSpPr>
          <p:cNvPr id="661" name="Google Shape;661;p17"/>
          <p:cNvSpPr/>
          <p:nvPr/>
        </p:nvSpPr>
        <p:spPr>
          <a:xfrm>
            <a:off x="9620250" y="7653337"/>
            <a:ext cx="7672007" cy="704850"/>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3D3D3D"/>
              </a:buClr>
              <a:buSzPts val="1875"/>
              <a:buFont typeface="Montserrat"/>
              <a:buNone/>
            </a:pPr>
            <a:r>
              <a:rPr b="0" i="0" lang="en-US" sz="1875" u="none" cap="none" strike="noStrike">
                <a:solidFill>
                  <a:srgbClr val="3D3D3D"/>
                </a:solidFill>
                <a:latin typeface="Montserrat"/>
                <a:ea typeface="Montserrat"/>
                <a:cs typeface="Montserrat"/>
                <a:sym typeface="Montserrat"/>
              </a:rPr>
              <a:t>Evaluate on unseen patient images to measure real-world performance.</a:t>
            </a:r>
            <a:endParaRPr b="0" i="0" sz="1875" u="none" cap="none" strike="noStrike">
              <a:solidFill>
                <a:schemeClr val="dk1"/>
              </a:solidFill>
              <a:latin typeface="Calibri"/>
              <a:ea typeface="Calibri"/>
              <a:cs typeface="Calibri"/>
              <a:sym typeface="Calibri"/>
            </a:endParaRPr>
          </a:p>
        </p:txBody>
      </p:sp>
      <p:sp>
        <p:nvSpPr>
          <p:cNvPr id="662" name="Google Shape;662;p17"/>
          <p:cNvSpPr/>
          <p:nvPr/>
        </p:nvSpPr>
        <p:spPr>
          <a:xfrm>
            <a:off x="952500" y="8759205"/>
            <a:ext cx="16383000" cy="765795"/>
          </a:xfrm>
          <a:prstGeom prst="roundRect">
            <a:avLst>
              <a:gd fmla="val 14926" name="adj"/>
            </a:avLst>
          </a:prstGeom>
          <a:solidFill>
            <a:srgbClr val="FDF4F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17"/>
          <p:cNvSpPr/>
          <p:nvPr/>
        </p:nvSpPr>
        <p:spPr>
          <a:xfrm>
            <a:off x="952500" y="8759205"/>
            <a:ext cx="38100" cy="765795"/>
          </a:xfrm>
          <a:prstGeom prst="rect">
            <a:avLst/>
          </a:prstGeom>
          <a:solidFill>
            <a:srgbClr val="B5573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17"/>
          <p:cNvSpPr/>
          <p:nvPr/>
        </p:nvSpPr>
        <p:spPr>
          <a:xfrm>
            <a:off x="1257300" y="8968755"/>
            <a:ext cx="16302990" cy="384795"/>
          </a:xfrm>
          <a:prstGeom prst="rect">
            <a:avLst/>
          </a:prstGeom>
          <a:noFill/>
          <a:ln>
            <a:noFill/>
          </a:ln>
        </p:spPr>
        <p:txBody>
          <a:bodyPr anchorCtr="0" anchor="t" bIns="25400" lIns="25400" spcFirstLastPara="1" rIns="25400" wrap="square" tIns="25400">
            <a:noAutofit/>
          </a:bodyPr>
          <a:lstStyle/>
          <a:p>
            <a:pPr indent="0" lvl="0" marL="0" marR="0" rtl="0" algn="l">
              <a:lnSpc>
                <a:spcPct val="115556"/>
              </a:lnSpc>
              <a:spcBef>
                <a:spcPts val="0"/>
              </a:spcBef>
              <a:spcAft>
                <a:spcPts val="0"/>
              </a:spcAft>
              <a:buClr>
                <a:srgbClr val="9D4531"/>
              </a:buClr>
              <a:buSzPts val="1950"/>
              <a:buFont typeface="Montserrat"/>
              <a:buNone/>
            </a:pPr>
            <a:r>
              <a:rPr b="1" i="0" lang="en-US" sz="1950" u="none" cap="none" strike="noStrike">
                <a:solidFill>
                  <a:srgbClr val="9D4531"/>
                </a:solidFill>
                <a:latin typeface="Montserrat"/>
                <a:ea typeface="Montserrat"/>
                <a:cs typeface="Montserrat"/>
                <a:sym typeface="Montserrat"/>
              </a:rPr>
              <a:t>Key goal </a:t>
            </a:r>
            <a:r>
              <a:rPr b="0" i="0" lang="en-US" sz="1950" u="none" cap="none" strike="noStrike">
                <a:solidFill>
                  <a:srgbClr val="3D3D3D"/>
                </a:solidFill>
                <a:highlight>
                  <a:srgbClr val="FDF4F1"/>
                </a:highlight>
                <a:latin typeface="Montserrat"/>
                <a:ea typeface="Montserrat"/>
                <a:cs typeface="Montserrat"/>
                <a:sym typeface="Montserrat"/>
              </a:rPr>
              <a:t>• Minimize missed disease cases while maintaining reliable predictions.</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8" name="Shape 668"/>
        <p:cNvGrpSpPr/>
        <p:nvPr/>
      </p:nvGrpSpPr>
      <p:grpSpPr>
        <a:xfrm>
          <a:off x="0" y="0"/>
          <a:ext cx="0" cy="0"/>
          <a:chOff x="0" y="0"/>
          <a:chExt cx="0" cy="0"/>
        </a:xfrm>
      </p:grpSpPr>
      <p:sp>
        <p:nvSpPr>
          <p:cNvPr id="669" name="Google Shape;669;p18"/>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18"/>
          <p:cNvSpPr/>
          <p:nvPr/>
        </p:nvSpPr>
        <p:spPr>
          <a:xfrm>
            <a:off x="1047750" y="857250"/>
            <a:ext cx="14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09 · DIAGRAMS</a:t>
            </a:r>
            <a:endParaRPr b="0" i="0" sz="1800" u="none" cap="none" strike="noStrike">
              <a:solidFill>
                <a:schemeClr val="dk1"/>
              </a:solidFill>
              <a:latin typeface="Montserrat"/>
              <a:ea typeface="Montserrat"/>
              <a:cs typeface="Montserrat"/>
              <a:sym typeface="Montserrat"/>
            </a:endParaRPr>
          </a:p>
        </p:txBody>
      </p:sp>
      <p:sp>
        <p:nvSpPr>
          <p:cNvPr id="671" name="Google Shape;671;p18"/>
          <p:cNvSpPr/>
          <p:nvPr/>
        </p:nvSpPr>
        <p:spPr>
          <a:xfrm>
            <a:off x="1047750" y="1266825"/>
            <a:ext cx="140000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Architecture (conceptual) Diagram </a:t>
            </a:r>
            <a:endParaRPr b="0" i="0" sz="4200" u="none" cap="none" strike="noStrike">
              <a:solidFill>
                <a:schemeClr val="dk1"/>
              </a:solidFill>
              <a:latin typeface="Montserrat"/>
              <a:ea typeface="Montserrat"/>
              <a:cs typeface="Montserrat"/>
              <a:sym typeface="Montserrat"/>
            </a:endParaRPr>
          </a:p>
        </p:txBody>
      </p:sp>
      <p:pic>
        <p:nvPicPr>
          <p:cNvPr descr="preencoded.png" id="672" name="Google Shape;672;p18"/>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673" name="Google Shape;673;p18"/>
          <p:cNvSpPr txBox="1"/>
          <p:nvPr/>
        </p:nvSpPr>
        <p:spPr>
          <a:xfrm>
            <a:off x="1047750" y="2600000"/>
            <a:ext cx="16192500" cy="5000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900"/>
              </a:spcBef>
              <a:spcAft>
                <a:spcPts val="0"/>
              </a:spcAft>
              <a:buClr>
                <a:srgbClr val="000000"/>
              </a:buClr>
              <a:buSzPts val="1950"/>
              <a:buFont typeface="Arial"/>
              <a:buNone/>
            </a:pPr>
            <a:r>
              <a:t/>
            </a:r>
            <a:endParaRPr/>
          </a:p>
        </p:txBody>
      </p:sp>
      <p:pic>
        <p:nvPicPr>
          <p:cNvPr id="674" name="Google Shape;674;p18" title="1_conceptual.png"/>
          <p:cNvPicPr preferRelativeResize="0"/>
          <p:nvPr/>
        </p:nvPicPr>
        <p:blipFill rotWithShape="1">
          <a:blip r:embed="rId4">
            <a:alphaModFix/>
          </a:blip>
          <a:srcRect b="0" l="308" r="298" t="0"/>
          <a:stretch/>
        </p:blipFill>
        <p:spPr>
          <a:xfrm>
            <a:off x="607138" y="2162175"/>
            <a:ext cx="17073725" cy="41017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8" name="Shape 678"/>
        <p:cNvGrpSpPr/>
        <p:nvPr/>
      </p:nvGrpSpPr>
      <p:grpSpPr>
        <a:xfrm>
          <a:off x="0" y="0"/>
          <a:ext cx="0" cy="0"/>
          <a:chOff x="0" y="0"/>
          <a:chExt cx="0" cy="0"/>
        </a:xfrm>
      </p:grpSpPr>
      <p:sp>
        <p:nvSpPr>
          <p:cNvPr id="679" name="Google Shape;679;h477ccb3d9d7ecdff_0_6"/>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h477ccb3d9d7ecdff_0_6"/>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09 · DIAGRAMS</a:t>
            </a:r>
            <a:endParaRPr b="0" i="0" sz="1800" u="none" cap="none" strike="noStrike">
              <a:solidFill>
                <a:schemeClr val="dk1"/>
              </a:solidFill>
              <a:latin typeface="Montserrat"/>
              <a:ea typeface="Montserrat"/>
              <a:cs typeface="Montserrat"/>
              <a:sym typeface="Montserrat"/>
            </a:endParaRPr>
          </a:p>
        </p:txBody>
      </p:sp>
      <p:sp>
        <p:nvSpPr>
          <p:cNvPr id="681" name="Google Shape;681;h477ccb3d9d7ecdff_0_6"/>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Context</a:t>
            </a:r>
            <a:r>
              <a:rPr b="1" lang="en-US" sz="4200">
                <a:solidFill>
                  <a:srgbClr val="111111"/>
                </a:solidFill>
                <a:latin typeface="Montserrat"/>
                <a:ea typeface="Montserrat"/>
                <a:cs typeface="Montserrat"/>
                <a:sym typeface="Montserrat"/>
              </a:rPr>
              <a:t> Diagram </a:t>
            </a:r>
            <a:endParaRPr b="0" i="0" sz="4200" u="none" cap="none" strike="noStrike">
              <a:solidFill>
                <a:schemeClr val="dk1"/>
              </a:solidFill>
              <a:latin typeface="Montserrat"/>
              <a:ea typeface="Montserrat"/>
              <a:cs typeface="Montserrat"/>
              <a:sym typeface="Montserrat"/>
            </a:endParaRPr>
          </a:p>
        </p:txBody>
      </p:sp>
      <p:pic>
        <p:nvPicPr>
          <p:cNvPr descr="preencoded.png" id="682" name="Google Shape;682;h477ccb3d9d7ecdff_0_6"/>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sp>
        <p:nvSpPr>
          <p:cNvPr id="683" name="Google Shape;683;h477ccb3d9d7ecdff_0_6"/>
          <p:cNvSpPr txBox="1"/>
          <p:nvPr/>
        </p:nvSpPr>
        <p:spPr>
          <a:xfrm>
            <a:off x="1047750" y="2600000"/>
            <a:ext cx="16192500" cy="50001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900"/>
              </a:spcBef>
              <a:spcAft>
                <a:spcPts val="0"/>
              </a:spcAft>
              <a:buClr>
                <a:srgbClr val="000000"/>
              </a:buClr>
              <a:buSzPts val="1950"/>
              <a:buFont typeface="Arial"/>
              <a:buNone/>
            </a:pPr>
            <a:r>
              <a:t/>
            </a:r>
            <a:endParaRPr/>
          </a:p>
        </p:txBody>
      </p:sp>
      <p:pic>
        <p:nvPicPr>
          <p:cNvPr id="684" name="Google Shape;684;h477ccb3d9d7ecdff_0_6" title="3_context.png"/>
          <p:cNvPicPr preferRelativeResize="0"/>
          <p:nvPr/>
        </p:nvPicPr>
        <p:blipFill rotWithShape="1">
          <a:blip r:embed="rId4">
            <a:alphaModFix/>
          </a:blip>
          <a:srcRect b="0" l="0" r="-3885" t="0"/>
          <a:stretch/>
        </p:blipFill>
        <p:spPr>
          <a:xfrm>
            <a:off x="3364888" y="2047800"/>
            <a:ext cx="11558226" cy="78228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8" name="Shape 688"/>
        <p:cNvGrpSpPr/>
        <p:nvPr/>
      </p:nvGrpSpPr>
      <p:grpSpPr>
        <a:xfrm>
          <a:off x="0" y="0"/>
          <a:ext cx="0" cy="0"/>
          <a:chOff x="0" y="0"/>
          <a:chExt cx="0" cy="0"/>
        </a:xfrm>
      </p:grpSpPr>
      <p:sp>
        <p:nvSpPr>
          <p:cNvPr id="689" name="Google Shape;689;h477ccb3d9d7ecdff_0_18"/>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h477ccb3d9d7ecdff_0_18"/>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09 · DIAGRAMS</a:t>
            </a:r>
            <a:endParaRPr b="0" i="0" sz="1800" u="none" cap="none" strike="noStrike">
              <a:solidFill>
                <a:schemeClr val="dk1"/>
              </a:solidFill>
              <a:latin typeface="Montserrat"/>
              <a:ea typeface="Montserrat"/>
              <a:cs typeface="Montserrat"/>
              <a:sym typeface="Montserrat"/>
            </a:endParaRPr>
          </a:p>
        </p:txBody>
      </p:sp>
      <p:sp>
        <p:nvSpPr>
          <p:cNvPr id="691" name="Google Shape;691;h477ccb3d9d7ecdff_0_18"/>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ER</a:t>
            </a:r>
            <a:r>
              <a:rPr b="1" lang="en-US" sz="4200">
                <a:solidFill>
                  <a:srgbClr val="111111"/>
                </a:solidFill>
                <a:latin typeface="Montserrat"/>
                <a:ea typeface="Montserrat"/>
                <a:cs typeface="Montserrat"/>
                <a:sym typeface="Montserrat"/>
              </a:rPr>
              <a:t> Diagram</a:t>
            </a:r>
            <a:endParaRPr b="0" i="0" sz="4200" u="none" cap="none" strike="noStrike">
              <a:solidFill>
                <a:schemeClr val="dk1"/>
              </a:solidFill>
              <a:latin typeface="Montserrat"/>
              <a:ea typeface="Montserrat"/>
              <a:cs typeface="Montserrat"/>
              <a:sym typeface="Montserrat"/>
            </a:endParaRPr>
          </a:p>
        </p:txBody>
      </p:sp>
      <p:pic>
        <p:nvPicPr>
          <p:cNvPr descr="preencoded.png" id="692" name="Google Shape;692;h477ccb3d9d7ecdff_0_18"/>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693" name="Google Shape;693;h477ccb3d9d7ecdff_0_18" title="4_er.png"/>
          <p:cNvPicPr preferRelativeResize="0"/>
          <p:nvPr/>
        </p:nvPicPr>
        <p:blipFill rotWithShape="1">
          <a:blip r:embed="rId4">
            <a:alphaModFix/>
          </a:blip>
          <a:srcRect b="0" l="0" r="-492" t="0"/>
          <a:stretch/>
        </p:blipFill>
        <p:spPr>
          <a:xfrm>
            <a:off x="3842363" y="2171775"/>
            <a:ext cx="10603274" cy="781042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7" name="Shape 697"/>
        <p:cNvGrpSpPr/>
        <p:nvPr/>
      </p:nvGrpSpPr>
      <p:grpSpPr>
        <a:xfrm>
          <a:off x="0" y="0"/>
          <a:ext cx="0" cy="0"/>
          <a:chOff x="0" y="0"/>
          <a:chExt cx="0" cy="0"/>
        </a:xfrm>
      </p:grpSpPr>
      <p:sp>
        <p:nvSpPr>
          <p:cNvPr id="698" name="Google Shape;698;h477ccb3d9d7ecdff_0_30"/>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h477ccb3d9d7ecdff_0_30"/>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09 · DIAGRAMS</a:t>
            </a:r>
            <a:endParaRPr b="0" i="0" sz="1800" u="none" cap="none" strike="noStrike">
              <a:solidFill>
                <a:schemeClr val="dk1"/>
              </a:solidFill>
              <a:latin typeface="Montserrat"/>
              <a:ea typeface="Montserrat"/>
              <a:cs typeface="Montserrat"/>
              <a:sym typeface="Montserrat"/>
            </a:endParaRPr>
          </a:p>
        </p:txBody>
      </p:sp>
      <p:sp>
        <p:nvSpPr>
          <p:cNvPr id="700" name="Google Shape;700;h477ccb3d9d7ecdff_0_30"/>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Sequence</a:t>
            </a:r>
            <a:r>
              <a:rPr b="1" lang="en-US" sz="4200">
                <a:solidFill>
                  <a:srgbClr val="111111"/>
                </a:solidFill>
                <a:latin typeface="Montserrat"/>
                <a:ea typeface="Montserrat"/>
                <a:cs typeface="Montserrat"/>
                <a:sym typeface="Montserrat"/>
              </a:rPr>
              <a:t> Diagram</a:t>
            </a:r>
            <a:endParaRPr b="0" i="0" sz="4200" u="none" cap="none" strike="noStrike">
              <a:solidFill>
                <a:schemeClr val="dk1"/>
              </a:solidFill>
              <a:latin typeface="Montserrat"/>
              <a:ea typeface="Montserrat"/>
              <a:cs typeface="Montserrat"/>
              <a:sym typeface="Montserrat"/>
            </a:endParaRPr>
          </a:p>
        </p:txBody>
      </p:sp>
      <p:pic>
        <p:nvPicPr>
          <p:cNvPr descr="preencoded.png" id="701" name="Google Shape;701;h477ccb3d9d7ecdff_0_30"/>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702" name="Google Shape;702;h477ccb3d9d7ecdff_0_30" title="2_sequence.png"/>
          <p:cNvPicPr preferRelativeResize="0"/>
          <p:nvPr/>
        </p:nvPicPr>
        <p:blipFill rotWithShape="1">
          <a:blip r:embed="rId4">
            <a:alphaModFix/>
          </a:blip>
          <a:srcRect b="0" l="0" r="0" t="0"/>
          <a:stretch/>
        </p:blipFill>
        <p:spPr>
          <a:xfrm>
            <a:off x="1061150" y="2122800"/>
            <a:ext cx="16164424" cy="80742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6" name="Shape 706"/>
        <p:cNvGrpSpPr/>
        <p:nvPr/>
      </p:nvGrpSpPr>
      <p:grpSpPr>
        <a:xfrm>
          <a:off x="0" y="0"/>
          <a:ext cx="0" cy="0"/>
          <a:chOff x="0" y="0"/>
          <a:chExt cx="0" cy="0"/>
        </a:xfrm>
      </p:grpSpPr>
      <p:sp>
        <p:nvSpPr>
          <p:cNvPr id="707" name="Google Shape;707;h477ccb3d9d7ecdff_0_40"/>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h477ccb3d9d7ecdff_0_40"/>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09 · DIAGRAMS</a:t>
            </a:r>
            <a:endParaRPr b="0" i="0" sz="1800" u="none" cap="none" strike="noStrike">
              <a:solidFill>
                <a:schemeClr val="dk1"/>
              </a:solidFill>
              <a:latin typeface="Montserrat"/>
              <a:ea typeface="Montserrat"/>
              <a:cs typeface="Montserrat"/>
              <a:sym typeface="Montserrat"/>
            </a:endParaRPr>
          </a:p>
        </p:txBody>
      </p:sp>
      <p:sp>
        <p:nvSpPr>
          <p:cNvPr id="709" name="Google Shape;709;h477ccb3d9d7ecdff_0_40"/>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State</a:t>
            </a:r>
            <a:r>
              <a:rPr b="1" lang="en-US" sz="4200">
                <a:solidFill>
                  <a:srgbClr val="111111"/>
                </a:solidFill>
                <a:latin typeface="Montserrat"/>
                <a:ea typeface="Montserrat"/>
                <a:cs typeface="Montserrat"/>
                <a:sym typeface="Montserrat"/>
              </a:rPr>
              <a:t> Diagram</a:t>
            </a:r>
            <a:endParaRPr b="0" i="0" sz="4200" u="none" cap="none" strike="noStrike">
              <a:solidFill>
                <a:schemeClr val="dk1"/>
              </a:solidFill>
              <a:latin typeface="Montserrat"/>
              <a:ea typeface="Montserrat"/>
              <a:cs typeface="Montserrat"/>
              <a:sym typeface="Montserrat"/>
            </a:endParaRPr>
          </a:p>
        </p:txBody>
      </p:sp>
      <p:pic>
        <p:nvPicPr>
          <p:cNvPr descr="preencoded.png" id="710" name="Google Shape;710;h477ccb3d9d7ecdff_0_40"/>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711" name="Google Shape;711;h477ccb3d9d7ecdff_0_40" title="5_state_slide.mmd.png"/>
          <p:cNvPicPr preferRelativeResize="0"/>
          <p:nvPr/>
        </p:nvPicPr>
        <p:blipFill>
          <a:blip r:embed="rId4">
            <a:alphaModFix/>
          </a:blip>
          <a:stretch>
            <a:fillRect/>
          </a:stretch>
        </p:blipFill>
        <p:spPr>
          <a:xfrm>
            <a:off x="152400" y="2324175"/>
            <a:ext cx="17983201" cy="206350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5" name="Shape 715"/>
        <p:cNvGrpSpPr/>
        <p:nvPr/>
      </p:nvGrpSpPr>
      <p:grpSpPr>
        <a:xfrm>
          <a:off x="0" y="0"/>
          <a:ext cx="0" cy="0"/>
          <a:chOff x="0" y="0"/>
          <a:chExt cx="0" cy="0"/>
        </a:xfrm>
      </p:grpSpPr>
      <p:sp>
        <p:nvSpPr>
          <p:cNvPr id="716" name="Google Shape;716;h477ccb3d9d7ecdff_0_50"/>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7" name="Google Shape;717;h477ccb3d9d7ecdff_0_50"/>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09 · DIAGRAMS</a:t>
            </a:r>
            <a:endParaRPr b="0" i="0" sz="1800" u="none" cap="none" strike="noStrike">
              <a:solidFill>
                <a:schemeClr val="dk1"/>
              </a:solidFill>
              <a:latin typeface="Montserrat"/>
              <a:ea typeface="Montserrat"/>
              <a:cs typeface="Montserrat"/>
              <a:sym typeface="Montserrat"/>
            </a:endParaRPr>
          </a:p>
        </p:txBody>
      </p:sp>
      <p:sp>
        <p:nvSpPr>
          <p:cNvPr id="718" name="Google Shape;718;h477ccb3d9d7ecdff_0_50"/>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Class</a:t>
            </a:r>
            <a:r>
              <a:rPr b="1" lang="en-US" sz="4200">
                <a:solidFill>
                  <a:srgbClr val="111111"/>
                </a:solidFill>
                <a:latin typeface="Montserrat"/>
                <a:ea typeface="Montserrat"/>
                <a:cs typeface="Montserrat"/>
                <a:sym typeface="Montserrat"/>
              </a:rPr>
              <a:t> Diagram</a:t>
            </a:r>
            <a:endParaRPr b="0" i="0" sz="4200" u="none" cap="none" strike="noStrike">
              <a:solidFill>
                <a:schemeClr val="dk1"/>
              </a:solidFill>
              <a:latin typeface="Montserrat"/>
              <a:ea typeface="Montserrat"/>
              <a:cs typeface="Montserrat"/>
              <a:sym typeface="Montserrat"/>
            </a:endParaRPr>
          </a:p>
        </p:txBody>
      </p:sp>
      <p:pic>
        <p:nvPicPr>
          <p:cNvPr descr="preencoded.png" id="719" name="Google Shape;719;h477ccb3d9d7ecdff_0_50"/>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720" name="Google Shape;720;h477ccb3d9d7ecdff_0_50" title="6_class.png"/>
          <p:cNvPicPr preferRelativeResize="0"/>
          <p:nvPr/>
        </p:nvPicPr>
        <p:blipFill rotWithShape="1">
          <a:blip r:embed="rId4">
            <a:alphaModFix/>
          </a:blip>
          <a:srcRect b="0" l="0" r="0" t="0"/>
          <a:stretch/>
        </p:blipFill>
        <p:spPr>
          <a:xfrm>
            <a:off x="4161100" y="2040550"/>
            <a:ext cx="9965425" cy="807267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111"/>
        </a:solidFill>
      </p:bgPr>
    </p:bg>
    <p:spTree>
      <p:nvGrpSpPr>
        <p:cNvPr id="725" name="Shape 725"/>
        <p:cNvGrpSpPr/>
        <p:nvPr/>
      </p:nvGrpSpPr>
      <p:grpSpPr>
        <a:xfrm>
          <a:off x="0" y="0"/>
          <a:ext cx="0" cy="0"/>
          <a:chOff x="0" y="0"/>
          <a:chExt cx="0" cy="0"/>
        </a:xfrm>
      </p:grpSpPr>
      <p:pic>
        <p:nvPicPr>
          <p:cNvPr descr="preencoded.png" id="726" name="Google Shape;726;h582754c433727a4c_0_230"/>
          <p:cNvPicPr preferRelativeResize="0"/>
          <p:nvPr/>
        </p:nvPicPr>
        <p:blipFill rotWithShape="1">
          <a:blip r:embed="rId3">
            <a:alphaModFix/>
          </a:blip>
          <a:srcRect b="-3810" l="0" r="0" t="-3810"/>
          <a:stretch/>
        </p:blipFill>
        <p:spPr>
          <a:xfrm>
            <a:off x="8572500" y="3355181"/>
            <a:ext cx="1143000" cy="1143001"/>
          </a:xfrm>
          <a:prstGeom prst="rect">
            <a:avLst/>
          </a:prstGeom>
          <a:noFill/>
          <a:ln>
            <a:noFill/>
          </a:ln>
        </p:spPr>
      </p:pic>
      <p:sp>
        <p:nvSpPr>
          <p:cNvPr id="727" name="Google Shape;727;h582754c433727a4c_0_230"/>
          <p:cNvSpPr/>
          <p:nvPr/>
        </p:nvSpPr>
        <p:spPr>
          <a:xfrm>
            <a:off x="1371600" y="4879181"/>
            <a:ext cx="15544800" cy="952500"/>
          </a:xfrm>
          <a:prstGeom prst="rect">
            <a:avLst/>
          </a:prstGeom>
          <a:noFill/>
          <a:ln>
            <a:noFill/>
          </a:ln>
        </p:spPr>
        <p:txBody>
          <a:bodyPr anchorCtr="0" anchor="t" bIns="25400" lIns="25400" spcFirstLastPara="1" rIns="25400" wrap="square" tIns="25400">
            <a:noAutofit/>
          </a:bodyPr>
          <a:lstStyle/>
          <a:p>
            <a:pPr indent="0" lvl="0" marL="0" marR="0" rtl="0" algn="ctr">
              <a:lnSpc>
                <a:spcPct val="82051"/>
              </a:lnSpc>
              <a:spcBef>
                <a:spcPts val="0"/>
              </a:spcBef>
              <a:spcAft>
                <a:spcPts val="0"/>
              </a:spcAft>
              <a:buClr>
                <a:srgbClr val="FFFFFF"/>
              </a:buClr>
              <a:buSzPts val="7200"/>
              <a:buFont typeface="Montserrat"/>
              <a:buNone/>
            </a:pPr>
            <a:r>
              <a:rPr b="1" i="0" lang="en-US" sz="7200" u="none" cap="none" strike="noStrike">
                <a:solidFill>
                  <a:srgbClr val="FFFFFF"/>
                </a:solidFill>
                <a:latin typeface="Montserrat"/>
                <a:ea typeface="Montserrat"/>
                <a:cs typeface="Montserrat"/>
                <a:sym typeface="Montserrat"/>
              </a:rPr>
              <a:t>Sprint 1 work</a:t>
            </a:r>
            <a:endParaRPr b="0" i="0" sz="7200" u="none" cap="none" strike="noStrike">
              <a:solidFill>
                <a:schemeClr val="dk1"/>
              </a:solidFill>
              <a:latin typeface="Calibri"/>
              <a:ea typeface="Calibri"/>
              <a:cs typeface="Calibri"/>
              <a:sym typeface="Calibri"/>
            </a:endParaRPr>
          </a:p>
        </p:txBody>
      </p:sp>
      <p:sp>
        <p:nvSpPr>
          <p:cNvPr id="728" name="Google Shape;728;h582754c433727a4c_0_230"/>
          <p:cNvSpPr/>
          <p:nvPr/>
        </p:nvSpPr>
        <p:spPr>
          <a:xfrm>
            <a:off x="8572500" y="6174581"/>
            <a:ext cx="1143000" cy="28500"/>
          </a:xfrm>
          <a:prstGeom prst="rect">
            <a:avLst/>
          </a:prstGeom>
          <a:solidFill>
            <a:srgbClr val="7DB7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h582754c433727a4c_0_230"/>
          <p:cNvSpPr/>
          <p:nvPr/>
        </p:nvSpPr>
        <p:spPr>
          <a:xfrm>
            <a:off x="2286000" y="6584156"/>
            <a:ext cx="13716000" cy="14631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E5E5E5"/>
              </a:buClr>
              <a:buSzPts val="2250"/>
              <a:buFont typeface="Montserrat"/>
              <a:buNone/>
            </a:pPr>
            <a:r>
              <a:rPr b="1" i="0" lang="en-US" sz="1800" u="none" cap="none" strike="noStrike">
                <a:solidFill>
                  <a:srgbClr val="7DB7F6"/>
                </a:solidFill>
                <a:latin typeface="Montserrat"/>
                <a:ea typeface="Montserrat"/>
                <a:cs typeface="Montserrat"/>
                <a:sym typeface="Montserrat"/>
              </a:rPr>
              <a:t>PART 2 OF 4</a:t>
            </a:r>
            <a:endParaRPr b="0" i="0" sz="2250" u="none" cap="none" strike="noStrike">
              <a:solidFill>
                <a:schemeClr val="dk1"/>
              </a:solidFill>
              <a:latin typeface="Calibri"/>
              <a:ea typeface="Calibri"/>
              <a:cs typeface="Calibri"/>
              <a:sym typeface="Calibri"/>
            </a:endParaRPr>
          </a:p>
          <a:p>
            <a:pPr indent="0" lvl="0" marL="0" marR="0" rtl="0" algn="ctr">
              <a:lnSpc>
                <a:spcPct val="100000"/>
              </a:lnSpc>
              <a:spcBef>
                <a:spcPts val="1000"/>
              </a:spcBef>
              <a:spcAft>
                <a:spcPts val="0"/>
              </a:spcAft>
              <a:buClr>
                <a:srgbClr val="E5E5E5"/>
              </a:buClr>
              <a:buSzPts val="2250"/>
              <a:buFont typeface="Montserrat"/>
              <a:buNone/>
            </a:pPr>
            <a:r>
              <a:rPr b="0" i="0" lang="en-US" sz="2250" u="none" cap="none" strike="noStrike">
                <a:solidFill>
                  <a:srgbClr val="E5E5E5"/>
                </a:solidFill>
                <a:latin typeface="Montserrat"/>
                <a:ea typeface="Montserrat"/>
                <a:cs typeface="Montserrat"/>
                <a:sym typeface="Montserrat"/>
              </a:rPr>
              <a:t>10 Product backlog · 11 Sprint 1 backlog, test cases, stories completed</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3" name="Shape 733"/>
        <p:cNvGrpSpPr/>
        <p:nvPr/>
      </p:nvGrpSpPr>
      <p:grpSpPr>
        <a:xfrm>
          <a:off x="0" y="0"/>
          <a:ext cx="0" cy="0"/>
          <a:chOff x="0" y="0"/>
          <a:chExt cx="0" cy="0"/>
        </a:xfrm>
      </p:grpSpPr>
      <p:sp>
        <p:nvSpPr>
          <p:cNvPr id="734" name="Google Shape;734;h334fb147900af653_2_0"/>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h334fb147900af653_2_0"/>
          <p:cNvSpPr/>
          <p:nvPr/>
        </p:nvSpPr>
        <p:spPr>
          <a:xfrm>
            <a:off x="1047750" y="857250"/>
            <a:ext cx="14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10 · PRODUCT BACKLOG </a:t>
            </a:r>
            <a:endParaRPr b="0" i="0" sz="1800" u="none" cap="none" strike="noStrike">
              <a:solidFill>
                <a:schemeClr val="dk1"/>
              </a:solidFill>
              <a:latin typeface="Montserrat"/>
              <a:ea typeface="Montserrat"/>
              <a:cs typeface="Montserrat"/>
              <a:sym typeface="Montserrat"/>
            </a:endParaRPr>
          </a:p>
        </p:txBody>
      </p:sp>
      <p:sp>
        <p:nvSpPr>
          <p:cNvPr id="736" name="Google Shape;736;h334fb147900af653_2_0"/>
          <p:cNvSpPr/>
          <p:nvPr/>
        </p:nvSpPr>
        <p:spPr>
          <a:xfrm>
            <a:off x="1047750" y="1266825"/>
            <a:ext cx="140000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Product backlog – User</a:t>
            </a:r>
            <a:r>
              <a:rPr b="1" lang="en-US" sz="4200">
                <a:solidFill>
                  <a:srgbClr val="111111"/>
                </a:solidFill>
                <a:latin typeface="Montserrat"/>
                <a:ea typeface="Montserrat"/>
                <a:cs typeface="Montserrat"/>
                <a:sym typeface="Montserrat"/>
              </a:rPr>
              <a:t> </a:t>
            </a:r>
            <a:r>
              <a:rPr b="1" i="0" lang="en-US" sz="4200" u="none" cap="none" strike="noStrike">
                <a:solidFill>
                  <a:srgbClr val="111111"/>
                </a:solidFill>
                <a:latin typeface="Montserrat"/>
                <a:ea typeface="Montserrat"/>
                <a:cs typeface="Montserrat"/>
                <a:sym typeface="Montserrat"/>
              </a:rPr>
              <a:t>Stories</a:t>
            </a:r>
            <a:endParaRPr b="0" i="0" sz="4200" u="none" cap="none" strike="noStrike">
              <a:solidFill>
                <a:schemeClr val="dk1"/>
              </a:solidFill>
              <a:latin typeface="Montserrat"/>
              <a:ea typeface="Montserrat"/>
              <a:cs typeface="Montserrat"/>
              <a:sym typeface="Montserrat"/>
            </a:endParaRPr>
          </a:p>
        </p:txBody>
      </p:sp>
      <p:pic>
        <p:nvPicPr>
          <p:cNvPr descr="preencoded.png" id="737" name="Google Shape;737;h334fb147900af653_2_0"/>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pic>
        <p:nvPicPr>
          <p:cNvPr id="738" name="Google Shape;738;h334fb147900af653_2_0" title="Screenshot 2026-10-18 at 8.36.20 PM.png"/>
          <p:cNvPicPr preferRelativeResize="0"/>
          <p:nvPr/>
        </p:nvPicPr>
        <p:blipFill rotWithShape="1">
          <a:blip r:embed="rId4">
            <a:alphaModFix/>
          </a:blip>
          <a:srcRect b="0" l="0" r="0" t="3026"/>
          <a:stretch/>
        </p:blipFill>
        <p:spPr>
          <a:xfrm>
            <a:off x="1089450" y="2162175"/>
            <a:ext cx="16150801" cy="7935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2" name="Shape 742"/>
        <p:cNvGrpSpPr/>
        <p:nvPr/>
      </p:nvGrpSpPr>
      <p:grpSpPr>
        <a:xfrm>
          <a:off x="0" y="0"/>
          <a:ext cx="0" cy="0"/>
          <a:chOff x="0" y="0"/>
          <a:chExt cx="0" cy="0"/>
        </a:xfrm>
      </p:grpSpPr>
      <p:sp>
        <p:nvSpPr>
          <p:cNvPr id="743" name="Google Shape;743;h65918b382aa025a3_0_45"/>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4" name="Google Shape;744;h65918b382aa025a3_0_45"/>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10 · PRODUCT BACKLOG </a:t>
            </a:r>
            <a:endParaRPr b="0" i="0" sz="1800" u="none" cap="none" strike="noStrike">
              <a:solidFill>
                <a:schemeClr val="dk1"/>
              </a:solidFill>
              <a:latin typeface="Montserrat"/>
              <a:ea typeface="Montserrat"/>
              <a:cs typeface="Montserrat"/>
              <a:sym typeface="Montserrat"/>
            </a:endParaRPr>
          </a:p>
        </p:txBody>
      </p:sp>
      <p:sp>
        <p:nvSpPr>
          <p:cNvPr id="745" name="Google Shape;745;h65918b382aa025a3_0_45"/>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Product backlog – User Stories</a:t>
            </a:r>
            <a:endParaRPr b="0" i="0" sz="4200" u="none" cap="none" strike="noStrike">
              <a:solidFill>
                <a:schemeClr val="dk1"/>
              </a:solidFill>
              <a:latin typeface="Montserrat"/>
              <a:ea typeface="Montserrat"/>
              <a:cs typeface="Montserrat"/>
              <a:sym typeface="Montserrat"/>
            </a:endParaRPr>
          </a:p>
        </p:txBody>
      </p:sp>
      <p:pic>
        <p:nvPicPr>
          <p:cNvPr descr="preencoded.png" id="746" name="Google Shape;746;h65918b382aa025a3_0_45"/>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747" name="Google Shape;747;h65918b382aa025a3_0_45" title="Screenshot 2026-10-18 at 8.37.00 PM.png"/>
          <p:cNvPicPr preferRelativeResize="0"/>
          <p:nvPr/>
        </p:nvPicPr>
        <p:blipFill rotWithShape="1">
          <a:blip r:embed="rId4">
            <a:alphaModFix/>
          </a:blip>
          <a:srcRect b="5603" l="0" r="0" t="5595"/>
          <a:stretch/>
        </p:blipFill>
        <p:spPr>
          <a:xfrm>
            <a:off x="1047750" y="2047800"/>
            <a:ext cx="15785444" cy="81248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1" name="Shape 751"/>
        <p:cNvGrpSpPr/>
        <p:nvPr/>
      </p:nvGrpSpPr>
      <p:grpSpPr>
        <a:xfrm>
          <a:off x="0" y="0"/>
          <a:ext cx="0" cy="0"/>
          <a:chOff x="0" y="0"/>
          <a:chExt cx="0" cy="0"/>
        </a:xfrm>
      </p:grpSpPr>
      <p:sp>
        <p:nvSpPr>
          <p:cNvPr id="752" name="Google Shape;752;h65918b382aa025a3_0_54"/>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3" name="Google Shape;753;h65918b382aa025a3_0_54"/>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10 · PRODUCT BACKLOG </a:t>
            </a:r>
            <a:endParaRPr b="0" i="0" sz="1800" u="none" cap="none" strike="noStrike">
              <a:solidFill>
                <a:schemeClr val="dk1"/>
              </a:solidFill>
              <a:latin typeface="Montserrat"/>
              <a:ea typeface="Montserrat"/>
              <a:cs typeface="Montserrat"/>
              <a:sym typeface="Montserrat"/>
            </a:endParaRPr>
          </a:p>
        </p:txBody>
      </p:sp>
      <p:sp>
        <p:nvSpPr>
          <p:cNvPr id="754" name="Google Shape;754;h65918b382aa025a3_0_54"/>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Product backlog – User Stories</a:t>
            </a:r>
            <a:endParaRPr b="0" i="0" sz="4200" u="none" cap="none" strike="noStrike">
              <a:solidFill>
                <a:schemeClr val="dk1"/>
              </a:solidFill>
              <a:latin typeface="Montserrat"/>
              <a:ea typeface="Montserrat"/>
              <a:cs typeface="Montserrat"/>
              <a:sym typeface="Montserrat"/>
            </a:endParaRPr>
          </a:p>
        </p:txBody>
      </p:sp>
      <p:pic>
        <p:nvPicPr>
          <p:cNvPr descr="preencoded.png" id="755" name="Google Shape;755;h65918b382aa025a3_0_54"/>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756" name="Google Shape;756;h65918b382aa025a3_0_54" title="Screenshot 2026-10-18 at 12.55.45 AM.png"/>
          <p:cNvPicPr preferRelativeResize="0"/>
          <p:nvPr/>
        </p:nvPicPr>
        <p:blipFill rotWithShape="1">
          <a:blip r:embed="rId4">
            <a:alphaModFix/>
          </a:blip>
          <a:srcRect b="-2700" l="0" r="0" t="2700"/>
          <a:stretch/>
        </p:blipFill>
        <p:spPr>
          <a:xfrm>
            <a:off x="1089450" y="2162175"/>
            <a:ext cx="16192500" cy="66341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0" name="Shape 760"/>
        <p:cNvGrpSpPr/>
        <p:nvPr/>
      </p:nvGrpSpPr>
      <p:grpSpPr>
        <a:xfrm>
          <a:off x="0" y="0"/>
          <a:ext cx="0" cy="0"/>
          <a:chOff x="0" y="0"/>
          <a:chExt cx="0" cy="0"/>
        </a:xfrm>
      </p:grpSpPr>
      <p:sp>
        <p:nvSpPr>
          <p:cNvPr id="761" name="Google Shape;761;h14c0d8afbf1f53da_11_0"/>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h14c0d8afbf1f53da_11_0"/>
          <p:cNvSpPr/>
          <p:nvPr/>
        </p:nvSpPr>
        <p:spPr>
          <a:xfrm>
            <a:off x="1047750" y="857250"/>
            <a:ext cx="14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11 · SPRINT 1 BACKLOG</a:t>
            </a:r>
            <a:endParaRPr b="0" i="0" sz="1800" u="none" cap="none" strike="noStrike">
              <a:solidFill>
                <a:schemeClr val="dk1"/>
              </a:solidFill>
              <a:latin typeface="Montserrat"/>
              <a:ea typeface="Montserrat"/>
              <a:cs typeface="Montserrat"/>
              <a:sym typeface="Montserrat"/>
            </a:endParaRPr>
          </a:p>
        </p:txBody>
      </p:sp>
      <p:sp>
        <p:nvSpPr>
          <p:cNvPr id="763" name="Google Shape;763;h14c0d8afbf1f53da_11_0"/>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Sprint 1 backlog</a:t>
            </a:r>
            <a:endParaRPr b="0" i="0" sz="4200" u="none" cap="none" strike="noStrike">
              <a:solidFill>
                <a:schemeClr val="dk1"/>
              </a:solidFill>
              <a:latin typeface="Montserrat"/>
              <a:ea typeface="Montserrat"/>
              <a:cs typeface="Montserrat"/>
              <a:sym typeface="Montserrat"/>
            </a:endParaRPr>
          </a:p>
        </p:txBody>
      </p:sp>
      <p:pic>
        <p:nvPicPr>
          <p:cNvPr descr="preencoded.png" id="764" name="Google Shape;764;h14c0d8afbf1f53da_11_0"/>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pic>
        <p:nvPicPr>
          <p:cNvPr id="765" name="Google Shape;765;h14c0d8afbf1f53da_11_0" title="Screenshot 2026-10-16 at 7.45.23 PM.png"/>
          <p:cNvPicPr preferRelativeResize="0"/>
          <p:nvPr/>
        </p:nvPicPr>
        <p:blipFill rotWithShape="1">
          <a:blip r:embed="rId4">
            <a:alphaModFix/>
          </a:blip>
          <a:srcRect b="0" l="0" r="0" t="0"/>
          <a:stretch/>
        </p:blipFill>
        <p:spPr>
          <a:xfrm>
            <a:off x="1091625" y="2162175"/>
            <a:ext cx="16104750" cy="80521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9" name="Shape 769"/>
        <p:cNvGrpSpPr/>
        <p:nvPr/>
      </p:nvGrpSpPr>
      <p:grpSpPr>
        <a:xfrm>
          <a:off x="0" y="0"/>
          <a:ext cx="0" cy="0"/>
          <a:chOff x="0" y="0"/>
          <a:chExt cx="0" cy="0"/>
        </a:xfrm>
      </p:grpSpPr>
      <p:sp>
        <p:nvSpPr>
          <p:cNvPr id="770" name="Google Shape;770;p21"/>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21"/>
          <p:cNvSpPr/>
          <p:nvPr/>
        </p:nvSpPr>
        <p:spPr>
          <a:xfrm>
            <a:off x="1047750" y="857250"/>
            <a:ext cx="14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11 · SPRINT 1 BACKLOG</a:t>
            </a:r>
            <a:endParaRPr b="0" i="0" sz="1800" u="none" cap="none" strike="noStrike">
              <a:solidFill>
                <a:schemeClr val="dk1"/>
              </a:solidFill>
              <a:latin typeface="Montserrat"/>
              <a:ea typeface="Montserrat"/>
              <a:cs typeface="Montserrat"/>
              <a:sym typeface="Montserrat"/>
            </a:endParaRPr>
          </a:p>
        </p:txBody>
      </p:sp>
      <p:sp>
        <p:nvSpPr>
          <p:cNvPr id="772" name="Google Shape;772;p21"/>
          <p:cNvSpPr/>
          <p:nvPr/>
        </p:nvSpPr>
        <p:spPr>
          <a:xfrm>
            <a:off x="1047750" y="1266825"/>
            <a:ext cx="14000000" cy="685800"/>
          </a:xfrm>
          <a:prstGeom prst="rect">
            <a:avLst/>
          </a:prstGeom>
          <a:noFill/>
          <a:ln>
            <a:noFill/>
          </a:ln>
        </p:spPr>
        <p:txBody>
          <a:bodyPr anchorCtr="0" anchor="t" bIns="25400" lIns="25400" spcFirstLastPara="1" rIns="25400" wrap="square" tIns="25400">
            <a:noAutofit/>
          </a:bodyPr>
          <a:lstStyle/>
          <a:p>
            <a:pPr indent="0" lvl="0" marL="0" rtl="0" algn="l">
              <a:lnSpc>
                <a:spcPct val="115000"/>
              </a:lnSpc>
              <a:spcBef>
                <a:spcPts val="0"/>
              </a:spcBef>
              <a:spcAft>
                <a:spcPts val="0"/>
              </a:spcAft>
              <a:buClr>
                <a:schemeClr val="dk1"/>
              </a:buClr>
              <a:buSzPts val="1100"/>
              <a:buFont typeface="Arial"/>
              <a:buNone/>
            </a:pPr>
            <a:r>
              <a:rPr b="1" lang="en-US" sz="4200">
                <a:solidFill>
                  <a:srgbClr val="111111"/>
                </a:solidFill>
                <a:latin typeface="Montserrat"/>
                <a:ea typeface="Montserrat"/>
                <a:cs typeface="Montserrat"/>
                <a:sym typeface="Montserrat"/>
              </a:rPr>
              <a:t>Backend tests: data preparation</a:t>
            </a:r>
            <a:endParaRPr b="1" sz="4200">
              <a:solidFill>
                <a:srgbClr val="11111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773" name="Google Shape;773;p21"/>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pic>
        <p:nvPicPr>
          <p:cNvPr id="774" name="Google Shape;774;p21" title="Screenshot 2026-10-18 at 12.18.20 AM.png"/>
          <p:cNvPicPr preferRelativeResize="0"/>
          <p:nvPr/>
        </p:nvPicPr>
        <p:blipFill rotWithShape="1">
          <a:blip r:embed="rId4">
            <a:alphaModFix/>
          </a:blip>
          <a:srcRect b="19251" l="0" r="0" t="0"/>
          <a:stretch/>
        </p:blipFill>
        <p:spPr>
          <a:xfrm>
            <a:off x="407915" y="2600572"/>
            <a:ext cx="13300141" cy="6291750"/>
          </a:xfrm>
          <a:prstGeom prst="rect">
            <a:avLst/>
          </a:prstGeom>
          <a:noFill/>
          <a:ln>
            <a:noFill/>
          </a:ln>
        </p:spPr>
      </p:pic>
      <p:sp>
        <p:nvSpPr>
          <p:cNvPr id="775" name="Google Shape;775;p21"/>
          <p:cNvSpPr txBox="1"/>
          <p:nvPr/>
        </p:nvSpPr>
        <p:spPr>
          <a:xfrm>
            <a:off x="14274189" y="2600575"/>
            <a:ext cx="3243600" cy="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2171C6"/>
                </a:solidFill>
                <a:latin typeface="Montserrat"/>
                <a:ea typeface="Montserrat"/>
                <a:cs typeface="Montserrat"/>
                <a:sym typeface="Montserrat"/>
              </a:rPr>
              <a:t>WHAT WE CHECK</a:t>
            </a:r>
            <a:endParaRPr b="1" sz="2050">
              <a:solidFill>
                <a:srgbClr val="2171C6"/>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776" name="Google Shape;776;p21"/>
          <p:cNvSpPr txBox="1"/>
          <p:nvPr/>
        </p:nvSpPr>
        <p:spPr>
          <a:xfrm>
            <a:off x="13887724" y="3330077"/>
            <a:ext cx="3948600" cy="29895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Labels match the photos.</a:t>
            </a:r>
            <a:endParaRPr sz="2200">
              <a:solidFill>
                <a:srgbClr val="111111"/>
              </a:solidFill>
              <a:latin typeface="Montserrat"/>
              <a:ea typeface="Montserrat"/>
              <a:cs typeface="Montserrat"/>
              <a:sym typeface="Montserrat"/>
            </a:endParaRPr>
          </a:p>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Patients stay in separate splits.</a:t>
            </a:r>
            <a:endParaRPr sz="2200">
              <a:solidFill>
                <a:srgbClr val="111111"/>
              </a:solidFill>
              <a:latin typeface="Montserrat"/>
              <a:ea typeface="Montserrat"/>
              <a:cs typeface="Montserrat"/>
              <a:sym typeface="Montserrat"/>
            </a:endParaRPr>
          </a:p>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Preprocessing preserves the original files.</a:t>
            </a:r>
            <a:endParaRPr sz="22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777" name="Google Shape;777;p21"/>
          <p:cNvSpPr txBox="1"/>
          <p:nvPr/>
        </p:nvSpPr>
        <p:spPr>
          <a:xfrm>
            <a:off x="14267663" y="6543427"/>
            <a:ext cx="3243600" cy="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B5573F"/>
                </a:solidFill>
                <a:latin typeface="Montserrat"/>
                <a:ea typeface="Montserrat"/>
                <a:cs typeface="Montserrat"/>
                <a:sym typeface="Montserrat"/>
              </a:rPr>
              <a:t>WHY IT MATTERS</a:t>
            </a:r>
            <a:endParaRPr b="1" sz="2050">
              <a:solidFill>
                <a:srgbClr val="B5573F"/>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778" name="Google Shape;778;p21"/>
          <p:cNvSpPr txBox="1"/>
          <p:nvPr/>
        </p:nvSpPr>
        <p:spPr>
          <a:xfrm>
            <a:off x="14252658" y="7196229"/>
            <a:ext cx="3467400" cy="165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200">
                <a:solidFill>
                  <a:srgbClr val="111111"/>
                </a:solidFill>
                <a:latin typeface="Montserrat"/>
                <a:ea typeface="Montserrat"/>
                <a:cs typeface="Montserrat"/>
                <a:sym typeface="Montserrat"/>
              </a:rPr>
              <a:t>The model learns and is tested on correctly prepared data.</a:t>
            </a:r>
            <a:endParaRPr sz="22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2" name="Shape 782"/>
        <p:cNvGrpSpPr/>
        <p:nvPr/>
      </p:nvGrpSpPr>
      <p:grpSpPr>
        <a:xfrm>
          <a:off x="0" y="0"/>
          <a:ext cx="0" cy="0"/>
          <a:chOff x="0" y="0"/>
          <a:chExt cx="0" cy="0"/>
        </a:xfrm>
      </p:grpSpPr>
      <p:sp>
        <p:nvSpPr>
          <p:cNvPr id="783" name="Google Shape;783;h65918b382aa025a3_0_110"/>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h65918b382aa025a3_0_110"/>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11 · SPRINT 1 BACKLOG</a:t>
            </a:r>
            <a:endParaRPr b="0" i="0" sz="1800" u="none" cap="none" strike="noStrike">
              <a:solidFill>
                <a:schemeClr val="dk1"/>
              </a:solidFill>
              <a:latin typeface="Montserrat"/>
              <a:ea typeface="Montserrat"/>
              <a:cs typeface="Montserrat"/>
              <a:sym typeface="Montserrat"/>
            </a:endParaRPr>
          </a:p>
        </p:txBody>
      </p:sp>
      <p:sp>
        <p:nvSpPr>
          <p:cNvPr id="785" name="Google Shape;785;h65918b382aa025a3_0_110"/>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lnSpc>
                <a:spcPct val="115000"/>
              </a:lnSpc>
              <a:spcBef>
                <a:spcPts val="0"/>
              </a:spcBef>
              <a:spcAft>
                <a:spcPts val="0"/>
              </a:spcAft>
              <a:buClr>
                <a:schemeClr val="dk1"/>
              </a:buClr>
              <a:buSzPts val="1100"/>
              <a:buFont typeface="Arial"/>
              <a:buNone/>
            </a:pPr>
            <a:r>
              <a:rPr b="1" lang="en-US" sz="4200">
                <a:solidFill>
                  <a:srgbClr val="111111"/>
                </a:solidFill>
                <a:latin typeface="Montserrat"/>
                <a:ea typeface="Montserrat"/>
                <a:cs typeface="Montserrat"/>
                <a:sym typeface="Montserrat"/>
              </a:rPr>
              <a:t>Backend tests: external datasets</a:t>
            </a:r>
            <a:endParaRPr b="1" sz="4200">
              <a:solidFill>
                <a:srgbClr val="11111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786" name="Google Shape;786;h65918b382aa025a3_0_110"/>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787" name="Google Shape;787;h65918b382aa025a3_0_110" title="Screenshot 2026-10-18 at 12.21.12 AM.png"/>
          <p:cNvPicPr preferRelativeResize="0"/>
          <p:nvPr/>
        </p:nvPicPr>
        <p:blipFill rotWithShape="1">
          <a:blip r:embed="rId4">
            <a:alphaModFix/>
          </a:blip>
          <a:srcRect b="0" l="388" r="0" t="0"/>
          <a:stretch/>
        </p:blipFill>
        <p:spPr>
          <a:xfrm>
            <a:off x="407925" y="2600575"/>
            <a:ext cx="13300124" cy="6483970"/>
          </a:xfrm>
          <a:prstGeom prst="rect">
            <a:avLst/>
          </a:prstGeom>
          <a:noFill/>
          <a:ln>
            <a:noFill/>
          </a:ln>
        </p:spPr>
      </p:pic>
      <p:sp>
        <p:nvSpPr>
          <p:cNvPr id="788" name="Google Shape;788;h65918b382aa025a3_0_110"/>
          <p:cNvSpPr txBox="1"/>
          <p:nvPr/>
        </p:nvSpPr>
        <p:spPr>
          <a:xfrm>
            <a:off x="14266175" y="2594644"/>
            <a:ext cx="3495300" cy="76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2171C6"/>
                </a:solidFill>
                <a:latin typeface="Montserrat"/>
                <a:ea typeface="Montserrat"/>
                <a:cs typeface="Montserrat"/>
                <a:sym typeface="Montserrat"/>
              </a:rPr>
              <a:t>WHAT WE CHECK</a:t>
            </a:r>
            <a:endParaRPr b="1" sz="2050">
              <a:solidFill>
                <a:srgbClr val="2171C6"/>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789" name="Google Shape;789;h65918b382aa025a3_0_110"/>
          <p:cNvSpPr txBox="1"/>
          <p:nvPr/>
        </p:nvSpPr>
        <p:spPr>
          <a:xfrm>
            <a:off x="13847751" y="3355600"/>
            <a:ext cx="4362300" cy="28524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All four external datasets have the expected labels and counts.</a:t>
            </a:r>
            <a:endParaRPr sz="2200">
              <a:solidFill>
                <a:srgbClr val="11111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2200">
              <a:solidFill>
                <a:srgbClr val="111111"/>
              </a:solidFill>
              <a:latin typeface="Montserrat"/>
              <a:ea typeface="Montserrat"/>
              <a:cs typeface="Montserrat"/>
              <a:sym typeface="Montserrat"/>
            </a:endParaRPr>
          </a:p>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The exact-copy check finds no matching files.</a:t>
            </a:r>
            <a:endParaRPr sz="22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790" name="Google Shape;790;h65918b382aa025a3_0_110"/>
          <p:cNvSpPr txBox="1"/>
          <p:nvPr/>
        </p:nvSpPr>
        <p:spPr>
          <a:xfrm>
            <a:off x="14278533" y="6542599"/>
            <a:ext cx="3691200" cy="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B5573F"/>
                </a:solidFill>
                <a:latin typeface="Montserrat"/>
                <a:ea typeface="Montserrat"/>
                <a:cs typeface="Montserrat"/>
                <a:sym typeface="Montserrat"/>
              </a:rPr>
              <a:t>WHY IT MATTERS</a:t>
            </a:r>
            <a:endParaRPr b="1" sz="2050">
              <a:solidFill>
                <a:srgbClr val="B5573F"/>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791" name="Google Shape;791;h65918b382aa025a3_0_110"/>
          <p:cNvSpPr txBox="1"/>
          <p:nvPr/>
        </p:nvSpPr>
        <p:spPr>
          <a:xfrm>
            <a:off x="14266155" y="7179526"/>
            <a:ext cx="4026600" cy="142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200">
                <a:solidFill>
                  <a:srgbClr val="111111"/>
                </a:solidFill>
                <a:latin typeface="Montserrat"/>
                <a:ea typeface="Montserrat"/>
                <a:cs typeface="Montserrat"/>
                <a:sym typeface="Montserrat"/>
              </a:rPr>
              <a:t>External data stays separate for later testing.</a:t>
            </a:r>
            <a:endParaRPr sz="22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5" name="Shape 795"/>
        <p:cNvGrpSpPr/>
        <p:nvPr/>
      </p:nvGrpSpPr>
      <p:grpSpPr>
        <a:xfrm>
          <a:off x="0" y="0"/>
          <a:ext cx="0" cy="0"/>
          <a:chOff x="0" y="0"/>
          <a:chExt cx="0" cy="0"/>
        </a:xfrm>
      </p:grpSpPr>
      <p:sp>
        <p:nvSpPr>
          <p:cNvPr id="796" name="Google Shape;796;h65918b382aa025a3_0_118"/>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h65918b382aa025a3_0_118"/>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11 · SPRINT 1 BACKLOG</a:t>
            </a:r>
            <a:endParaRPr b="0" i="0" sz="1800" u="none" cap="none" strike="noStrike">
              <a:solidFill>
                <a:schemeClr val="dk1"/>
              </a:solidFill>
              <a:latin typeface="Montserrat"/>
              <a:ea typeface="Montserrat"/>
              <a:cs typeface="Montserrat"/>
              <a:sym typeface="Montserrat"/>
            </a:endParaRPr>
          </a:p>
        </p:txBody>
      </p:sp>
      <p:sp>
        <p:nvSpPr>
          <p:cNvPr id="798" name="Google Shape;798;h65918b382aa025a3_0_118"/>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lnSpc>
                <a:spcPct val="115000"/>
              </a:lnSpc>
              <a:spcBef>
                <a:spcPts val="0"/>
              </a:spcBef>
              <a:spcAft>
                <a:spcPts val="0"/>
              </a:spcAft>
              <a:buClr>
                <a:schemeClr val="dk1"/>
              </a:buClr>
              <a:buSzPts val="1100"/>
              <a:buFont typeface="Arial"/>
              <a:buNone/>
            </a:pPr>
            <a:r>
              <a:rPr b="1" lang="en-US" sz="4200">
                <a:solidFill>
                  <a:srgbClr val="111111"/>
                </a:solidFill>
                <a:latin typeface="Montserrat"/>
                <a:ea typeface="Montserrat"/>
                <a:cs typeface="Montserrat"/>
                <a:sym typeface="Montserrat"/>
              </a:rPr>
              <a:t>Backend tests: calibration and cutoffs</a:t>
            </a:r>
            <a:endParaRPr b="1" sz="4200">
              <a:solidFill>
                <a:srgbClr val="11111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799" name="Google Shape;799;h65918b382aa025a3_0_118"/>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800" name="Google Shape;800;h65918b382aa025a3_0_118" title="Screenshot 2026-10-18 at 12.22.08 AM.png"/>
          <p:cNvPicPr preferRelativeResize="0"/>
          <p:nvPr/>
        </p:nvPicPr>
        <p:blipFill rotWithShape="1">
          <a:blip r:embed="rId4">
            <a:alphaModFix/>
          </a:blip>
          <a:srcRect b="0" l="0" r="0" t="0"/>
          <a:stretch/>
        </p:blipFill>
        <p:spPr>
          <a:xfrm>
            <a:off x="1047750" y="2156035"/>
            <a:ext cx="11145225" cy="5484599"/>
          </a:xfrm>
          <a:prstGeom prst="rect">
            <a:avLst/>
          </a:prstGeom>
          <a:noFill/>
          <a:ln>
            <a:noFill/>
          </a:ln>
        </p:spPr>
      </p:pic>
      <p:sp>
        <p:nvSpPr>
          <p:cNvPr id="801" name="Google Shape;801;h65918b382aa025a3_0_118"/>
          <p:cNvSpPr txBox="1"/>
          <p:nvPr/>
        </p:nvSpPr>
        <p:spPr>
          <a:xfrm>
            <a:off x="12347067" y="2227294"/>
            <a:ext cx="3879000" cy="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100">
                <a:solidFill>
                  <a:srgbClr val="2171C6"/>
                </a:solidFill>
                <a:latin typeface="Montserrat"/>
                <a:ea typeface="Montserrat"/>
                <a:cs typeface="Montserrat"/>
                <a:sym typeface="Montserrat"/>
              </a:rPr>
              <a:t>CURRENT RULE: FROZEN</a:t>
            </a:r>
            <a:endParaRPr b="1" sz="2100">
              <a:solidFill>
                <a:srgbClr val="2171C6"/>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b="1" sz="2050">
              <a:solidFill>
                <a:srgbClr val="2171C6"/>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802" name="Google Shape;802;h65918b382aa025a3_0_118"/>
          <p:cNvSpPr txBox="1"/>
          <p:nvPr/>
        </p:nvSpPr>
        <p:spPr>
          <a:xfrm>
            <a:off x="8239980" y="8061741"/>
            <a:ext cx="2656500" cy="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B5573F"/>
                </a:solidFill>
                <a:latin typeface="Montserrat"/>
                <a:ea typeface="Montserrat"/>
                <a:cs typeface="Montserrat"/>
                <a:sym typeface="Montserrat"/>
              </a:rPr>
              <a:t>FINAL CHECK</a:t>
            </a:r>
            <a:endParaRPr b="1" sz="2050">
              <a:solidFill>
                <a:srgbClr val="B5573F"/>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803" name="Google Shape;803;h65918b382aa025a3_0_118"/>
          <p:cNvSpPr txBox="1"/>
          <p:nvPr/>
        </p:nvSpPr>
        <p:spPr>
          <a:xfrm>
            <a:off x="8211898" y="8821693"/>
            <a:ext cx="5473200" cy="90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200">
                <a:solidFill>
                  <a:srgbClr val="111111"/>
                </a:solidFill>
                <a:latin typeface="Montserrat"/>
                <a:ea typeface="Montserrat"/>
                <a:cs typeface="Montserrat"/>
                <a:sym typeface="Montserrat"/>
              </a:rPr>
              <a:t>Settings froze before the 21-eye holdout check.</a:t>
            </a:r>
            <a:endParaRPr/>
          </a:p>
        </p:txBody>
      </p:sp>
      <p:pic>
        <p:nvPicPr>
          <p:cNvPr id="804" name="Google Shape;804;h65918b382aa025a3_0_118"/>
          <p:cNvPicPr preferRelativeResize="0"/>
          <p:nvPr/>
        </p:nvPicPr>
        <p:blipFill>
          <a:blip r:embed="rId5">
            <a:alphaModFix/>
          </a:blip>
          <a:stretch>
            <a:fillRect/>
          </a:stretch>
        </p:blipFill>
        <p:spPr>
          <a:xfrm>
            <a:off x="12459150" y="2943475"/>
            <a:ext cx="3161999" cy="528325"/>
          </a:xfrm>
          <a:prstGeom prst="rect">
            <a:avLst/>
          </a:prstGeom>
          <a:noFill/>
          <a:ln>
            <a:noFill/>
          </a:ln>
        </p:spPr>
      </p:pic>
      <p:pic>
        <p:nvPicPr>
          <p:cNvPr id="805" name="Google Shape;805;h65918b382aa025a3_0_118"/>
          <p:cNvPicPr preferRelativeResize="0"/>
          <p:nvPr/>
        </p:nvPicPr>
        <p:blipFill>
          <a:blip r:embed="rId6">
            <a:alphaModFix/>
          </a:blip>
          <a:stretch>
            <a:fillRect/>
          </a:stretch>
        </p:blipFill>
        <p:spPr>
          <a:xfrm>
            <a:off x="12459146" y="3602500"/>
            <a:ext cx="4146675" cy="314400"/>
          </a:xfrm>
          <a:prstGeom prst="rect">
            <a:avLst/>
          </a:prstGeom>
          <a:noFill/>
          <a:ln>
            <a:noFill/>
          </a:ln>
        </p:spPr>
      </p:pic>
      <p:pic>
        <p:nvPicPr>
          <p:cNvPr id="806" name="Google Shape;806;h65918b382aa025a3_0_118"/>
          <p:cNvPicPr preferRelativeResize="0"/>
          <p:nvPr/>
        </p:nvPicPr>
        <p:blipFill>
          <a:blip r:embed="rId7">
            <a:alphaModFix/>
          </a:blip>
          <a:stretch>
            <a:fillRect/>
          </a:stretch>
        </p:blipFill>
        <p:spPr>
          <a:xfrm>
            <a:off x="12459161" y="4117045"/>
            <a:ext cx="5272442" cy="345737"/>
          </a:xfrm>
          <a:prstGeom prst="rect">
            <a:avLst/>
          </a:prstGeom>
          <a:noFill/>
          <a:ln>
            <a:noFill/>
          </a:ln>
        </p:spPr>
      </p:pic>
      <p:sp>
        <p:nvSpPr>
          <p:cNvPr id="807" name="Google Shape;807;h65918b382aa025a3_0_118"/>
          <p:cNvSpPr txBox="1"/>
          <p:nvPr/>
        </p:nvSpPr>
        <p:spPr>
          <a:xfrm>
            <a:off x="967419" y="8073225"/>
            <a:ext cx="3162000" cy="60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2171C6"/>
                </a:solidFill>
                <a:latin typeface="Montserrat"/>
                <a:ea typeface="Montserrat"/>
                <a:cs typeface="Montserrat"/>
                <a:sym typeface="Montserrat"/>
              </a:rPr>
              <a:t>WHAT WE CHECK</a:t>
            </a:r>
            <a:endParaRPr b="1" sz="2050">
              <a:solidFill>
                <a:srgbClr val="2171C6"/>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808" name="Google Shape;808;h65918b382aa025a3_0_118"/>
          <p:cNvSpPr txBox="1"/>
          <p:nvPr/>
        </p:nvSpPr>
        <p:spPr>
          <a:xfrm>
            <a:off x="995494" y="8606525"/>
            <a:ext cx="7278900" cy="13578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18 calibration tests pass.</a:t>
            </a:r>
            <a:endParaRPr sz="2200">
              <a:solidFill>
                <a:srgbClr val="111111"/>
              </a:solidFill>
              <a:latin typeface="Montserrat"/>
              <a:ea typeface="Montserrat"/>
              <a:cs typeface="Montserrat"/>
              <a:sym typeface="Montserrat"/>
            </a:endParaRPr>
          </a:p>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Only validation images set the cutoffs.</a:t>
            </a:r>
            <a:endParaRPr sz="2200">
              <a:solidFill>
                <a:srgbClr val="111111"/>
              </a:solidFill>
              <a:latin typeface="Montserrat"/>
              <a:ea typeface="Montserrat"/>
              <a:cs typeface="Montserrat"/>
              <a:sym typeface="Montserrat"/>
            </a:endParaRPr>
          </a:p>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All 12 settings match the approved values.</a:t>
            </a:r>
            <a:endParaRPr sz="22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809" name="Google Shape;809;h65918b382aa025a3_0_118"/>
          <p:cNvSpPr txBox="1"/>
          <p:nvPr/>
        </p:nvSpPr>
        <p:spPr>
          <a:xfrm>
            <a:off x="12364050" y="4841775"/>
            <a:ext cx="5663400" cy="34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B5573F"/>
                </a:solidFill>
                <a:latin typeface="Montserrat"/>
                <a:ea typeface="Montserrat"/>
                <a:cs typeface="Montserrat"/>
                <a:sym typeface="Montserrat"/>
              </a:rPr>
              <a:t>WEIGHTED YOUDEN: EXPLORATORY</a:t>
            </a:r>
            <a:endParaRPr b="1" sz="2050">
              <a:solidFill>
                <a:srgbClr val="B5573F"/>
              </a:solidFill>
              <a:latin typeface="Montserrat"/>
              <a:ea typeface="Montserrat"/>
              <a:cs typeface="Montserrat"/>
              <a:sym typeface="Montserrat"/>
            </a:endParaRPr>
          </a:p>
          <a:p>
            <a:pPr indent="0" lvl="0" marL="0" rtl="0" algn="l">
              <a:spcBef>
                <a:spcPts val="0"/>
              </a:spcBef>
              <a:spcAft>
                <a:spcPts val="0"/>
              </a:spcAft>
              <a:buNone/>
            </a:pPr>
            <a:r>
              <a:t/>
            </a:r>
            <a:endParaRPr/>
          </a:p>
        </p:txBody>
      </p:sp>
      <p:pic>
        <p:nvPicPr>
          <p:cNvPr id="810" name="Google Shape;810;h65918b382aa025a3_0_118"/>
          <p:cNvPicPr preferRelativeResize="0"/>
          <p:nvPr/>
        </p:nvPicPr>
        <p:blipFill>
          <a:blip r:embed="rId8">
            <a:alphaModFix/>
          </a:blip>
          <a:stretch>
            <a:fillRect/>
          </a:stretch>
        </p:blipFill>
        <p:spPr>
          <a:xfrm>
            <a:off x="14473100" y="5606456"/>
            <a:ext cx="3649447" cy="269219"/>
          </a:xfrm>
          <a:prstGeom prst="rect">
            <a:avLst/>
          </a:prstGeom>
          <a:noFill/>
          <a:ln>
            <a:noFill/>
          </a:ln>
        </p:spPr>
      </p:pic>
      <p:pic>
        <p:nvPicPr>
          <p:cNvPr id="811" name="Google Shape;811;h65918b382aa025a3_0_118"/>
          <p:cNvPicPr preferRelativeResize="0"/>
          <p:nvPr/>
        </p:nvPicPr>
        <p:blipFill>
          <a:blip r:embed="rId9">
            <a:alphaModFix/>
          </a:blip>
          <a:stretch>
            <a:fillRect/>
          </a:stretch>
        </p:blipFill>
        <p:spPr>
          <a:xfrm>
            <a:off x="12459150" y="5602425"/>
            <a:ext cx="2519354" cy="269230"/>
          </a:xfrm>
          <a:prstGeom prst="rect">
            <a:avLst/>
          </a:prstGeom>
          <a:noFill/>
          <a:ln>
            <a:noFill/>
          </a:ln>
        </p:spPr>
      </p:pic>
      <p:sp>
        <p:nvSpPr>
          <p:cNvPr id="812" name="Google Shape;812;h65918b382aa025a3_0_118"/>
          <p:cNvSpPr txBox="1"/>
          <p:nvPr/>
        </p:nvSpPr>
        <p:spPr>
          <a:xfrm>
            <a:off x="12332850" y="6054089"/>
            <a:ext cx="5725800" cy="95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900">
                <a:solidFill>
                  <a:srgbClr val="555555"/>
                </a:solidFill>
                <a:latin typeface="Montserrat"/>
                <a:ea typeface="Montserrat"/>
                <a:cs typeface="Montserrat"/>
                <a:sym typeface="Montserrat"/>
              </a:rPr>
              <a:t>Choose the cutoff t with the largest Jw.</a:t>
            </a:r>
            <a:endParaRPr sz="1900">
              <a:solidFill>
                <a:srgbClr val="555555"/>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lang="en-US" sz="1900">
                <a:solidFill>
                  <a:srgbClr val="555555"/>
                </a:solidFill>
                <a:latin typeface="Montserrat"/>
                <a:ea typeface="Montserrat"/>
                <a:cs typeface="Montserrat"/>
                <a:sym typeface="Montserrat"/>
              </a:rPr>
              <a:t>Larger w gives sensitivity more weight.</a:t>
            </a:r>
            <a:endParaRPr sz="1900">
              <a:solidFill>
                <a:srgbClr val="555555"/>
              </a:solidFill>
              <a:latin typeface="Montserrat"/>
              <a:ea typeface="Montserrat"/>
              <a:cs typeface="Montserrat"/>
              <a:sym typeface="Montserrat"/>
            </a:endParaRPr>
          </a:p>
          <a:p>
            <a:pPr indent="0" lvl="0" marL="0" rtl="0" algn="l">
              <a:spcBef>
                <a:spcPts val="0"/>
              </a:spcBef>
              <a:spcAft>
                <a:spcPts val="0"/>
              </a:spcAft>
              <a:buNone/>
            </a:pPr>
            <a:r>
              <a:t/>
            </a:r>
            <a:endParaRPr sz="1900">
              <a:solidFill>
                <a:srgbClr val="555555"/>
              </a:solidFill>
            </a:endParaRPr>
          </a:p>
        </p:txBody>
      </p:sp>
      <p:sp>
        <p:nvSpPr>
          <p:cNvPr id="813" name="Google Shape;813;h65918b382aa025a3_0_118"/>
          <p:cNvSpPr txBox="1"/>
          <p:nvPr/>
        </p:nvSpPr>
        <p:spPr>
          <a:xfrm>
            <a:off x="12360609" y="6889007"/>
            <a:ext cx="5473200" cy="71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1900">
                <a:solidFill>
                  <a:srgbClr val="555555"/>
                </a:solidFill>
                <a:latin typeface="Montserrat"/>
                <a:ea typeface="Montserrat"/>
                <a:cs typeface="Montserrat"/>
                <a:sym typeface="Montserrat"/>
              </a:rPr>
              <a:t>Compares tradeoffs. The frozen rule stays unchanged.</a:t>
            </a:r>
            <a:endParaRPr sz="1900">
              <a:solidFill>
                <a:srgbClr val="555555"/>
              </a:solidFill>
              <a:latin typeface="Montserrat"/>
              <a:ea typeface="Montserrat"/>
              <a:cs typeface="Montserrat"/>
              <a:sym typeface="Montserrat"/>
            </a:endParaRPr>
          </a:p>
          <a:p>
            <a:pPr indent="0" lvl="0" marL="0" rtl="0" algn="l">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7" name="Shape 817"/>
        <p:cNvGrpSpPr/>
        <p:nvPr/>
      </p:nvGrpSpPr>
      <p:grpSpPr>
        <a:xfrm>
          <a:off x="0" y="0"/>
          <a:ext cx="0" cy="0"/>
          <a:chOff x="0" y="0"/>
          <a:chExt cx="0" cy="0"/>
        </a:xfrm>
      </p:grpSpPr>
      <p:sp>
        <p:nvSpPr>
          <p:cNvPr id="818" name="Google Shape;818;h65918b382aa025a3_0_144"/>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h65918b382aa025a3_0_144"/>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11 · SPRINT 1 BACKLOG</a:t>
            </a:r>
            <a:endParaRPr b="0" i="0" sz="1800" u="none" cap="none" strike="noStrike">
              <a:solidFill>
                <a:schemeClr val="dk1"/>
              </a:solidFill>
              <a:latin typeface="Montserrat"/>
              <a:ea typeface="Montserrat"/>
              <a:cs typeface="Montserrat"/>
              <a:sym typeface="Montserrat"/>
            </a:endParaRPr>
          </a:p>
        </p:txBody>
      </p:sp>
      <p:sp>
        <p:nvSpPr>
          <p:cNvPr id="820" name="Google Shape;820;h65918b382aa025a3_0_144"/>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lnSpc>
                <a:spcPct val="115000"/>
              </a:lnSpc>
              <a:spcBef>
                <a:spcPts val="0"/>
              </a:spcBef>
              <a:spcAft>
                <a:spcPts val="0"/>
              </a:spcAft>
              <a:buClr>
                <a:schemeClr val="dk1"/>
              </a:buClr>
              <a:buSzPts val="1100"/>
              <a:buFont typeface="Arial"/>
              <a:buNone/>
            </a:pPr>
            <a:r>
              <a:rPr b="1" lang="en-US" sz="4200">
                <a:solidFill>
                  <a:srgbClr val="111111"/>
                </a:solidFill>
                <a:latin typeface="Montserrat"/>
                <a:ea typeface="Montserrat"/>
                <a:cs typeface="Montserrat"/>
                <a:sym typeface="Montserrat"/>
              </a:rPr>
              <a:t>Backend tests: API behavior</a:t>
            </a:r>
            <a:endParaRPr b="1" sz="4200">
              <a:solidFill>
                <a:srgbClr val="11111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821" name="Google Shape;821;h65918b382aa025a3_0_144"/>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822" name="Google Shape;822;h65918b382aa025a3_0_144" title="Screenshot 2026-10-18 at 12.22.58 AM.png"/>
          <p:cNvPicPr preferRelativeResize="0"/>
          <p:nvPr/>
        </p:nvPicPr>
        <p:blipFill rotWithShape="1">
          <a:blip r:embed="rId4">
            <a:alphaModFix/>
          </a:blip>
          <a:srcRect b="7570" l="0" r="0" t="0"/>
          <a:stretch/>
        </p:blipFill>
        <p:spPr>
          <a:xfrm>
            <a:off x="407925" y="2162175"/>
            <a:ext cx="13260450" cy="6586625"/>
          </a:xfrm>
          <a:prstGeom prst="rect">
            <a:avLst/>
          </a:prstGeom>
          <a:noFill/>
          <a:ln>
            <a:noFill/>
          </a:ln>
        </p:spPr>
      </p:pic>
      <p:sp>
        <p:nvSpPr>
          <p:cNvPr id="823" name="Google Shape;823;h65918b382aa025a3_0_144"/>
          <p:cNvSpPr txBox="1"/>
          <p:nvPr/>
        </p:nvSpPr>
        <p:spPr>
          <a:xfrm>
            <a:off x="14283058" y="2600586"/>
            <a:ext cx="3523500" cy="76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2171C6"/>
                </a:solidFill>
                <a:latin typeface="Montserrat"/>
                <a:ea typeface="Montserrat"/>
                <a:cs typeface="Montserrat"/>
                <a:sym typeface="Montserrat"/>
              </a:rPr>
              <a:t>WHAT WE CHECK</a:t>
            </a:r>
            <a:endParaRPr b="1" sz="2050">
              <a:solidFill>
                <a:srgbClr val="2171C6"/>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824" name="Google Shape;824;h65918b382aa025a3_0_144"/>
          <p:cNvSpPr txBox="1"/>
          <p:nvPr/>
        </p:nvSpPr>
        <p:spPr>
          <a:xfrm>
            <a:off x="14100600" y="3363475"/>
            <a:ext cx="3730200" cy="24975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Login and patient records.</a:t>
            </a:r>
            <a:endParaRPr sz="2200">
              <a:solidFill>
                <a:srgbClr val="111111"/>
              </a:solidFill>
              <a:latin typeface="Montserrat"/>
              <a:ea typeface="Montserrat"/>
              <a:cs typeface="Montserrat"/>
              <a:sym typeface="Montserrat"/>
            </a:endParaRPr>
          </a:p>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Photo upload and screening.</a:t>
            </a:r>
            <a:endParaRPr sz="2200">
              <a:solidFill>
                <a:srgbClr val="111111"/>
              </a:solidFill>
              <a:latin typeface="Montserrat"/>
              <a:ea typeface="Montserrat"/>
              <a:cs typeface="Montserrat"/>
              <a:sym typeface="Montserrat"/>
            </a:endParaRPr>
          </a:p>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History, PDF exports and error responses.</a:t>
            </a:r>
            <a:endParaRPr sz="22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825" name="Google Shape;825;h65918b382aa025a3_0_144"/>
          <p:cNvSpPr txBox="1"/>
          <p:nvPr/>
        </p:nvSpPr>
        <p:spPr>
          <a:xfrm>
            <a:off x="14270169" y="6528796"/>
            <a:ext cx="3886800" cy="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B5573F"/>
                </a:solidFill>
                <a:latin typeface="Montserrat"/>
                <a:ea typeface="Montserrat"/>
                <a:cs typeface="Montserrat"/>
                <a:sym typeface="Montserrat"/>
              </a:rPr>
              <a:t>CURRENT STATUS</a:t>
            </a:r>
            <a:endParaRPr b="1" sz="2050">
              <a:solidFill>
                <a:srgbClr val="B5573F"/>
              </a:solidFill>
              <a:latin typeface="Montserrat"/>
              <a:ea typeface="Montserrat"/>
              <a:cs typeface="Montserrat"/>
              <a:sym typeface="Montserrat"/>
            </a:endParaRPr>
          </a:p>
          <a:p>
            <a:pPr indent="0" lvl="0" marL="0" rtl="0" algn="l">
              <a:spcBef>
                <a:spcPts val="0"/>
              </a:spcBef>
              <a:spcAft>
                <a:spcPts val="0"/>
              </a:spcAft>
              <a:buNone/>
            </a:pPr>
            <a:r>
              <a:t/>
            </a:r>
            <a:endParaRPr sz="2200">
              <a:solidFill>
                <a:srgbClr val="111111"/>
              </a:solidFill>
              <a:latin typeface="Montserrat"/>
              <a:ea typeface="Montserrat"/>
              <a:cs typeface="Montserrat"/>
              <a:sym typeface="Montserrat"/>
            </a:endParaRPr>
          </a:p>
        </p:txBody>
      </p:sp>
      <p:sp>
        <p:nvSpPr>
          <p:cNvPr id="826" name="Google Shape;826;h65918b382aa025a3_0_144"/>
          <p:cNvSpPr txBox="1"/>
          <p:nvPr/>
        </p:nvSpPr>
        <p:spPr>
          <a:xfrm>
            <a:off x="14283051" y="7207475"/>
            <a:ext cx="3523500" cy="1733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200">
                <a:solidFill>
                  <a:srgbClr val="111111"/>
                </a:solidFill>
                <a:latin typeface="Montserrat"/>
                <a:ea typeface="Montserrat"/>
                <a:cs typeface="Montserrat"/>
                <a:sym typeface="Montserrat"/>
              </a:rPr>
              <a:t>These passes cover SQLite. Supabase test updates are planned for Sprint 2.</a:t>
            </a:r>
            <a:endParaRPr sz="2200">
              <a:solidFill>
                <a:srgbClr val="111111"/>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0" name="Shape 830"/>
        <p:cNvGrpSpPr/>
        <p:nvPr/>
      </p:nvGrpSpPr>
      <p:grpSpPr>
        <a:xfrm>
          <a:off x="0" y="0"/>
          <a:ext cx="0" cy="0"/>
          <a:chOff x="0" y="0"/>
          <a:chExt cx="0" cy="0"/>
        </a:xfrm>
      </p:grpSpPr>
      <p:sp>
        <p:nvSpPr>
          <p:cNvPr id="831" name="Google Shape;831;h65918b382aa025a3_0_134"/>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h65918b382aa025a3_0_134"/>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11 · SPRINT 1 BACKLOG</a:t>
            </a:r>
            <a:endParaRPr b="0" i="0" sz="1800" u="none" cap="none" strike="noStrike">
              <a:solidFill>
                <a:schemeClr val="dk1"/>
              </a:solidFill>
              <a:latin typeface="Montserrat"/>
              <a:ea typeface="Montserrat"/>
              <a:cs typeface="Montserrat"/>
              <a:sym typeface="Montserrat"/>
            </a:endParaRPr>
          </a:p>
        </p:txBody>
      </p:sp>
      <p:sp>
        <p:nvSpPr>
          <p:cNvPr id="833" name="Google Shape;833;h65918b382aa025a3_0_134"/>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lnSpc>
                <a:spcPct val="115000"/>
              </a:lnSpc>
              <a:spcBef>
                <a:spcPts val="0"/>
              </a:spcBef>
              <a:spcAft>
                <a:spcPts val="0"/>
              </a:spcAft>
              <a:buClr>
                <a:schemeClr val="dk1"/>
              </a:buClr>
              <a:buSzPts val="1100"/>
              <a:buFont typeface="Arial"/>
              <a:buNone/>
            </a:pPr>
            <a:r>
              <a:rPr b="1" lang="en-US" sz="4200">
                <a:solidFill>
                  <a:srgbClr val="111111"/>
                </a:solidFill>
                <a:latin typeface="Montserrat"/>
                <a:ea typeface="Montserrat"/>
                <a:cs typeface="Montserrat"/>
                <a:sym typeface="Montserrat"/>
              </a:rPr>
              <a:t>Backend tests: photo quality</a:t>
            </a:r>
            <a:endParaRPr b="1" sz="4200">
              <a:solidFill>
                <a:srgbClr val="11111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834" name="Google Shape;834;h65918b382aa025a3_0_134"/>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835" name="Google Shape;835;h65918b382aa025a3_0_134" title="Screenshot 2026-10-18 at 12.23.46 AM.png"/>
          <p:cNvPicPr preferRelativeResize="0"/>
          <p:nvPr/>
        </p:nvPicPr>
        <p:blipFill rotWithShape="1">
          <a:blip r:embed="rId4">
            <a:alphaModFix/>
          </a:blip>
          <a:srcRect b="14267" l="0" r="0" t="-163"/>
          <a:stretch/>
        </p:blipFill>
        <p:spPr>
          <a:xfrm>
            <a:off x="407925" y="2162175"/>
            <a:ext cx="13294099" cy="6904489"/>
          </a:xfrm>
          <a:prstGeom prst="rect">
            <a:avLst/>
          </a:prstGeom>
          <a:noFill/>
          <a:ln>
            <a:noFill/>
          </a:ln>
        </p:spPr>
      </p:pic>
      <p:sp>
        <p:nvSpPr>
          <p:cNvPr id="836" name="Google Shape;836;h65918b382aa025a3_0_134"/>
          <p:cNvSpPr txBox="1"/>
          <p:nvPr/>
        </p:nvSpPr>
        <p:spPr>
          <a:xfrm>
            <a:off x="14280906" y="2576863"/>
            <a:ext cx="3467400" cy="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2171C6"/>
                </a:solidFill>
                <a:latin typeface="Montserrat"/>
                <a:ea typeface="Montserrat"/>
                <a:cs typeface="Montserrat"/>
                <a:sym typeface="Montserrat"/>
              </a:rPr>
              <a:t>WHAT WE CHECK</a:t>
            </a:r>
            <a:endParaRPr b="1" sz="2050">
              <a:solidFill>
                <a:srgbClr val="2171C6"/>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837" name="Google Shape;837;h65918b382aa025a3_0_134"/>
          <p:cNvSpPr txBox="1"/>
          <p:nvPr/>
        </p:nvSpPr>
        <p:spPr>
          <a:xfrm>
            <a:off x="13871225" y="3384900"/>
            <a:ext cx="3877200" cy="26847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Blurry or hazy fundus photos can continue.</a:t>
            </a:r>
            <a:endParaRPr sz="2200">
              <a:solidFill>
                <a:srgbClr val="111111"/>
              </a:solidFill>
              <a:latin typeface="Montserrat"/>
              <a:ea typeface="Montserrat"/>
              <a:cs typeface="Montserrat"/>
              <a:sym typeface="Montserrat"/>
            </a:endParaRPr>
          </a:p>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Unreadable, almost-black and non-fundus inputs stop.</a:t>
            </a:r>
            <a:endParaRPr sz="22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sz="2200">
              <a:solidFill>
                <a:srgbClr val="111111"/>
              </a:solidFill>
              <a:latin typeface="Montserrat"/>
              <a:ea typeface="Montserrat"/>
              <a:cs typeface="Montserrat"/>
              <a:sym typeface="Montserrat"/>
            </a:endParaRPr>
          </a:p>
        </p:txBody>
      </p:sp>
      <p:sp>
        <p:nvSpPr>
          <p:cNvPr id="838" name="Google Shape;838;h65918b382aa025a3_0_134"/>
          <p:cNvSpPr txBox="1"/>
          <p:nvPr/>
        </p:nvSpPr>
        <p:spPr>
          <a:xfrm>
            <a:off x="14295920" y="6543433"/>
            <a:ext cx="4082700" cy="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B5573F"/>
                </a:solidFill>
                <a:latin typeface="Montserrat"/>
                <a:ea typeface="Montserrat"/>
                <a:cs typeface="Montserrat"/>
                <a:sym typeface="Montserrat"/>
              </a:rPr>
              <a:t>WHY IT MATTERS</a:t>
            </a:r>
            <a:endParaRPr b="1" sz="2050">
              <a:solidFill>
                <a:srgbClr val="B5573F"/>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839" name="Google Shape;839;h65918b382aa025a3_0_134"/>
          <p:cNvSpPr txBox="1"/>
          <p:nvPr/>
        </p:nvSpPr>
        <p:spPr>
          <a:xfrm>
            <a:off x="14270175" y="7203475"/>
            <a:ext cx="3560700" cy="1758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200">
                <a:solidFill>
                  <a:srgbClr val="111111"/>
                </a:solidFill>
                <a:latin typeface="Montserrat"/>
                <a:ea typeface="Montserrat"/>
                <a:cs typeface="Montserrat"/>
                <a:sym typeface="Montserrat"/>
              </a:rPr>
              <a:t>Haze can be part of the eye condition, so blur alone should not reject a photo.</a:t>
            </a:r>
            <a:endParaRPr sz="22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3" name="Shape 843"/>
        <p:cNvGrpSpPr/>
        <p:nvPr/>
      </p:nvGrpSpPr>
      <p:grpSpPr>
        <a:xfrm>
          <a:off x="0" y="0"/>
          <a:ext cx="0" cy="0"/>
          <a:chOff x="0" y="0"/>
          <a:chExt cx="0" cy="0"/>
        </a:xfrm>
      </p:grpSpPr>
      <p:sp>
        <p:nvSpPr>
          <p:cNvPr id="844" name="Google Shape;844;h3b7de9c35ce554c9_3_31"/>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h3b7de9c35ce554c9_3_31"/>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11 · SPRINT 1 BACKLOG</a:t>
            </a:r>
            <a:endParaRPr b="0" i="0" sz="1800" u="none" cap="none" strike="noStrike">
              <a:solidFill>
                <a:schemeClr val="dk1"/>
              </a:solidFill>
              <a:latin typeface="Montserrat"/>
              <a:ea typeface="Montserrat"/>
              <a:cs typeface="Montserrat"/>
              <a:sym typeface="Montserrat"/>
            </a:endParaRPr>
          </a:p>
        </p:txBody>
      </p:sp>
      <p:sp>
        <p:nvSpPr>
          <p:cNvPr id="846" name="Google Shape;846;h3b7de9c35ce554c9_3_31"/>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lnSpc>
                <a:spcPct val="115000"/>
              </a:lnSpc>
              <a:spcBef>
                <a:spcPts val="0"/>
              </a:spcBef>
              <a:spcAft>
                <a:spcPts val="0"/>
              </a:spcAft>
              <a:buClr>
                <a:schemeClr val="dk1"/>
              </a:buClr>
              <a:buSzPts val="1100"/>
              <a:buFont typeface="Arial"/>
              <a:buNone/>
            </a:pPr>
            <a:r>
              <a:rPr b="1" lang="en-US" sz="4200">
                <a:solidFill>
                  <a:srgbClr val="111111"/>
                </a:solidFill>
                <a:latin typeface="Montserrat"/>
                <a:ea typeface="Montserrat"/>
                <a:cs typeface="Montserrat"/>
                <a:sym typeface="Montserrat"/>
              </a:rPr>
              <a:t>Backend tests: trained models</a:t>
            </a:r>
            <a:endParaRPr b="1" sz="4200">
              <a:solidFill>
                <a:srgbClr val="11111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847" name="Google Shape;847;h3b7de9c35ce554c9_3_31"/>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848" name="Google Shape;848;h3b7de9c35ce554c9_3_31" title="Screenshot 2026-10-18 at 12.24.28 AM.png"/>
          <p:cNvPicPr preferRelativeResize="0"/>
          <p:nvPr/>
        </p:nvPicPr>
        <p:blipFill rotWithShape="1">
          <a:blip r:embed="rId4">
            <a:alphaModFix/>
          </a:blip>
          <a:srcRect b="0" l="0" r="0" t="1293"/>
          <a:stretch/>
        </p:blipFill>
        <p:spPr>
          <a:xfrm>
            <a:off x="407925" y="2162175"/>
            <a:ext cx="13300126" cy="7191408"/>
          </a:xfrm>
          <a:prstGeom prst="rect">
            <a:avLst/>
          </a:prstGeom>
          <a:noFill/>
          <a:ln>
            <a:noFill/>
          </a:ln>
        </p:spPr>
      </p:pic>
      <p:sp>
        <p:nvSpPr>
          <p:cNvPr id="849" name="Google Shape;849;h3b7de9c35ce554c9_3_31"/>
          <p:cNvSpPr txBox="1"/>
          <p:nvPr/>
        </p:nvSpPr>
        <p:spPr>
          <a:xfrm>
            <a:off x="14283042" y="2600583"/>
            <a:ext cx="3650100" cy="68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2171C6"/>
                </a:solidFill>
                <a:latin typeface="Montserrat"/>
                <a:ea typeface="Montserrat"/>
                <a:cs typeface="Montserrat"/>
                <a:sym typeface="Montserrat"/>
              </a:rPr>
              <a:t>WHAT WE CHECK</a:t>
            </a:r>
            <a:endParaRPr b="1" sz="2050">
              <a:solidFill>
                <a:srgbClr val="2171C6"/>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850" name="Google Shape;850;h3b7de9c35ce554c9_3_31"/>
          <p:cNvSpPr txBox="1"/>
          <p:nvPr/>
        </p:nvSpPr>
        <p:spPr>
          <a:xfrm>
            <a:off x="14058899" y="3356050"/>
            <a:ext cx="3771900" cy="31878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All three training pipelines run.</a:t>
            </a:r>
            <a:endParaRPr sz="2200">
              <a:solidFill>
                <a:srgbClr val="111111"/>
              </a:solidFill>
              <a:latin typeface="Montserrat"/>
              <a:ea typeface="Montserrat"/>
              <a:cs typeface="Montserrat"/>
              <a:sym typeface="Montserrat"/>
            </a:endParaRPr>
          </a:p>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Nine checkpoints match their hashes.</a:t>
            </a:r>
            <a:endParaRPr sz="2200">
              <a:solidFill>
                <a:srgbClr val="111111"/>
              </a:solidFill>
              <a:latin typeface="Montserrat"/>
              <a:ea typeface="Montserrat"/>
              <a:cs typeface="Montserrat"/>
              <a:sym typeface="Montserrat"/>
            </a:endParaRPr>
          </a:p>
          <a:p>
            <a:pPr indent="-368300" lvl="0" marL="457200" rtl="0" algn="l">
              <a:lnSpc>
                <a:spcPct val="115000"/>
              </a:lnSpc>
              <a:spcBef>
                <a:spcPts val="0"/>
              </a:spcBef>
              <a:spcAft>
                <a:spcPts val="0"/>
              </a:spcAft>
              <a:buClr>
                <a:srgbClr val="111111"/>
              </a:buClr>
              <a:buSzPts val="2200"/>
              <a:buFont typeface="Montserrat"/>
              <a:buChar char="●"/>
            </a:pPr>
            <a:r>
              <a:rPr lang="en-US" sz="2200">
                <a:solidFill>
                  <a:srgbClr val="111111"/>
                </a:solidFill>
                <a:latin typeface="Montserrat"/>
                <a:ea typeface="Montserrat"/>
                <a:cs typeface="Montserrat"/>
                <a:sym typeface="Montserrat"/>
              </a:rPr>
              <a:t>Results match the training history.</a:t>
            </a:r>
            <a:endParaRPr sz="22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851" name="Google Shape;851;h3b7de9c35ce554c9_3_31"/>
          <p:cNvSpPr txBox="1"/>
          <p:nvPr/>
        </p:nvSpPr>
        <p:spPr>
          <a:xfrm>
            <a:off x="14283047" y="6524778"/>
            <a:ext cx="3970800" cy="60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2050">
                <a:solidFill>
                  <a:srgbClr val="B5573F"/>
                </a:solidFill>
                <a:latin typeface="Montserrat"/>
                <a:ea typeface="Montserrat"/>
                <a:cs typeface="Montserrat"/>
                <a:sym typeface="Montserrat"/>
              </a:rPr>
              <a:t>WHY IT MATTERS</a:t>
            </a:r>
            <a:endParaRPr b="1" sz="2050">
              <a:solidFill>
                <a:srgbClr val="B5573F"/>
              </a:solidFill>
              <a:latin typeface="Montserrat"/>
              <a:ea typeface="Montserrat"/>
              <a:cs typeface="Montserrat"/>
              <a:sym typeface="Montserrat"/>
            </a:endParaRPr>
          </a:p>
          <a:p>
            <a:pPr indent="0" lvl="0" marL="0" rtl="0" algn="l">
              <a:spcBef>
                <a:spcPts val="0"/>
              </a:spcBef>
              <a:spcAft>
                <a:spcPts val="0"/>
              </a:spcAft>
              <a:buNone/>
            </a:pPr>
            <a:r>
              <a:t/>
            </a:r>
            <a:endParaRPr/>
          </a:p>
        </p:txBody>
      </p:sp>
      <p:sp>
        <p:nvSpPr>
          <p:cNvPr id="852" name="Google Shape;852;h3b7de9c35ce554c9_3_31"/>
          <p:cNvSpPr txBox="1"/>
          <p:nvPr/>
        </p:nvSpPr>
        <p:spPr>
          <a:xfrm>
            <a:off x="14295923" y="7187450"/>
            <a:ext cx="3534900" cy="204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sz="2200">
                <a:solidFill>
                  <a:srgbClr val="111111"/>
                </a:solidFill>
                <a:latin typeface="Montserrat"/>
                <a:ea typeface="Montserrat"/>
                <a:cs typeface="Montserrat"/>
                <a:sym typeface="Montserrat"/>
              </a:rPr>
              <a:t>The model comparison uses recorded settings and reproducible files.</a:t>
            </a:r>
            <a:endParaRPr sz="2200">
              <a:solidFill>
                <a:srgbClr val="111111"/>
              </a:solidFill>
              <a:latin typeface="Montserrat"/>
              <a:ea typeface="Montserrat"/>
              <a:cs typeface="Montserrat"/>
              <a:sym typeface="Montserrat"/>
            </a:endParaRPr>
          </a:p>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6" name="Shape 856"/>
        <p:cNvGrpSpPr/>
        <p:nvPr/>
      </p:nvGrpSpPr>
      <p:grpSpPr>
        <a:xfrm>
          <a:off x="0" y="0"/>
          <a:ext cx="0" cy="0"/>
          <a:chOff x="0" y="0"/>
          <a:chExt cx="0" cy="0"/>
        </a:xfrm>
      </p:grpSpPr>
      <p:sp>
        <p:nvSpPr>
          <p:cNvPr id="857" name="Google Shape;857;h6db5fc64863a8577_8_0"/>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8" name="Google Shape;858;h6db5fc64863a8577_8_0"/>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11 · SPRINT 1 BACKLOG</a:t>
            </a:r>
            <a:endParaRPr b="0" i="0" sz="1800" u="none" cap="none" strike="noStrike">
              <a:solidFill>
                <a:schemeClr val="dk1"/>
              </a:solidFill>
              <a:latin typeface="Montserrat"/>
              <a:ea typeface="Montserrat"/>
              <a:cs typeface="Montserrat"/>
              <a:sym typeface="Montserrat"/>
            </a:endParaRPr>
          </a:p>
        </p:txBody>
      </p:sp>
      <p:sp>
        <p:nvSpPr>
          <p:cNvPr id="859" name="Google Shape;859;h6db5fc64863a8577_8_0"/>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Test cases (frontend)</a:t>
            </a:r>
            <a:endParaRPr sz="42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860" name="Google Shape;860;h6db5fc64863a8577_8_0"/>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graphicFrame>
        <p:nvGraphicFramePr>
          <p:cNvPr id="861" name="Google Shape;861;h6db5fc64863a8577_8_0"/>
          <p:cNvGraphicFramePr/>
          <p:nvPr/>
        </p:nvGraphicFramePr>
        <p:xfrm>
          <a:off x="1047750" y="2487600"/>
          <a:ext cx="3000000" cy="3000000"/>
        </p:xfrm>
        <a:graphic>
          <a:graphicData uri="http://schemas.openxmlformats.org/drawingml/2006/table">
            <a:tbl>
              <a:tblPr>
                <a:noFill/>
                <a:tableStyleId>{82023395-B522-4359-B800-2BFD0772FF41}</a:tableStyleId>
              </a:tblPr>
              <a:tblGrid>
                <a:gridCol w="1724425"/>
                <a:gridCol w="3052075"/>
                <a:gridCol w="5081725"/>
                <a:gridCol w="4944375"/>
                <a:gridCol w="1770200"/>
              </a:tblGrid>
              <a:tr h="834225">
                <a:tc>
                  <a:txBody>
                    <a:bodyPr/>
                    <a:lstStyle/>
                    <a:p>
                      <a:pPr indent="0" lvl="0" marL="0" rtl="0" algn="ctr">
                        <a:lnSpc>
                          <a:spcPct val="115000"/>
                        </a:lnSpc>
                        <a:spcBef>
                          <a:spcPts val="0"/>
                        </a:spcBef>
                        <a:spcAft>
                          <a:spcPts val="0"/>
                        </a:spcAft>
                        <a:buNone/>
                      </a:pPr>
                      <a:r>
                        <a:rPr b="1" lang="en-US" sz="2000">
                          <a:solidFill>
                            <a:srgbClr val="FFFFFF"/>
                          </a:solidFill>
                          <a:latin typeface="Montserrat"/>
                          <a:ea typeface="Montserrat"/>
                          <a:cs typeface="Montserrat"/>
                          <a:sym typeface="Montserrat"/>
                        </a:rPr>
                        <a:t>TC</a:t>
                      </a:r>
                      <a:endParaRPr b="1" sz="2000">
                        <a:solidFill>
                          <a:srgbClr val="FFFFFF"/>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2000">
                          <a:solidFill>
                            <a:srgbClr val="FFFFFF"/>
                          </a:solidFill>
                          <a:latin typeface="Montserrat"/>
                          <a:ea typeface="Montserrat"/>
                          <a:cs typeface="Montserrat"/>
                          <a:sym typeface="Montserrat"/>
                        </a:rPr>
                        <a:t>TC Title</a:t>
                      </a:r>
                      <a:endParaRPr b="1" sz="2000">
                        <a:solidFill>
                          <a:srgbClr val="FFFFFF"/>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2000">
                          <a:solidFill>
                            <a:srgbClr val="FFFFFF"/>
                          </a:solidFill>
                          <a:latin typeface="Montserrat"/>
                          <a:ea typeface="Montserrat"/>
                          <a:cs typeface="Montserrat"/>
                          <a:sym typeface="Montserrat"/>
                        </a:rPr>
                        <a:t>Step Description</a:t>
                      </a:r>
                      <a:endParaRPr b="1" sz="2000">
                        <a:solidFill>
                          <a:srgbClr val="FFFFFF"/>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2000">
                          <a:solidFill>
                            <a:srgbClr val="FFFFFF"/>
                          </a:solidFill>
                          <a:latin typeface="Montserrat"/>
                          <a:ea typeface="Montserrat"/>
                          <a:cs typeface="Montserrat"/>
                          <a:sym typeface="Montserrat"/>
                        </a:rPr>
                        <a:t>Expected Results</a:t>
                      </a:r>
                      <a:endParaRPr b="1" sz="2000">
                        <a:solidFill>
                          <a:srgbClr val="FFFFFF"/>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2000">
                          <a:solidFill>
                            <a:srgbClr val="FFFFFF"/>
                          </a:solidFill>
                          <a:latin typeface="Montserrat"/>
                          <a:ea typeface="Montserrat"/>
                          <a:cs typeface="Montserrat"/>
                          <a:sym typeface="Montserrat"/>
                        </a:rPr>
                        <a:t>Execution</a:t>
                      </a:r>
                      <a:br>
                        <a:rPr b="1" lang="en-US" sz="2000">
                          <a:solidFill>
                            <a:srgbClr val="FFFFFF"/>
                          </a:solidFill>
                          <a:latin typeface="Montserrat"/>
                          <a:ea typeface="Montserrat"/>
                          <a:cs typeface="Montserrat"/>
                          <a:sym typeface="Montserrat"/>
                        </a:rPr>
                      </a:br>
                      <a:r>
                        <a:rPr b="1" lang="en-US" sz="2000">
                          <a:solidFill>
                            <a:srgbClr val="FFFFFF"/>
                          </a:solidFill>
                          <a:latin typeface="Montserrat"/>
                          <a:ea typeface="Montserrat"/>
                          <a:cs typeface="Montserrat"/>
                          <a:sym typeface="Montserrat"/>
                        </a:rPr>
                        <a:t> Status</a:t>
                      </a:r>
                      <a:endParaRPr b="1" sz="2000">
                        <a:solidFill>
                          <a:srgbClr val="FFFFFF"/>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r>
              <a:tr h="1224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TC_04_15</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Select patient and eye</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Open Upload. Choose a demo patient and select Left or Right.</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Selected patient and eye appear before screening.</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solidFill>
                            <a:srgbClr val="127042"/>
                          </a:solidFill>
                          <a:latin typeface="Montserrat"/>
                          <a:ea typeface="Montserrat"/>
                          <a:cs typeface="Montserrat"/>
                          <a:sym typeface="Montserrat"/>
                        </a:rPr>
                        <a:t>Passed</a:t>
                      </a:r>
                      <a:endParaRPr b="1" sz="2000">
                        <a:solidFill>
                          <a:srgbClr val="127042"/>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224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TC_04_16</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Open main pages</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Use navigation to open Home, Upload, Results, History and About.</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Available pages open with the correct content.</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solidFill>
                            <a:srgbClr val="127042"/>
                          </a:solidFill>
                          <a:latin typeface="Montserrat"/>
                          <a:ea typeface="Montserrat"/>
                          <a:cs typeface="Montserrat"/>
                          <a:sym typeface="Montserrat"/>
                        </a:rPr>
                        <a:t>Passed</a:t>
                      </a:r>
                      <a:endParaRPr b="1" sz="2000">
                        <a:solidFill>
                          <a:srgbClr val="127042"/>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224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TC_04_17</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Upload and preview a photo</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Choose a JPG/PNG fundus photo; review its preview before screening.</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Selected photo appears in the upload preview.</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solidFill>
                            <a:srgbClr val="127042"/>
                          </a:solidFill>
                          <a:latin typeface="Montserrat"/>
                          <a:ea typeface="Montserrat"/>
                          <a:cs typeface="Montserrat"/>
                          <a:sym typeface="Montserrat"/>
                        </a:rPr>
                        <a:t>Passed</a:t>
                      </a:r>
                      <a:endParaRPr b="1" sz="2000">
                        <a:solidFill>
                          <a:srgbClr val="127042"/>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224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TC_04_18</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Reject unsupported files</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Try uploading a non-image file, such as PDF or TXT.</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Unsupported file is rejected with clear feedback.</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US" sz="2000">
                          <a:solidFill>
                            <a:srgbClr val="127042"/>
                          </a:solidFill>
                          <a:latin typeface="Montserrat"/>
                          <a:ea typeface="Montserrat"/>
                          <a:cs typeface="Montserrat"/>
                          <a:sym typeface="Montserrat"/>
                        </a:rPr>
                        <a:t>Passed</a:t>
                      </a:r>
                      <a:endParaRPr b="1" sz="2000">
                        <a:solidFill>
                          <a:srgbClr val="2B61BE"/>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224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TC_04_19</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Reject poor-quality image</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Upload a poor-quality fundus photograph and submit for screening.</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Quality warning appears; normal screening does not proceed.</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solidFill>
                            <a:srgbClr val="127042"/>
                          </a:solidFill>
                          <a:latin typeface="Montserrat"/>
                          <a:ea typeface="Montserrat"/>
                          <a:cs typeface="Montserrat"/>
                          <a:sym typeface="Montserrat"/>
                        </a:rPr>
                        <a:t>Passed</a:t>
                      </a:r>
                      <a:endParaRPr b="1" sz="2000">
                        <a:solidFill>
                          <a:srgbClr val="127042"/>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5" name="Shape 865"/>
        <p:cNvGrpSpPr/>
        <p:nvPr/>
      </p:nvGrpSpPr>
      <p:grpSpPr>
        <a:xfrm>
          <a:off x="0" y="0"/>
          <a:ext cx="0" cy="0"/>
          <a:chOff x="0" y="0"/>
          <a:chExt cx="0" cy="0"/>
        </a:xfrm>
      </p:grpSpPr>
      <p:sp>
        <p:nvSpPr>
          <p:cNvPr id="866" name="Google Shape;866;h6db5fc64863a8577_8_13"/>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h6db5fc64863a8577_8_13"/>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11 · SPRINT 1 BACKLOG</a:t>
            </a:r>
            <a:endParaRPr b="0" i="0" sz="1800" u="none" cap="none" strike="noStrike">
              <a:solidFill>
                <a:schemeClr val="dk1"/>
              </a:solidFill>
              <a:latin typeface="Montserrat"/>
              <a:ea typeface="Montserrat"/>
              <a:cs typeface="Montserrat"/>
              <a:sym typeface="Montserrat"/>
            </a:endParaRPr>
          </a:p>
        </p:txBody>
      </p:sp>
      <p:sp>
        <p:nvSpPr>
          <p:cNvPr id="868" name="Google Shape;868;h6db5fc64863a8577_8_13"/>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Test cases (frontend)</a:t>
            </a:r>
            <a:endParaRPr sz="42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869" name="Google Shape;869;h6db5fc64863a8577_8_13"/>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graphicFrame>
        <p:nvGraphicFramePr>
          <p:cNvPr id="870" name="Google Shape;870;h6db5fc64863a8577_8_13"/>
          <p:cNvGraphicFramePr/>
          <p:nvPr/>
        </p:nvGraphicFramePr>
        <p:xfrm>
          <a:off x="1047750" y="2472875"/>
          <a:ext cx="3000000" cy="3000000"/>
        </p:xfrm>
        <a:graphic>
          <a:graphicData uri="http://schemas.openxmlformats.org/drawingml/2006/table">
            <a:tbl>
              <a:tblPr>
                <a:noFill/>
                <a:tableStyleId>{82023395-B522-4359-B800-2BFD0772FF41}</a:tableStyleId>
              </a:tblPr>
              <a:tblGrid>
                <a:gridCol w="1687750"/>
                <a:gridCol w="2998775"/>
                <a:gridCol w="5003000"/>
                <a:gridCol w="4912575"/>
                <a:gridCol w="1748025"/>
              </a:tblGrid>
              <a:tr h="867150">
                <a:tc>
                  <a:txBody>
                    <a:bodyPr/>
                    <a:lstStyle/>
                    <a:p>
                      <a:pPr indent="0" lvl="0" marL="0" rtl="0" algn="ctr">
                        <a:lnSpc>
                          <a:spcPct val="115000"/>
                        </a:lnSpc>
                        <a:spcBef>
                          <a:spcPts val="0"/>
                        </a:spcBef>
                        <a:spcAft>
                          <a:spcPts val="0"/>
                        </a:spcAft>
                        <a:buNone/>
                      </a:pPr>
                      <a:r>
                        <a:rPr b="1" lang="en-US" sz="2000">
                          <a:solidFill>
                            <a:srgbClr val="FFFFFF"/>
                          </a:solidFill>
                          <a:latin typeface="Montserrat"/>
                          <a:ea typeface="Montserrat"/>
                          <a:cs typeface="Montserrat"/>
                          <a:sym typeface="Montserrat"/>
                        </a:rPr>
                        <a:t>TC</a:t>
                      </a:r>
                      <a:endParaRPr b="1" sz="2000">
                        <a:solidFill>
                          <a:srgbClr val="FFFFFF"/>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2000">
                          <a:solidFill>
                            <a:srgbClr val="FFFFFF"/>
                          </a:solidFill>
                          <a:latin typeface="Montserrat"/>
                          <a:ea typeface="Montserrat"/>
                          <a:cs typeface="Montserrat"/>
                          <a:sym typeface="Montserrat"/>
                        </a:rPr>
                        <a:t>TC Title</a:t>
                      </a:r>
                      <a:endParaRPr b="1" sz="2000">
                        <a:solidFill>
                          <a:srgbClr val="FFFFFF"/>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2000">
                          <a:solidFill>
                            <a:srgbClr val="FFFFFF"/>
                          </a:solidFill>
                          <a:latin typeface="Montserrat"/>
                          <a:ea typeface="Montserrat"/>
                          <a:cs typeface="Montserrat"/>
                          <a:sym typeface="Montserrat"/>
                        </a:rPr>
                        <a:t>Step Description</a:t>
                      </a:r>
                      <a:endParaRPr b="1" sz="2000">
                        <a:solidFill>
                          <a:srgbClr val="FFFFFF"/>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2000">
                          <a:solidFill>
                            <a:srgbClr val="FFFFFF"/>
                          </a:solidFill>
                          <a:latin typeface="Montserrat"/>
                          <a:ea typeface="Montserrat"/>
                          <a:cs typeface="Montserrat"/>
                          <a:sym typeface="Montserrat"/>
                        </a:rPr>
                        <a:t>Expected Results</a:t>
                      </a:r>
                      <a:endParaRPr b="1" sz="2000">
                        <a:solidFill>
                          <a:srgbClr val="FFFFFF"/>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c>
                  <a:txBody>
                    <a:bodyPr/>
                    <a:lstStyle/>
                    <a:p>
                      <a:pPr indent="0" lvl="0" marL="0" rtl="0" algn="ctr">
                        <a:lnSpc>
                          <a:spcPct val="115000"/>
                        </a:lnSpc>
                        <a:spcBef>
                          <a:spcPts val="0"/>
                        </a:spcBef>
                        <a:spcAft>
                          <a:spcPts val="0"/>
                        </a:spcAft>
                        <a:buNone/>
                      </a:pPr>
                      <a:r>
                        <a:rPr b="1" lang="en-US" sz="2000">
                          <a:solidFill>
                            <a:srgbClr val="FFFFFF"/>
                          </a:solidFill>
                          <a:latin typeface="Montserrat"/>
                          <a:ea typeface="Montserrat"/>
                          <a:cs typeface="Montserrat"/>
                          <a:sym typeface="Montserrat"/>
                        </a:rPr>
                        <a:t>Execution</a:t>
                      </a:r>
                      <a:br>
                        <a:rPr b="1" lang="en-US" sz="2000">
                          <a:solidFill>
                            <a:srgbClr val="FFFFFF"/>
                          </a:solidFill>
                          <a:latin typeface="Montserrat"/>
                          <a:ea typeface="Montserrat"/>
                          <a:cs typeface="Montserrat"/>
                          <a:sym typeface="Montserrat"/>
                        </a:rPr>
                      </a:br>
                      <a:r>
                        <a:rPr b="1" lang="en-US" sz="2000">
                          <a:solidFill>
                            <a:srgbClr val="FFFFFF"/>
                          </a:solidFill>
                          <a:latin typeface="Montserrat"/>
                          <a:ea typeface="Montserrat"/>
                          <a:cs typeface="Montserrat"/>
                          <a:sym typeface="Montserrat"/>
                        </a:rPr>
                        <a:t> Status</a:t>
                      </a:r>
                      <a:endParaRPr b="1" sz="2000">
                        <a:solidFill>
                          <a:srgbClr val="FFFFFF"/>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chemeClr val="accent1"/>
                    </a:solidFill>
                  </a:tcPr>
                </a:tc>
              </a:tr>
              <a:tr h="911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TC_04_20</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Show screening results</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Submit an accepted fundus photo and open the Results page.</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Overall result and separate cataract/glaucoma results appear.</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solidFill>
                            <a:srgbClr val="127042"/>
                          </a:solidFill>
                          <a:latin typeface="Montserrat"/>
                          <a:ea typeface="Montserrat"/>
                          <a:cs typeface="Montserrat"/>
                          <a:sym typeface="Montserrat"/>
                        </a:rPr>
                        <a:t>Passed</a:t>
                      </a:r>
                      <a:endParaRPr b="1" sz="2000">
                        <a:solidFill>
                          <a:srgbClr val="127042"/>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911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TC_04_21</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Display risk information</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Review the condition scores, thresholds, and result details.</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Risk information is shown for available mock-model outputs.</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solidFill>
                            <a:srgbClr val="127042"/>
                          </a:solidFill>
                          <a:latin typeface="Montserrat"/>
                          <a:ea typeface="Montserrat"/>
                          <a:cs typeface="Montserrat"/>
                          <a:sym typeface="Montserrat"/>
                        </a:rPr>
                        <a:t>Passed</a:t>
                      </a:r>
                      <a:endParaRPr b="1" sz="2000">
                        <a:solidFill>
                          <a:srgbClr val="127042"/>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911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TC_04_22</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Handle Refer / Uncertain</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Review screens for Refer and Uncertain outputs when returned.</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Correct label and follow-up guidance are displayed.</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US" sz="2000">
                          <a:solidFill>
                            <a:srgbClr val="127042"/>
                          </a:solidFill>
                          <a:latin typeface="Montserrat"/>
                          <a:ea typeface="Montserrat"/>
                          <a:cs typeface="Montserrat"/>
                          <a:sym typeface="Montserrat"/>
                        </a:rPr>
                        <a:t>Passed</a:t>
                      </a:r>
                      <a:endParaRPr b="1" sz="2000">
                        <a:solidFill>
                          <a:srgbClr val="2B61BE"/>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911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TC_04_23</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Review screening history</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Open History after completing a screening.</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Stored screening records can be retrieved and reviewed.</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solidFill>
                            <a:srgbClr val="127042"/>
                          </a:solidFill>
                          <a:latin typeface="Montserrat"/>
                          <a:ea typeface="Montserrat"/>
                          <a:cs typeface="Montserrat"/>
                          <a:sym typeface="Montserrat"/>
                        </a:rPr>
                        <a:t>Passed</a:t>
                      </a:r>
                      <a:endParaRPr b="1" sz="2000">
                        <a:solidFill>
                          <a:srgbClr val="127042"/>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911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TC_04_24</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Switch light/dark theme</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Use the theme toggle on the application interface.</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Theme changes and content remains readable.</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solidFill>
                            <a:srgbClr val="127042"/>
                          </a:solidFill>
                          <a:latin typeface="Montserrat"/>
                          <a:ea typeface="Montserrat"/>
                          <a:cs typeface="Montserrat"/>
                          <a:sym typeface="Montserrat"/>
                        </a:rPr>
                        <a:t>Passed</a:t>
                      </a:r>
                      <a:endParaRPr b="1" sz="2000">
                        <a:solidFill>
                          <a:srgbClr val="127042"/>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911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TC_04_25</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Check mobile layout</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Open Home, Upload, Results and History at phone width.</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Content fits without cutoff or unwanted horizontal scrolling.</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Clr>
                          <a:schemeClr val="dk1"/>
                        </a:buClr>
                        <a:buSzPts val="1100"/>
                        <a:buFont typeface="Arial"/>
                        <a:buNone/>
                      </a:pPr>
                      <a:r>
                        <a:rPr b="1" lang="en-US" sz="2000">
                          <a:solidFill>
                            <a:srgbClr val="127042"/>
                          </a:solidFill>
                          <a:latin typeface="Montserrat"/>
                          <a:ea typeface="Montserrat"/>
                          <a:cs typeface="Montserrat"/>
                          <a:sym typeface="Montserrat"/>
                        </a:rPr>
                        <a:t>Passed</a:t>
                      </a:r>
                      <a:endParaRPr b="1" sz="2000">
                        <a:solidFill>
                          <a:srgbClr val="2B61BE"/>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911200">
                <a:tc>
                  <a:txBody>
                    <a:bodyPr/>
                    <a:lstStyle/>
                    <a:p>
                      <a:pPr indent="0" lvl="0" marL="0" rtl="0" algn="ctr">
                        <a:lnSpc>
                          <a:spcPct val="115000"/>
                        </a:lnSpc>
                        <a:spcBef>
                          <a:spcPts val="0"/>
                        </a:spcBef>
                        <a:spcAft>
                          <a:spcPts val="0"/>
                        </a:spcAft>
                        <a:buNone/>
                      </a:pPr>
                      <a:r>
                        <a:rPr lang="en-US" sz="2000">
                          <a:solidFill>
                            <a:srgbClr val="505C6D"/>
                          </a:solidFill>
                          <a:latin typeface="Montserrat"/>
                          <a:ea typeface="Montserrat"/>
                          <a:cs typeface="Montserrat"/>
                          <a:sym typeface="Montserrat"/>
                        </a:rPr>
                        <a:t>TC_04_26</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Use demo patient records</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Review the patient selection and displayed patient details.</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2000">
                          <a:solidFill>
                            <a:srgbClr val="505C6D"/>
                          </a:solidFill>
                          <a:latin typeface="Montserrat"/>
                          <a:ea typeface="Montserrat"/>
                          <a:cs typeface="Montserrat"/>
                          <a:sym typeface="Montserrat"/>
                        </a:rPr>
                        <a:t>Prototype uses fictional patient records, not real patient data.</a:t>
                      </a:r>
                      <a:endParaRPr sz="2000">
                        <a:solidFill>
                          <a:srgbClr val="505C6D"/>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solidFill>
                            <a:srgbClr val="127042"/>
                          </a:solidFill>
                          <a:latin typeface="Montserrat"/>
                          <a:ea typeface="Montserrat"/>
                          <a:cs typeface="Montserrat"/>
                          <a:sym typeface="Montserrat"/>
                        </a:rPr>
                        <a:t>Passed</a:t>
                      </a:r>
                      <a:endParaRPr b="1" sz="2000">
                        <a:solidFill>
                          <a:srgbClr val="127042"/>
                        </a:solidFill>
                        <a:latin typeface="Montserrat"/>
                        <a:ea typeface="Montserrat"/>
                        <a:cs typeface="Montserrat"/>
                        <a:sym typeface="Montserrat"/>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4" name="Shape 874"/>
        <p:cNvGrpSpPr/>
        <p:nvPr/>
      </p:nvGrpSpPr>
      <p:grpSpPr>
        <a:xfrm>
          <a:off x="0" y="0"/>
          <a:ext cx="0" cy="0"/>
          <a:chOff x="0" y="0"/>
          <a:chExt cx="0" cy="0"/>
        </a:xfrm>
      </p:grpSpPr>
      <p:sp>
        <p:nvSpPr>
          <p:cNvPr id="875" name="Google Shape;875;p22"/>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6" name="Google Shape;876;p22"/>
          <p:cNvSpPr/>
          <p:nvPr/>
        </p:nvSpPr>
        <p:spPr>
          <a:xfrm>
            <a:off x="1047750" y="857250"/>
            <a:ext cx="14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11 · SPRINT 1 BACKLOG</a:t>
            </a:r>
            <a:endParaRPr b="0" i="0" sz="1800" u="none" cap="none" strike="noStrike">
              <a:solidFill>
                <a:schemeClr val="dk1"/>
              </a:solidFill>
              <a:latin typeface="Montserrat"/>
              <a:ea typeface="Montserrat"/>
              <a:cs typeface="Montserrat"/>
              <a:sym typeface="Montserrat"/>
            </a:endParaRPr>
          </a:p>
        </p:txBody>
      </p:sp>
      <p:sp>
        <p:nvSpPr>
          <p:cNvPr id="877" name="Google Shape;877;p22"/>
          <p:cNvSpPr/>
          <p:nvPr/>
        </p:nvSpPr>
        <p:spPr>
          <a:xfrm>
            <a:off x="1047750" y="1266825"/>
            <a:ext cx="140000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Stories completed and not completed</a:t>
            </a:r>
            <a:endParaRPr b="0" i="0" sz="4200" u="none" cap="none" strike="noStrike">
              <a:solidFill>
                <a:schemeClr val="dk1"/>
              </a:solidFill>
              <a:latin typeface="Montserrat"/>
              <a:ea typeface="Montserrat"/>
              <a:cs typeface="Montserrat"/>
              <a:sym typeface="Montserrat"/>
            </a:endParaRPr>
          </a:p>
        </p:txBody>
      </p:sp>
      <p:pic>
        <p:nvPicPr>
          <p:cNvPr descr="preencoded.png" id="878" name="Google Shape;878;p22"/>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879" name="Google Shape;879;p22"/>
          <p:cNvSpPr/>
          <p:nvPr/>
        </p:nvSpPr>
        <p:spPr>
          <a:xfrm>
            <a:off x="1051560" y="2496312"/>
            <a:ext cx="7973700" cy="6675000"/>
          </a:xfrm>
          <a:prstGeom prst="roundRect">
            <a:avLst>
              <a:gd fmla="val 4000" name="adj"/>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0" name="Google Shape;880;p22"/>
          <p:cNvSpPr/>
          <p:nvPr/>
        </p:nvSpPr>
        <p:spPr>
          <a:xfrm>
            <a:off x="9272016" y="2496312"/>
            <a:ext cx="7973700" cy="6675000"/>
          </a:xfrm>
          <a:prstGeom prst="roundRect">
            <a:avLst>
              <a:gd fmla="val 4000" name="adj"/>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1" name="Google Shape;881;p22"/>
          <p:cNvSpPr txBox="1"/>
          <p:nvPr/>
        </p:nvSpPr>
        <p:spPr>
          <a:xfrm>
            <a:off x="1335024" y="2743200"/>
            <a:ext cx="74067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111111"/>
                </a:solidFill>
                <a:latin typeface="Montserrat"/>
                <a:ea typeface="Montserrat"/>
                <a:cs typeface="Montserrat"/>
                <a:sym typeface="Montserrat"/>
              </a:rPr>
              <a:t>Completed</a:t>
            </a:r>
            <a:r>
              <a:rPr b="1" i="0" lang="en-US" sz="1875" u="none" cap="none" strike="noStrike">
                <a:solidFill>
                  <a:srgbClr val="1E6FBF"/>
                </a:solidFill>
                <a:latin typeface="Montserrat"/>
                <a:ea typeface="Montserrat"/>
                <a:cs typeface="Montserrat"/>
                <a:sym typeface="Montserrat"/>
              </a:rPr>
              <a:t>   65 story points</a:t>
            </a:r>
            <a:endParaRPr/>
          </a:p>
        </p:txBody>
      </p:sp>
      <p:sp>
        <p:nvSpPr>
          <p:cNvPr id="882" name="Google Shape;882;p22"/>
          <p:cNvSpPr txBox="1"/>
          <p:nvPr/>
        </p:nvSpPr>
        <p:spPr>
          <a:xfrm>
            <a:off x="9555480" y="2743200"/>
            <a:ext cx="7406700" cy="32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100" u="none" cap="none" strike="noStrike">
                <a:solidFill>
                  <a:srgbClr val="111111"/>
                </a:solidFill>
                <a:latin typeface="Montserrat"/>
                <a:ea typeface="Montserrat"/>
                <a:cs typeface="Montserrat"/>
                <a:sym typeface="Montserrat"/>
              </a:rPr>
              <a:t>Not completed, carried over</a:t>
            </a:r>
            <a:r>
              <a:rPr b="1" i="0" lang="en-US" sz="1875" u="none" cap="none" strike="noStrike">
                <a:solidFill>
                  <a:srgbClr val="1E6FBF"/>
                </a:solidFill>
                <a:latin typeface="Montserrat"/>
                <a:ea typeface="Montserrat"/>
                <a:cs typeface="Montserrat"/>
                <a:sym typeface="Montserrat"/>
              </a:rPr>
              <a:t>   18 pts</a:t>
            </a:r>
            <a:endParaRPr/>
          </a:p>
        </p:txBody>
      </p:sp>
      <p:graphicFrame>
        <p:nvGraphicFramePr>
          <p:cNvPr id="883" name="Google Shape;883;p22"/>
          <p:cNvGraphicFramePr/>
          <p:nvPr/>
        </p:nvGraphicFramePr>
        <p:xfrm>
          <a:off x="1335024" y="3429000"/>
          <a:ext cx="3000000" cy="3000000"/>
        </p:xfrm>
        <a:graphic>
          <a:graphicData uri="http://schemas.openxmlformats.org/drawingml/2006/table">
            <a:tbl>
              <a:tblPr>
                <a:noFill/>
                <a:tableStyleId>{82023395-B522-4359-B800-2BFD0772FF41}</a:tableStyleId>
              </a:tblPr>
              <a:tblGrid>
                <a:gridCol w="1051550"/>
                <a:gridCol w="4114800"/>
                <a:gridCol w="1143000"/>
                <a:gridCol w="1097275"/>
              </a:tblGrid>
              <a:tr h="566925">
                <a:tc>
                  <a:txBody>
                    <a:bodyPr/>
                    <a:lstStyle/>
                    <a:p>
                      <a:pPr indent="0" lvl="0" marL="0" marR="0" rtl="0" algn="l">
                        <a:lnSpc>
                          <a:spcPct val="100000"/>
                        </a:lnSpc>
                        <a:spcBef>
                          <a:spcPts val="0"/>
                        </a:spcBef>
                        <a:spcAft>
                          <a:spcPts val="0"/>
                        </a:spcAft>
                        <a:buNone/>
                      </a:pPr>
                      <a:r>
                        <a:rPr b="1" lang="en-US" sz="1400" u="none" cap="none" strike="noStrike">
                          <a:solidFill>
                            <a:srgbClr val="FFFFFF"/>
                          </a:solidFill>
                          <a:latin typeface="Montserrat"/>
                          <a:ea typeface="Montserrat"/>
                          <a:cs typeface="Montserrat"/>
                          <a:sym typeface="Montserrat"/>
                        </a:rPr>
                        <a:t>ID</a:t>
                      </a:r>
                      <a:endParaRPr/>
                    </a:p>
                  </a:txBody>
                  <a:tcPr marT="45725" marB="45725" marR="91450" marL="91450" anchor="ctr">
                    <a:solidFill>
                      <a:srgbClr val="1E6FBF"/>
                    </a:solidFill>
                  </a:tcPr>
                </a:tc>
                <a:tc>
                  <a:txBody>
                    <a:bodyPr/>
                    <a:lstStyle/>
                    <a:p>
                      <a:pPr indent="0" lvl="0" marL="0" marR="0" rtl="0" algn="l">
                        <a:lnSpc>
                          <a:spcPct val="100000"/>
                        </a:lnSpc>
                        <a:spcBef>
                          <a:spcPts val="0"/>
                        </a:spcBef>
                        <a:spcAft>
                          <a:spcPts val="0"/>
                        </a:spcAft>
                        <a:buNone/>
                      </a:pPr>
                      <a:r>
                        <a:rPr b="1" lang="en-US" sz="1400" u="none" cap="none" strike="noStrike">
                          <a:solidFill>
                            <a:srgbClr val="FFFFFF"/>
                          </a:solidFill>
                          <a:latin typeface="Montserrat"/>
                          <a:ea typeface="Montserrat"/>
                          <a:cs typeface="Montserrat"/>
                          <a:sym typeface="Montserrat"/>
                        </a:rPr>
                        <a:t>Feature</a:t>
                      </a:r>
                      <a:endParaRPr/>
                    </a:p>
                  </a:txBody>
                  <a:tcPr marT="45725" marB="45725" marR="91450" marL="91450" anchor="ctr">
                    <a:solidFill>
                      <a:srgbClr val="1E6FBF"/>
                    </a:solidFill>
                  </a:tcPr>
                </a:tc>
                <a:tc>
                  <a:txBody>
                    <a:bodyPr/>
                    <a:lstStyle/>
                    <a:p>
                      <a:pPr indent="0" lvl="0" marL="0" marR="0" rtl="0" algn="ctr">
                        <a:lnSpc>
                          <a:spcPct val="100000"/>
                        </a:lnSpc>
                        <a:spcBef>
                          <a:spcPts val="0"/>
                        </a:spcBef>
                        <a:spcAft>
                          <a:spcPts val="0"/>
                        </a:spcAft>
                        <a:buNone/>
                      </a:pPr>
                      <a:r>
                        <a:rPr b="1" lang="en-US" sz="1400" u="none" cap="none" strike="noStrike">
                          <a:solidFill>
                            <a:srgbClr val="FFFFFF"/>
                          </a:solidFill>
                          <a:latin typeface="Montserrat"/>
                          <a:ea typeface="Montserrat"/>
                          <a:cs typeface="Montserrat"/>
                          <a:sym typeface="Montserrat"/>
                        </a:rPr>
                        <a:t>Points</a:t>
                      </a:r>
                      <a:endParaRPr/>
                    </a:p>
                  </a:txBody>
                  <a:tcPr marT="45725" marB="45725" marR="91450" marL="91450" anchor="ctr">
                    <a:solidFill>
                      <a:srgbClr val="1E6FBF"/>
                    </a:solidFill>
                  </a:tcPr>
                </a:tc>
                <a:tc>
                  <a:txBody>
                    <a:bodyPr/>
                    <a:lstStyle/>
                    <a:p>
                      <a:pPr indent="0" lvl="0" marL="0" marR="0" rtl="0" algn="ctr">
                        <a:lnSpc>
                          <a:spcPct val="100000"/>
                        </a:lnSpc>
                        <a:spcBef>
                          <a:spcPts val="0"/>
                        </a:spcBef>
                        <a:spcAft>
                          <a:spcPts val="0"/>
                        </a:spcAft>
                        <a:buNone/>
                      </a:pPr>
                      <a:r>
                        <a:rPr b="1" lang="en-US" sz="1400" u="none" cap="none" strike="noStrike">
                          <a:solidFill>
                            <a:srgbClr val="FFFFFF"/>
                          </a:solidFill>
                          <a:latin typeface="Montserrat"/>
                          <a:ea typeface="Montserrat"/>
                          <a:cs typeface="Montserrat"/>
                          <a:sym typeface="Montserrat"/>
                        </a:rPr>
                        <a:t>Done</a:t>
                      </a:r>
                      <a:endParaRPr/>
                    </a:p>
                  </a:txBody>
                  <a:tcPr marT="45725" marB="45725" marR="91450" marL="91450" anchor="ctr">
                    <a:solidFill>
                      <a:srgbClr val="1E6FBF"/>
                    </a:solidFill>
                  </a:tcPr>
                </a:tc>
              </a:tr>
              <a:tr h="566925">
                <a:tc>
                  <a:txBody>
                    <a:bodyPr/>
                    <a:lstStyle/>
                    <a:p>
                      <a:pPr indent="0" lvl="0" marL="0" marR="0" rtl="0" algn="l">
                        <a:lnSpc>
                          <a:spcPct val="100000"/>
                        </a:lnSpc>
                        <a:spcBef>
                          <a:spcPts val="0"/>
                        </a:spcBef>
                        <a:spcAft>
                          <a:spcPts val="0"/>
                        </a:spcAft>
                        <a:buNone/>
                      </a:pPr>
                      <a:r>
                        <a:rPr b="1" lang="en-US" sz="1400" u="none" cap="none" strike="noStrike">
                          <a:solidFill>
                            <a:srgbClr val="111111"/>
                          </a:solidFill>
                          <a:latin typeface="Montserrat"/>
                          <a:ea typeface="Montserrat"/>
                          <a:cs typeface="Montserrat"/>
                          <a:sym typeface="Montserrat"/>
                        </a:rPr>
                        <a:t>US_01</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Data pipeline</a:t>
                      </a:r>
                      <a:endParaRPr/>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23</a:t>
                      </a:r>
                      <a:endParaRPr/>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21 Sep</a:t>
                      </a:r>
                      <a:endParaRPr/>
                    </a:p>
                  </a:txBody>
                  <a:tcPr marT="45725" marB="45725" marR="91450" marL="91450" anchor="ctr">
                    <a:solidFill>
                      <a:srgbClr val="FFFFFF"/>
                    </a:solidFill>
                  </a:tcPr>
                </a:tc>
              </a:tr>
              <a:tr h="566925">
                <a:tc>
                  <a:txBody>
                    <a:bodyPr/>
                    <a:lstStyle/>
                    <a:p>
                      <a:pPr indent="0" lvl="0" marL="0" marR="0" rtl="0" algn="l">
                        <a:lnSpc>
                          <a:spcPct val="100000"/>
                        </a:lnSpc>
                        <a:spcBef>
                          <a:spcPts val="0"/>
                        </a:spcBef>
                        <a:spcAft>
                          <a:spcPts val="0"/>
                        </a:spcAft>
                        <a:buNone/>
                      </a:pPr>
                      <a:r>
                        <a:rPr b="1" lang="en-US" sz="1400" u="none" cap="none" strike="noStrike">
                          <a:solidFill>
                            <a:srgbClr val="111111"/>
                          </a:solidFill>
                          <a:latin typeface="Montserrat"/>
                          <a:ea typeface="Montserrat"/>
                          <a:cs typeface="Montserrat"/>
                          <a:sym typeface="Montserrat"/>
                        </a:rPr>
                        <a:t>US_02</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Dual-head model</a:t>
                      </a:r>
                      <a:endParaRPr/>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16</a:t>
                      </a:r>
                      <a:endParaRPr/>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29 Sep</a:t>
                      </a:r>
                      <a:endParaRPr/>
                    </a:p>
                  </a:txBody>
                  <a:tcPr marT="45725" marB="45725" marR="91450" marL="91450" anchor="ctr">
                    <a:solidFill>
                      <a:srgbClr val="FFFFFF"/>
                    </a:solidFill>
                  </a:tcPr>
                </a:tc>
              </a:tr>
              <a:tr h="566925">
                <a:tc>
                  <a:txBody>
                    <a:bodyPr/>
                    <a:lstStyle/>
                    <a:p>
                      <a:pPr indent="0" lvl="0" marL="0" marR="0" rtl="0" algn="l">
                        <a:lnSpc>
                          <a:spcPct val="100000"/>
                        </a:lnSpc>
                        <a:spcBef>
                          <a:spcPts val="0"/>
                        </a:spcBef>
                        <a:spcAft>
                          <a:spcPts val="0"/>
                        </a:spcAft>
                        <a:buNone/>
                      </a:pPr>
                      <a:r>
                        <a:rPr b="1" lang="en-US" sz="1400" u="none" cap="none" strike="noStrike">
                          <a:solidFill>
                            <a:srgbClr val="111111"/>
                          </a:solidFill>
                          <a:latin typeface="Montserrat"/>
                          <a:ea typeface="Montserrat"/>
                          <a:cs typeface="Montserrat"/>
                          <a:sym typeface="Montserrat"/>
                        </a:rPr>
                        <a:t>US_03</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External test sets</a:t>
                      </a:r>
                      <a:endParaRPr/>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15</a:t>
                      </a:r>
                      <a:endParaRPr/>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16 Oct</a:t>
                      </a:r>
                      <a:endParaRPr/>
                    </a:p>
                  </a:txBody>
                  <a:tcPr marT="45725" marB="45725" marR="91450" marL="91450" anchor="ctr">
                    <a:solidFill>
                      <a:srgbClr val="FFFFFF"/>
                    </a:solidFill>
                  </a:tcPr>
                </a:tc>
              </a:tr>
              <a:tr h="566925">
                <a:tc>
                  <a:txBody>
                    <a:bodyPr/>
                    <a:lstStyle/>
                    <a:p>
                      <a:pPr indent="0" lvl="0" marL="0" marR="0" rtl="0" algn="l">
                        <a:lnSpc>
                          <a:spcPct val="100000"/>
                        </a:lnSpc>
                        <a:spcBef>
                          <a:spcPts val="0"/>
                        </a:spcBef>
                        <a:spcAft>
                          <a:spcPts val="0"/>
                        </a:spcAft>
                        <a:buNone/>
                      </a:pPr>
                      <a:r>
                        <a:rPr b="1" lang="en-US" sz="1400" u="none" cap="none" strike="noStrike">
                          <a:solidFill>
                            <a:srgbClr val="111111"/>
                          </a:solidFill>
                          <a:latin typeface="Montserrat"/>
                          <a:ea typeface="Montserrat"/>
                          <a:cs typeface="Montserrat"/>
                          <a:sym typeface="Montserrat"/>
                        </a:rPr>
                        <a:t>US_05</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Photo quality check</a:t>
                      </a:r>
                      <a:endParaRPr/>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3</a:t>
                      </a:r>
                      <a:endParaRPr/>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30 Sep</a:t>
                      </a:r>
                      <a:endParaRPr/>
                    </a:p>
                  </a:txBody>
                  <a:tcPr marT="45725" marB="45725" marR="91450" marL="91450" anchor="ctr">
                    <a:solidFill>
                      <a:srgbClr val="FFFFFF"/>
                    </a:solidFill>
                  </a:tcPr>
                </a:tc>
              </a:tr>
              <a:tr h="566925">
                <a:tc>
                  <a:txBody>
                    <a:bodyPr/>
                    <a:lstStyle/>
                    <a:p>
                      <a:pPr indent="0" lvl="0" marL="0" marR="0" rtl="0" algn="l">
                        <a:lnSpc>
                          <a:spcPct val="100000"/>
                        </a:lnSpc>
                        <a:spcBef>
                          <a:spcPts val="0"/>
                        </a:spcBef>
                        <a:spcAft>
                          <a:spcPts val="0"/>
                        </a:spcAft>
                        <a:buNone/>
                      </a:pPr>
                      <a:r>
                        <a:rPr b="1" lang="en-US" sz="1400" u="none" cap="none" strike="noStrike">
                          <a:solidFill>
                            <a:srgbClr val="111111"/>
                          </a:solidFill>
                          <a:latin typeface="Montserrat"/>
                          <a:ea typeface="Montserrat"/>
                          <a:cs typeface="Montserrat"/>
                          <a:sym typeface="Montserrat"/>
                        </a:rPr>
                        <a:t>US_06</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Model ablation</a:t>
                      </a:r>
                      <a:endParaRPr/>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8</a:t>
                      </a:r>
                      <a:endParaRPr/>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None/>
                      </a:pPr>
                      <a:r>
                        <a:rPr b="0" lang="en-US" sz="1400" u="none" cap="none" strike="noStrike">
                          <a:solidFill>
                            <a:srgbClr val="3D3D3D"/>
                          </a:solidFill>
                          <a:latin typeface="Montserrat"/>
                          <a:ea typeface="Montserrat"/>
                          <a:cs typeface="Montserrat"/>
                          <a:sym typeface="Montserrat"/>
                        </a:rPr>
                        <a:t>14 Oct</a:t>
                      </a:r>
                      <a:endParaRPr/>
                    </a:p>
                  </a:txBody>
                  <a:tcPr marT="45725" marB="45725" marR="91450" marL="91450" anchor="ctr">
                    <a:solidFill>
                      <a:srgbClr val="FFFFFF"/>
                    </a:solidFill>
                  </a:tcPr>
                </a:tc>
              </a:tr>
            </a:tbl>
          </a:graphicData>
        </a:graphic>
      </p:graphicFrame>
      <p:graphicFrame>
        <p:nvGraphicFramePr>
          <p:cNvPr id="884" name="Google Shape;884;p22"/>
          <p:cNvGraphicFramePr/>
          <p:nvPr/>
        </p:nvGraphicFramePr>
        <p:xfrm>
          <a:off x="9555480" y="3429000"/>
          <a:ext cx="3000000" cy="3000000"/>
        </p:xfrm>
        <a:graphic>
          <a:graphicData uri="http://schemas.openxmlformats.org/drawingml/2006/table">
            <a:tbl>
              <a:tblPr>
                <a:noFill/>
                <a:tableStyleId>{82023395-B522-4359-B800-2BFD0772FF41}</a:tableStyleId>
              </a:tblPr>
              <a:tblGrid>
                <a:gridCol w="1051550"/>
                <a:gridCol w="2514600"/>
                <a:gridCol w="914400"/>
                <a:gridCol w="2926075"/>
              </a:tblGrid>
              <a:tr h="868675">
                <a:tc>
                  <a:txBody>
                    <a:bodyPr/>
                    <a:lstStyle/>
                    <a:p>
                      <a:pPr indent="0" lvl="0" marL="0" marR="0" rtl="0" algn="l">
                        <a:lnSpc>
                          <a:spcPct val="100000"/>
                        </a:lnSpc>
                        <a:spcBef>
                          <a:spcPts val="0"/>
                        </a:spcBef>
                        <a:spcAft>
                          <a:spcPts val="0"/>
                        </a:spcAft>
                        <a:buNone/>
                      </a:pPr>
                      <a:r>
                        <a:rPr b="1" lang="en-US" sz="1300" u="none" cap="none" strike="noStrike">
                          <a:solidFill>
                            <a:srgbClr val="FFFFFF"/>
                          </a:solidFill>
                          <a:latin typeface="Montserrat"/>
                          <a:ea typeface="Montserrat"/>
                          <a:cs typeface="Montserrat"/>
                          <a:sym typeface="Montserrat"/>
                        </a:rPr>
                        <a:t>ID</a:t>
                      </a:r>
                      <a:endParaRPr/>
                    </a:p>
                  </a:txBody>
                  <a:tcPr marT="45725" marB="45725" marR="91450" marL="91450" anchor="ctr">
                    <a:solidFill>
                      <a:srgbClr val="1E6FBF"/>
                    </a:solidFill>
                  </a:tcPr>
                </a:tc>
                <a:tc>
                  <a:txBody>
                    <a:bodyPr/>
                    <a:lstStyle/>
                    <a:p>
                      <a:pPr indent="0" lvl="0" marL="0" marR="0" rtl="0" algn="l">
                        <a:lnSpc>
                          <a:spcPct val="100000"/>
                        </a:lnSpc>
                        <a:spcBef>
                          <a:spcPts val="0"/>
                        </a:spcBef>
                        <a:spcAft>
                          <a:spcPts val="0"/>
                        </a:spcAft>
                        <a:buNone/>
                      </a:pPr>
                      <a:r>
                        <a:rPr b="1" lang="en-US" sz="1300" u="none" cap="none" strike="noStrike">
                          <a:solidFill>
                            <a:srgbClr val="FFFFFF"/>
                          </a:solidFill>
                          <a:latin typeface="Montserrat"/>
                          <a:ea typeface="Montserrat"/>
                          <a:cs typeface="Montserrat"/>
                          <a:sym typeface="Montserrat"/>
                        </a:rPr>
                        <a:t>Feature</a:t>
                      </a:r>
                      <a:endParaRPr/>
                    </a:p>
                  </a:txBody>
                  <a:tcPr marT="45725" marB="45725" marR="91450" marL="91450" anchor="ctr">
                    <a:solidFill>
                      <a:srgbClr val="1E6FBF"/>
                    </a:solidFill>
                  </a:tcPr>
                </a:tc>
                <a:tc>
                  <a:txBody>
                    <a:bodyPr/>
                    <a:lstStyle/>
                    <a:p>
                      <a:pPr indent="0" lvl="0" marL="0" marR="0" rtl="0" algn="ctr">
                        <a:lnSpc>
                          <a:spcPct val="100000"/>
                        </a:lnSpc>
                        <a:spcBef>
                          <a:spcPts val="0"/>
                        </a:spcBef>
                        <a:spcAft>
                          <a:spcPts val="0"/>
                        </a:spcAft>
                        <a:buNone/>
                      </a:pPr>
                      <a:r>
                        <a:rPr b="1" lang="en-US" sz="1300" u="none" cap="none" strike="noStrike">
                          <a:solidFill>
                            <a:srgbClr val="FFFFFF"/>
                          </a:solidFill>
                          <a:latin typeface="Montserrat"/>
                          <a:ea typeface="Montserrat"/>
                          <a:cs typeface="Montserrat"/>
                          <a:sym typeface="Montserrat"/>
                        </a:rPr>
                        <a:t>Points</a:t>
                      </a:r>
                      <a:endParaRPr/>
                    </a:p>
                  </a:txBody>
                  <a:tcPr marT="45725" marB="45725" marR="91450" marL="91450" anchor="ctr">
                    <a:solidFill>
                      <a:srgbClr val="1E6FBF"/>
                    </a:solidFill>
                  </a:tcPr>
                </a:tc>
                <a:tc>
                  <a:txBody>
                    <a:bodyPr/>
                    <a:lstStyle/>
                    <a:p>
                      <a:pPr indent="0" lvl="0" marL="0" marR="0" rtl="0" algn="l">
                        <a:lnSpc>
                          <a:spcPct val="100000"/>
                        </a:lnSpc>
                        <a:spcBef>
                          <a:spcPts val="0"/>
                        </a:spcBef>
                        <a:spcAft>
                          <a:spcPts val="0"/>
                        </a:spcAft>
                        <a:buNone/>
                      </a:pPr>
                      <a:r>
                        <a:rPr b="1" lang="en-US" sz="1300" u="none" cap="none" strike="noStrike">
                          <a:solidFill>
                            <a:srgbClr val="FFFFFF"/>
                          </a:solidFill>
                          <a:latin typeface="Montserrat"/>
                          <a:ea typeface="Montserrat"/>
                          <a:cs typeface="Montserrat"/>
                          <a:sym typeface="Montserrat"/>
                        </a:rPr>
                        <a:t>Still open</a:t>
                      </a:r>
                      <a:endParaRPr/>
                    </a:p>
                  </a:txBody>
                  <a:tcPr marT="45725" marB="45725" marR="91450" marL="91450" anchor="ctr">
                    <a:solidFill>
                      <a:srgbClr val="1E6FBF"/>
                    </a:solidFill>
                  </a:tcPr>
                </a:tc>
              </a:tr>
              <a:tr h="868675">
                <a:tc>
                  <a:txBody>
                    <a:bodyPr/>
                    <a:lstStyle/>
                    <a:p>
                      <a:pPr indent="0" lvl="0" marL="0" marR="0" rtl="0" algn="l">
                        <a:lnSpc>
                          <a:spcPct val="100000"/>
                        </a:lnSpc>
                        <a:spcBef>
                          <a:spcPts val="0"/>
                        </a:spcBef>
                        <a:spcAft>
                          <a:spcPts val="0"/>
                        </a:spcAft>
                        <a:buNone/>
                      </a:pPr>
                      <a:r>
                        <a:rPr b="1" lang="en-US" sz="1300" u="none" cap="none" strike="noStrike">
                          <a:solidFill>
                            <a:srgbClr val="111111"/>
                          </a:solidFill>
                          <a:latin typeface="Montserrat"/>
                          <a:ea typeface="Montserrat"/>
                          <a:cs typeface="Montserrat"/>
                          <a:sym typeface="Montserrat"/>
                        </a:rPr>
                        <a:t>US_04</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z="1300" u="none" cap="none" strike="noStrike">
                          <a:solidFill>
                            <a:srgbClr val="3D3D3D"/>
                          </a:solidFill>
                          <a:latin typeface="Montserrat"/>
                          <a:ea typeface="Montserrat"/>
                          <a:cs typeface="Montserrat"/>
                          <a:sym typeface="Montserrat"/>
                        </a:rPr>
                        <a:t>App prototype</a:t>
                      </a:r>
                      <a:endParaRPr/>
                    </a:p>
                  </a:txBody>
                  <a:tcPr marT="45725" marB="45725" marR="91450" marL="91450" anchor="ctr">
                    <a:solidFill>
                      <a:srgbClr val="FFFFFF"/>
                    </a:solidFill>
                  </a:tcPr>
                </a:tc>
                <a:tc>
                  <a:txBody>
                    <a:bodyPr/>
                    <a:lstStyle/>
                    <a:p>
                      <a:pPr indent="0" lvl="0" marL="0" marR="0" rtl="0" algn="ctr">
                        <a:lnSpc>
                          <a:spcPct val="100000"/>
                        </a:lnSpc>
                        <a:spcBef>
                          <a:spcPts val="0"/>
                        </a:spcBef>
                        <a:spcAft>
                          <a:spcPts val="0"/>
                        </a:spcAft>
                        <a:buNone/>
                      </a:pPr>
                      <a:r>
                        <a:rPr b="0" lang="en-US" sz="1300" u="none" cap="none" strike="noStrike">
                          <a:solidFill>
                            <a:srgbClr val="3D3D3D"/>
                          </a:solidFill>
                          <a:latin typeface="Montserrat"/>
                          <a:ea typeface="Montserrat"/>
                          <a:cs typeface="Montserrat"/>
                          <a:sym typeface="Montserrat"/>
                        </a:rPr>
                        <a:t>18</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z="1300" u="none" cap="none" strike="noStrike">
                          <a:solidFill>
                            <a:srgbClr val="3D3D3D"/>
                          </a:solidFill>
                          <a:latin typeface="Montserrat"/>
                          <a:ea typeface="Montserrat"/>
                          <a:cs typeface="Montserrat"/>
                          <a:sym typeface="Montserrat"/>
                        </a:rPr>
                        <a:t>Results and Log detail screens, upload and results functions, screen tests</a:t>
                      </a:r>
                      <a:endParaRPr/>
                    </a:p>
                  </a:txBody>
                  <a:tcPr marT="45725" marB="45725" marR="91450" marL="91450" anchor="ctr">
                    <a:solidFill>
                      <a:srgbClr val="FFFFFF"/>
                    </a:solidFill>
                  </a:tcPr>
                </a:tc>
              </a:tr>
            </a:tbl>
          </a:graphicData>
        </a:graphic>
      </p:graphicFrame>
      <p:sp>
        <p:nvSpPr>
          <p:cNvPr id="885" name="Google Shape;885;p22"/>
          <p:cNvSpPr txBox="1"/>
          <p:nvPr/>
        </p:nvSpPr>
        <p:spPr>
          <a:xfrm>
            <a:off x="1335024" y="7104888"/>
            <a:ext cx="74067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600" u="none" cap="none" strike="noStrike">
                <a:solidFill>
                  <a:srgbClr val="3D3D3D"/>
                </a:solidFill>
                <a:latin typeface="Montserrat"/>
                <a:ea typeface="Montserrat"/>
                <a:cs typeface="Montserrat"/>
                <a:sym typeface="Montserrat"/>
              </a:rPr>
              <a:t>All sub-tasks of these stories are closed in Jira.</a:t>
            </a:r>
            <a:endParaRPr/>
          </a:p>
        </p:txBody>
      </p:sp>
      <p:sp>
        <p:nvSpPr>
          <p:cNvPr id="886" name="Google Shape;886;p22"/>
          <p:cNvSpPr txBox="1"/>
          <p:nvPr/>
        </p:nvSpPr>
        <p:spPr>
          <a:xfrm>
            <a:off x="9555480" y="5440680"/>
            <a:ext cx="74067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600" u="none" cap="none" strike="noStrike">
                <a:solidFill>
                  <a:srgbClr val="3D3D3D"/>
                </a:solidFill>
                <a:latin typeface="Montserrat"/>
                <a:ea typeface="Montserrat"/>
                <a:cs typeface="Montserrat"/>
                <a:sym typeface="Montserrat"/>
              </a:rPr>
              <a:t>Mostly done: 15 of its 20 sub-tasks are closed (React app, navigation, Upload, About and History screens, mock API). It moves to Sprint 2 with its full 18 points.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111"/>
        </a:solidFill>
      </p:bgPr>
    </p:bg>
    <p:spTree>
      <p:nvGrpSpPr>
        <p:cNvPr id="891" name="Shape 891"/>
        <p:cNvGrpSpPr/>
        <p:nvPr/>
      </p:nvGrpSpPr>
      <p:grpSpPr>
        <a:xfrm>
          <a:off x="0" y="0"/>
          <a:ext cx="0" cy="0"/>
          <a:chOff x="0" y="0"/>
          <a:chExt cx="0" cy="0"/>
        </a:xfrm>
      </p:grpSpPr>
      <p:pic>
        <p:nvPicPr>
          <p:cNvPr descr="preencoded.png" id="892" name="Google Shape;892;h582754c433727a4c_0_244"/>
          <p:cNvPicPr preferRelativeResize="0"/>
          <p:nvPr/>
        </p:nvPicPr>
        <p:blipFill rotWithShape="1">
          <a:blip r:embed="rId3">
            <a:alphaModFix/>
          </a:blip>
          <a:srcRect b="-3810" l="0" r="0" t="-3810"/>
          <a:stretch/>
        </p:blipFill>
        <p:spPr>
          <a:xfrm>
            <a:off x="8572500" y="3355181"/>
            <a:ext cx="1143000" cy="1143001"/>
          </a:xfrm>
          <a:prstGeom prst="rect">
            <a:avLst/>
          </a:prstGeom>
          <a:noFill/>
          <a:ln>
            <a:noFill/>
          </a:ln>
        </p:spPr>
      </p:pic>
      <p:sp>
        <p:nvSpPr>
          <p:cNvPr id="893" name="Google Shape;893;h582754c433727a4c_0_244"/>
          <p:cNvSpPr/>
          <p:nvPr/>
        </p:nvSpPr>
        <p:spPr>
          <a:xfrm>
            <a:off x="1371600" y="4879181"/>
            <a:ext cx="15544800" cy="952500"/>
          </a:xfrm>
          <a:prstGeom prst="rect">
            <a:avLst/>
          </a:prstGeom>
          <a:noFill/>
          <a:ln>
            <a:noFill/>
          </a:ln>
        </p:spPr>
        <p:txBody>
          <a:bodyPr anchorCtr="0" anchor="t" bIns="25400" lIns="25400" spcFirstLastPara="1" rIns="25400" wrap="square" tIns="25400">
            <a:noAutofit/>
          </a:bodyPr>
          <a:lstStyle/>
          <a:p>
            <a:pPr indent="0" lvl="0" marL="0" marR="0" rtl="0" algn="ctr">
              <a:lnSpc>
                <a:spcPct val="82051"/>
              </a:lnSpc>
              <a:spcBef>
                <a:spcPts val="0"/>
              </a:spcBef>
              <a:spcAft>
                <a:spcPts val="0"/>
              </a:spcAft>
              <a:buClr>
                <a:srgbClr val="FFFFFF"/>
              </a:buClr>
              <a:buSzPts val="7200"/>
              <a:buFont typeface="Montserrat"/>
              <a:buNone/>
            </a:pPr>
            <a:r>
              <a:rPr b="1" i="0" lang="en-US" sz="7200" u="none" cap="none" strike="noStrike">
                <a:solidFill>
                  <a:srgbClr val="FFFFFF"/>
                </a:solidFill>
                <a:latin typeface="Montserrat"/>
                <a:ea typeface="Montserrat"/>
                <a:cs typeface="Montserrat"/>
                <a:sym typeface="Montserrat"/>
              </a:rPr>
              <a:t>Metrics and retrospective</a:t>
            </a:r>
            <a:endParaRPr b="0" i="0" sz="7200" u="none" cap="none" strike="noStrike">
              <a:solidFill>
                <a:schemeClr val="dk1"/>
              </a:solidFill>
              <a:latin typeface="Calibri"/>
              <a:ea typeface="Calibri"/>
              <a:cs typeface="Calibri"/>
              <a:sym typeface="Calibri"/>
            </a:endParaRPr>
          </a:p>
        </p:txBody>
      </p:sp>
      <p:sp>
        <p:nvSpPr>
          <p:cNvPr id="894" name="Google Shape;894;h582754c433727a4c_0_244"/>
          <p:cNvSpPr/>
          <p:nvPr/>
        </p:nvSpPr>
        <p:spPr>
          <a:xfrm>
            <a:off x="8572500" y="6174581"/>
            <a:ext cx="1143000" cy="28500"/>
          </a:xfrm>
          <a:prstGeom prst="rect">
            <a:avLst/>
          </a:prstGeom>
          <a:solidFill>
            <a:srgbClr val="7DB7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h582754c433727a4c_0_244"/>
          <p:cNvSpPr/>
          <p:nvPr/>
        </p:nvSpPr>
        <p:spPr>
          <a:xfrm>
            <a:off x="2286000" y="6584156"/>
            <a:ext cx="13716000" cy="14631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E5E5E5"/>
              </a:buClr>
              <a:buSzPts val="2250"/>
              <a:buFont typeface="Montserrat"/>
              <a:buNone/>
            </a:pPr>
            <a:r>
              <a:rPr b="1" i="0" lang="en-US" sz="1800" u="none" cap="none" strike="noStrike">
                <a:solidFill>
                  <a:srgbClr val="7DB7F6"/>
                </a:solidFill>
                <a:latin typeface="Montserrat"/>
                <a:ea typeface="Montserrat"/>
                <a:cs typeface="Montserrat"/>
                <a:sym typeface="Montserrat"/>
              </a:rPr>
              <a:t>PART 3 OF 4</a:t>
            </a:r>
            <a:endParaRPr b="0" i="0" sz="2250" u="none" cap="none" strike="noStrike">
              <a:solidFill>
                <a:schemeClr val="dk1"/>
              </a:solidFill>
              <a:latin typeface="Calibri"/>
              <a:ea typeface="Calibri"/>
              <a:cs typeface="Calibri"/>
              <a:sym typeface="Calibri"/>
            </a:endParaRPr>
          </a:p>
          <a:p>
            <a:pPr indent="0" lvl="0" marL="0" marR="0" rtl="0" algn="ctr">
              <a:lnSpc>
                <a:spcPct val="100000"/>
              </a:lnSpc>
              <a:spcBef>
                <a:spcPts val="1000"/>
              </a:spcBef>
              <a:spcAft>
                <a:spcPts val="0"/>
              </a:spcAft>
              <a:buClr>
                <a:srgbClr val="E5E5E5"/>
              </a:buClr>
              <a:buSzPts val="2250"/>
              <a:buFont typeface="Montserrat"/>
              <a:buNone/>
            </a:pPr>
            <a:r>
              <a:rPr b="0" i="0" lang="en-US" sz="2250" u="none" cap="none" strike="noStrike">
                <a:solidFill>
                  <a:srgbClr val="E5E5E5"/>
                </a:solidFill>
                <a:latin typeface="Montserrat"/>
                <a:ea typeface="Montserrat"/>
                <a:cs typeface="Montserrat"/>
                <a:sym typeface="Montserrat"/>
              </a:rPr>
              <a:t>12 Velocity, burndown, completed / committed ratio · 13 Retrospective</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9" name="Shape 899"/>
        <p:cNvGrpSpPr/>
        <p:nvPr/>
      </p:nvGrpSpPr>
      <p:grpSpPr>
        <a:xfrm>
          <a:off x="0" y="0"/>
          <a:ext cx="0" cy="0"/>
          <a:chOff x="0" y="0"/>
          <a:chExt cx="0" cy="0"/>
        </a:xfrm>
      </p:grpSpPr>
      <p:sp>
        <p:nvSpPr>
          <p:cNvPr id="900" name="Google Shape;900;p23"/>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23"/>
          <p:cNvSpPr/>
          <p:nvPr/>
        </p:nvSpPr>
        <p:spPr>
          <a:xfrm>
            <a:off x="1047750" y="857250"/>
            <a:ext cx="14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12 · METRICS</a:t>
            </a:r>
            <a:endParaRPr b="0" i="0" sz="1800" u="none" cap="none" strike="noStrike">
              <a:solidFill>
                <a:schemeClr val="dk1"/>
              </a:solidFill>
              <a:latin typeface="Montserrat"/>
              <a:ea typeface="Montserrat"/>
              <a:cs typeface="Montserrat"/>
              <a:sym typeface="Montserrat"/>
            </a:endParaRPr>
          </a:p>
        </p:txBody>
      </p:sp>
      <p:sp>
        <p:nvSpPr>
          <p:cNvPr id="902" name="Google Shape;902;p23"/>
          <p:cNvSpPr/>
          <p:nvPr/>
        </p:nvSpPr>
        <p:spPr>
          <a:xfrm>
            <a:off x="1047750" y="1266825"/>
            <a:ext cx="140000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Sprint 1 metrics</a:t>
            </a:r>
            <a:endParaRPr b="0" i="0" sz="4200" u="none" cap="none" strike="noStrike">
              <a:solidFill>
                <a:schemeClr val="dk1"/>
              </a:solidFill>
              <a:latin typeface="Montserrat"/>
              <a:ea typeface="Montserrat"/>
              <a:cs typeface="Montserrat"/>
              <a:sym typeface="Montserrat"/>
            </a:endParaRPr>
          </a:p>
        </p:txBody>
      </p:sp>
      <p:pic>
        <p:nvPicPr>
          <p:cNvPr descr="preencoded.png" id="903" name="Google Shape;903;p23"/>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sp>
        <p:nvSpPr>
          <p:cNvPr id="904" name="Google Shape;904;p23"/>
          <p:cNvSpPr/>
          <p:nvPr/>
        </p:nvSpPr>
        <p:spPr>
          <a:xfrm>
            <a:off x="1051560" y="2496312"/>
            <a:ext cx="5486400" cy="2240400"/>
          </a:xfrm>
          <a:prstGeom prst="roundRect">
            <a:avLst>
              <a:gd fmla="val 4000" name="adj"/>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05" name="Google Shape;905;p23"/>
          <p:cNvSpPr txBox="1"/>
          <p:nvPr/>
        </p:nvSpPr>
        <p:spPr>
          <a:xfrm>
            <a:off x="1335024" y="2697480"/>
            <a:ext cx="4937700" cy="28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75" u="none" cap="none" strike="noStrike">
                <a:solidFill>
                  <a:srgbClr val="111111"/>
                </a:solidFill>
                <a:latin typeface="Montserrat"/>
                <a:ea typeface="Montserrat"/>
                <a:cs typeface="Montserrat"/>
                <a:sym typeface="Montserrat"/>
              </a:rPr>
              <a:t>Team velocity</a:t>
            </a:r>
            <a:endParaRPr/>
          </a:p>
        </p:txBody>
      </p:sp>
      <p:sp>
        <p:nvSpPr>
          <p:cNvPr id="906" name="Google Shape;906;p23"/>
          <p:cNvSpPr txBox="1"/>
          <p:nvPr/>
        </p:nvSpPr>
        <p:spPr>
          <a:xfrm>
            <a:off x="1335024" y="3108960"/>
            <a:ext cx="49377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5400" u="none" cap="none" strike="noStrike">
                <a:solidFill>
                  <a:srgbClr val="1E6FBF"/>
                </a:solidFill>
                <a:latin typeface="Montserrat"/>
                <a:ea typeface="Montserrat"/>
                <a:cs typeface="Montserrat"/>
                <a:sym typeface="Montserrat"/>
              </a:rPr>
              <a:t>65</a:t>
            </a:r>
            <a:r>
              <a:rPr b="1" i="0" lang="en-US" sz="1875" u="none" cap="none" strike="noStrike">
                <a:solidFill>
                  <a:srgbClr val="1E6FBF"/>
                </a:solidFill>
                <a:latin typeface="Montserrat"/>
                <a:ea typeface="Montserrat"/>
                <a:cs typeface="Montserrat"/>
                <a:sym typeface="Montserrat"/>
              </a:rPr>
              <a:t> story points</a:t>
            </a:r>
            <a:endParaRPr/>
          </a:p>
        </p:txBody>
      </p:sp>
      <p:sp>
        <p:nvSpPr>
          <p:cNvPr id="907" name="Google Shape;907;p23"/>
          <p:cNvSpPr txBox="1"/>
          <p:nvPr/>
        </p:nvSpPr>
        <p:spPr>
          <a:xfrm>
            <a:off x="1335024" y="4114800"/>
            <a:ext cx="49377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00" u="none" cap="none" strike="noStrike">
                <a:solidFill>
                  <a:srgbClr val="3D3D3D"/>
                </a:solidFill>
                <a:latin typeface="Montserrat"/>
                <a:ea typeface="Montserrat"/>
                <a:cs typeface="Montserrat"/>
                <a:sym typeface="Montserrat"/>
              </a:rPr>
              <a:t>Completed in Sprint 1 (story points, not issues)</a:t>
            </a:r>
            <a:endParaRPr/>
          </a:p>
        </p:txBody>
      </p:sp>
      <p:pic>
        <p:nvPicPr>
          <p:cNvPr id="908" name="Google Shape;908;p23"/>
          <p:cNvPicPr preferRelativeResize="0"/>
          <p:nvPr/>
        </p:nvPicPr>
        <p:blipFill rotWithShape="1">
          <a:blip r:embed="rId4">
            <a:alphaModFix/>
          </a:blip>
          <a:srcRect b="0" l="0" r="0" t="0"/>
          <a:stretch/>
        </p:blipFill>
        <p:spPr>
          <a:xfrm>
            <a:off x="1051560" y="5120640"/>
            <a:ext cx="5486400" cy="4206300"/>
          </a:xfrm>
          <a:prstGeom prst="rect">
            <a:avLst/>
          </a:prstGeom>
          <a:noFill/>
          <a:ln>
            <a:noFill/>
          </a:ln>
        </p:spPr>
      </p:pic>
      <p:pic>
        <p:nvPicPr>
          <p:cNvPr id="909" name="Google Shape;909;p23"/>
          <p:cNvPicPr preferRelativeResize="0"/>
          <p:nvPr/>
        </p:nvPicPr>
        <p:blipFill rotWithShape="1">
          <a:blip r:embed="rId5">
            <a:alphaModFix/>
          </a:blip>
          <a:srcRect b="0" l="0" r="0" t="0"/>
          <a:stretch/>
        </p:blipFill>
        <p:spPr>
          <a:xfrm>
            <a:off x="7056120" y="2648712"/>
            <a:ext cx="10341900" cy="69036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3" name="Shape 913"/>
        <p:cNvGrpSpPr/>
        <p:nvPr/>
      </p:nvGrpSpPr>
      <p:grpSpPr>
        <a:xfrm>
          <a:off x="0" y="0"/>
          <a:ext cx="0" cy="0"/>
          <a:chOff x="0" y="0"/>
          <a:chExt cx="0" cy="0"/>
        </a:xfrm>
      </p:grpSpPr>
      <p:sp>
        <p:nvSpPr>
          <p:cNvPr id="914" name="Google Shape;914;h582754c433727a4c_0_187"/>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5" name="Google Shape;915;h582754c433727a4c_0_187"/>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12 · METRICS</a:t>
            </a:r>
            <a:endParaRPr b="0" i="0" sz="1800" u="none" cap="none" strike="noStrike">
              <a:solidFill>
                <a:schemeClr val="dk1"/>
              </a:solidFill>
              <a:latin typeface="Montserrat"/>
              <a:ea typeface="Montserrat"/>
              <a:cs typeface="Montserrat"/>
              <a:sym typeface="Montserrat"/>
            </a:endParaRPr>
          </a:p>
        </p:txBody>
      </p:sp>
      <p:sp>
        <p:nvSpPr>
          <p:cNvPr id="916" name="Google Shape;916;h582754c433727a4c_0_187"/>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Completed / committed ratio</a:t>
            </a:r>
            <a:endParaRPr b="1" sz="4200">
              <a:solidFill>
                <a:srgbClr val="111111"/>
              </a:solidFill>
              <a:latin typeface="Montserrat"/>
              <a:ea typeface="Montserrat"/>
              <a:cs typeface="Montserrat"/>
              <a:sym typeface="Montserrat"/>
            </a:endParaRPr>
          </a:p>
        </p:txBody>
      </p:sp>
      <p:pic>
        <p:nvPicPr>
          <p:cNvPr descr="preencoded.png" id="917" name="Google Shape;917;h582754c433727a4c_0_187"/>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sp>
        <p:nvSpPr>
          <p:cNvPr id="918" name="Google Shape;918;h582754c433727a4c_0_187"/>
          <p:cNvSpPr/>
          <p:nvPr/>
        </p:nvSpPr>
        <p:spPr>
          <a:xfrm>
            <a:off x="1051560" y="2496312"/>
            <a:ext cx="6035100" cy="6903600"/>
          </a:xfrm>
          <a:prstGeom prst="roundRect">
            <a:avLst>
              <a:gd fmla="val 4000" name="adj"/>
            </a:avLst>
          </a:prstGeom>
          <a:solidFill>
            <a:srgbClr val="F7F9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19" name="Google Shape;919;h582754c433727a4c_0_187"/>
          <p:cNvSpPr txBox="1"/>
          <p:nvPr/>
        </p:nvSpPr>
        <p:spPr>
          <a:xfrm>
            <a:off x="1371600" y="2788920"/>
            <a:ext cx="5394900" cy="28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75" u="none" cap="none" strike="noStrike">
                <a:solidFill>
                  <a:srgbClr val="111111"/>
                </a:solidFill>
                <a:latin typeface="Montserrat"/>
                <a:ea typeface="Montserrat"/>
                <a:cs typeface="Montserrat"/>
                <a:sym typeface="Montserrat"/>
              </a:rPr>
              <a:t>Sprint 1 ratio</a:t>
            </a:r>
            <a:endParaRPr/>
          </a:p>
        </p:txBody>
      </p:sp>
      <p:sp>
        <p:nvSpPr>
          <p:cNvPr id="920" name="Google Shape;920;h582754c433727a4c_0_187"/>
          <p:cNvSpPr txBox="1"/>
          <p:nvPr/>
        </p:nvSpPr>
        <p:spPr>
          <a:xfrm>
            <a:off x="1371600" y="3291840"/>
            <a:ext cx="5394900" cy="123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8000" u="none" cap="none" strike="noStrike">
                <a:solidFill>
                  <a:srgbClr val="1E6FBF"/>
                </a:solidFill>
                <a:latin typeface="Montserrat"/>
                <a:ea typeface="Montserrat"/>
                <a:cs typeface="Montserrat"/>
                <a:sym typeface="Montserrat"/>
              </a:rPr>
              <a:t>78.3%</a:t>
            </a:r>
            <a:endParaRPr/>
          </a:p>
        </p:txBody>
      </p:sp>
      <p:sp>
        <p:nvSpPr>
          <p:cNvPr id="921" name="Google Shape;921;h582754c433727a4c_0_187"/>
          <p:cNvSpPr txBox="1"/>
          <p:nvPr/>
        </p:nvSpPr>
        <p:spPr>
          <a:xfrm>
            <a:off x="1371600" y="4754880"/>
            <a:ext cx="53949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11111"/>
                </a:solidFill>
                <a:latin typeface="Montserrat"/>
                <a:ea typeface="Montserrat"/>
                <a:cs typeface="Montserrat"/>
                <a:sym typeface="Montserrat"/>
              </a:rPr>
              <a:t>65 / 83 story points</a:t>
            </a:r>
            <a:endParaRPr/>
          </a:p>
        </p:txBody>
      </p:sp>
      <p:sp>
        <p:nvSpPr>
          <p:cNvPr id="922" name="Google Shape;922;h582754c433727a4c_0_187"/>
          <p:cNvSpPr txBox="1"/>
          <p:nvPr/>
        </p:nvSpPr>
        <p:spPr>
          <a:xfrm>
            <a:off x="1371600" y="5486400"/>
            <a:ext cx="5394900" cy="101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3D3D3D"/>
                </a:solidFill>
                <a:latin typeface="Montserrat"/>
                <a:ea typeface="Montserrat"/>
                <a:cs typeface="Montserrat"/>
                <a:sym typeface="Montserrat"/>
              </a:rPr>
              <a:t>Story points completed divided by story points committed: 75 at the start plus 8 for US_06, added on 7 Oct. A story counts only when it is finished.</a:t>
            </a:r>
            <a:endParaRPr/>
          </a:p>
          <a:p>
            <a:pPr indent="0" lvl="0" marL="0" marR="0" rtl="0" algn="l">
              <a:lnSpc>
                <a:spcPct val="100000"/>
              </a:lnSpc>
              <a:spcBef>
                <a:spcPts val="1200"/>
              </a:spcBef>
              <a:spcAft>
                <a:spcPts val="0"/>
              </a:spcAft>
              <a:buNone/>
            </a:pPr>
            <a:r>
              <a:rPr b="1" i="0" lang="en-US" sz="1400" u="none" cap="none" strike="noStrike">
                <a:solidFill>
                  <a:srgbClr val="111111"/>
                </a:solidFill>
                <a:latin typeface="Montserrat"/>
                <a:ea typeface="Montserrat"/>
                <a:cs typeface="Montserrat"/>
                <a:sym typeface="Montserrat"/>
              </a:rPr>
              <a:t>Without the added story: </a:t>
            </a:r>
            <a:r>
              <a:rPr b="0" i="0" lang="en-US" sz="1400" u="none" cap="none" strike="noStrike">
                <a:solidFill>
                  <a:srgbClr val="3D3D3D"/>
                </a:solidFill>
                <a:latin typeface="Montserrat"/>
                <a:ea typeface="Montserrat"/>
                <a:cs typeface="Montserrat"/>
                <a:sym typeface="Montserrat"/>
              </a:rPr>
              <a:t>57 / 75 = 76.0%</a:t>
            </a:r>
            <a:endParaRPr/>
          </a:p>
        </p:txBody>
      </p:sp>
      <p:sp>
        <p:nvSpPr>
          <p:cNvPr id="923" name="Google Shape;923;h582754c433727a4c_0_187"/>
          <p:cNvSpPr txBox="1"/>
          <p:nvPr/>
        </p:nvSpPr>
        <p:spPr>
          <a:xfrm>
            <a:off x="1371600" y="8732520"/>
            <a:ext cx="53949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200" u="none" cap="none" strike="noStrike">
                <a:solidFill>
                  <a:srgbClr val="7A7A7A"/>
                </a:solidFill>
                <a:latin typeface="Montserrat"/>
                <a:ea typeface="Montserrat"/>
                <a:cs typeface="Montserrat"/>
                <a:sym typeface="Montserrat"/>
              </a:rPr>
              <a:t>Final for Sprint 1 (22 Sep to </a:t>
            </a:r>
            <a:r>
              <a:rPr lang="en-US" sz="1200">
                <a:solidFill>
                  <a:srgbClr val="7A7A7A"/>
                </a:solidFill>
                <a:latin typeface="Montserrat"/>
                <a:ea typeface="Montserrat"/>
                <a:cs typeface="Montserrat"/>
                <a:sym typeface="Montserrat"/>
              </a:rPr>
              <a:t>19</a:t>
            </a:r>
            <a:r>
              <a:rPr b="0" i="0" lang="en-US" sz="1200" u="none" cap="none" strike="noStrike">
                <a:solidFill>
                  <a:srgbClr val="7A7A7A"/>
                </a:solidFill>
                <a:latin typeface="Montserrat"/>
                <a:ea typeface="Montserrat"/>
                <a:cs typeface="Montserrat"/>
                <a:sym typeface="Montserrat"/>
              </a:rPr>
              <a:t> Oct).</a:t>
            </a:r>
            <a:endParaRPr/>
          </a:p>
        </p:txBody>
      </p:sp>
      <p:pic>
        <p:nvPicPr>
          <p:cNvPr id="924" name="Google Shape;924;h582754c433727a4c_0_187"/>
          <p:cNvPicPr preferRelativeResize="0"/>
          <p:nvPr/>
        </p:nvPicPr>
        <p:blipFill rotWithShape="1">
          <a:blip r:embed="rId4">
            <a:alphaModFix/>
          </a:blip>
          <a:srcRect b="0" l="0" r="0" t="0"/>
          <a:stretch/>
        </p:blipFill>
        <p:spPr>
          <a:xfrm>
            <a:off x="7543800" y="2496312"/>
            <a:ext cx="9701700" cy="69036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9" name="Shape 929"/>
        <p:cNvGrpSpPr/>
        <p:nvPr/>
      </p:nvGrpSpPr>
      <p:grpSpPr>
        <a:xfrm>
          <a:off x="0" y="0"/>
          <a:ext cx="0" cy="0"/>
          <a:chOff x="0" y="0"/>
          <a:chExt cx="0" cy="0"/>
        </a:xfrm>
      </p:grpSpPr>
      <p:sp>
        <p:nvSpPr>
          <p:cNvPr id="930" name="Google Shape;930;h582754c433727a4c_0_10"/>
          <p:cNvSpPr/>
          <p:nvPr/>
        </p:nvSpPr>
        <p:spPr>
          <a:xfrm>
            <a:off x="952500" y="2047875"/>
            <a:ext cx="163830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h582754c433727a4c_0_10"/>
          <p:cNvSpPr/>
          <p:nvPr/>
        </p:nvSpPr>
        <p:spPr>
          <a:xfrm>
            <a:off x="952500" y="762000"/>
            <a:ext cx="90000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13 · RETROSPECTIVE</a:t>
            </a:r>
            <a:endParaRPr b="0" i="0" sz="1800" u="none" cap="none" strike="noStrike">
              <a:solidFill>
                <a:schemeClr val="dk1"/>
              </a:solidFill>
              <a:latin typeface="Calibri"/>
              <a:ea typeface="Calibri"/>
              <a:cs typeface="Calibri"/>
              <a:sym typeface="Calibri"/>
            </a:endParaRPr>
          </a:p>
        </p:txBody>
      </p:sp>
      <p:sp>
        <p:nvSpPr>
          <p:cNvPr id="932" name="Google Shape;932;h582754c433727a4c_0_10"/>
          <p:cNvSpPr/>
          <p:nvPr/>
        </p:nvSpPr>
        <p:spPr>
          <a:xfrm>
            <a:off x="952500" y="1171575"/>
            <a:ext cx="40278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Sprint 1 retro</a:t>
            </a:r>
            <a:endParaRPr b="0" i="0" sz="4200" u="none" cap="none" strike="noStrike">
              <a:solidFill>
                <a:schemeClr val="dk1"/>
              </a:solidFill>
              <a:latin typeface="Calibri"/>
              <a:ea typeface="Calibri"/>
              <a:cs typeface="Calibri"/>
              <a:sym typeface="Calibri"/>
            </a:endParaRPr>
          </a:p>
        </p:txBody>
      </p:sp>
      <p:pic>
        <p:nvPicPr>
          <p:cNvPr descr="preencoded.png" id="933" name="Google Shape;933;h582754c433727a4c_0_10"/>
          <p:cNvPicPr preferRelativeResize="0"/>
          <p:nvPr/>
        </p:nvPicPr>
        <p:blipFill rotWithShape="1">
          <a:blip r:embed="rId3">
            <a:alphaModFix/>
          </a:blip>
          <a:srcRect b="-3810" l="0" r="0" t="-3810"/>
          <a:stretch/>
        </p:blipFill>
        <p:spPr>
          <a:xfrm>
            <a:off x="16725900" y="762000"/>
            <a:ext cx="609600" cy="609600"/>
          </a:xfrm>
          <a:prstGeom prst="rect">
            <a:avLst/>
          </a:prstGeom>
          <a:noFill/>
          <a:ln>
            <a:noFill/>
          </a:ln>
        </p:spPr>
      </p:pic>
      <p:sp>
        <p:nvSpPr>
          <p:cNvPr id="934" name="Google Shape;934;h582754c433727a4c_0_10"/>
          <p:cNvSpPr/>
          <p:nvPr/>
        </p:nvSpPr>
        <p:spPr>
          <a:xfrm>
            <a:off x="952500" y="2047875"/>
            <a:ext cx="163830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5" name="Google Shape;935;h582754c433727a4c_0_10"/>
          <p:cNvSpPr/>
          <p:nvPr/>
        </p:nvSpPr>
        <p:spPr>
          <a:xfrm>
            <a:off x="952500" y="2324100"/>
            <a:ext cx="5124900" cy="7200900"/>
          </a:xfrm>
          <a:prstGeom prst="roundRect">
            <a:avLst>
              <a:gd fmla="val 2974"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6" name="Google Shape;936;h582754c433727a4c_0_10"/>
          <p:cNvSpPr/>
          <p:nvPr/>
        </p:nvSpPr>
        <p:spPr>
          <a:xfrm>
            <a:off x="1219200" y="2590800"/>
            <a:ext cx="5050800" cy="362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100"/>
              <a:buFont typeface="Montserrat"/>
              <a:buNone/>
            </a:pPr>
            <a:r>
              <a:rPr b="1" i="0" lang="en-US" spc="0" sz="2100" u="none" cap="none" strike="noStrike">
                <a:solidFill>
                  <a:srgbClr val="111111"/>
                </a:solidFill>
                <a:latin typeface="Montserrat"/>
                <a:ea typeface="Montserrat"/>
                <a:cs typeface="Montserrat"/>
                <a:sym typeface="Montserrat"/>
              </a:rPr>
              <a:t>What went well</a:t>
            </a:r>
            <a:endParaRPr b="0" i="0" spc="0" sz="2100" u="none" cap="none" strike="noStrike">
              <a:solidFill>
                <a:srgbClr val="000000"/>
              </a:solidFill>
              <a:latin typeface="Calibri"/>
              <a:ea typeface="Calibri"/>
              <a:cs typeface="Calibri"/>
              <a:sym typeface="Calibri"/>
            </a:endParaRPr>
          </a:p>
        </p:txBody>
      </p:sp>
      <p:sp>
        <p:nvSpPr>
          <p:cNvPr id="937" name="Google Shape;937;h582754c433727a4c_0_10"/>
          <p:cNvSpPr/>
          <p:nvPr/>
        </p:nvSpPr>
        <p:spPr>
          <a:xfrm>
            <a:off x="1219200" y="3048000"/>
            <a:ext cx="4729500" cy="728700"/>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000000"/>
              </a:buClr>
              <a:buSzPts val="1100"/>
              <a:buFont typeface="Arial"/>
              <a:buNone/>
            </a:pPr>
            <a:r>
              <a:rPr b="0" i="0" lang="en-US" spc="0" sz="1875" u="none" cap="none" strike="noStrike">
                <a:solidFill>
                  <a:srgbClr val="3D3D3D"/>
                </a:solidFill>
                <a:latin typeface="Montserrat"/>
                <a:ea typeface="Montserrat"/>
                <a:cs typeface="Montserrat"/>
                <a:sym typeface="Montserrat"/>
              </a:rPr>
              <a:t>• </a:t>
            </a:r>
            <a:r>
              <a:rPr lang="en-US" sz="1875">
                <a:solidFill>
                  <a:srgbClr val="3D3D3D"/>
                </a:solidFill>
                <a:latin typeface="Montserrat"/>
                <a:ea typeface="Montserrat"/>
                <a:cs typeface="Montserrat"/>
                <a:sym typeface="Montserrat"/>
              </a:rPr>
              <a:t>Peer reviews caught real problems before merging.</a:t>
            </a:r>
            <a:endParaRPr b="0" i="0" spc="0" sz="1875" u="none" cap="none" strike="noStrike">
              <a:solidFill>
                <a:srgbClr val="3D3D3D"/>
              </a:solidFill>
              <a:latin typeface="Montserrat"/>
              <a:ea typeface="Montserrat"/>
              <a:cs typeface="Montserrat"/>
              <a:sym typeface="Montserrat"/>
            </a:endParaRPr>
          </a:p>
          <a:p>
            <a:pPr indent="0" lvl="0" marL="0" marR="0" rtl="0" algn="l">
              <a:lnSpc>
                <a:spcPct val="118852"/>
              </a:lnSpc>
              <a:spcBef>
                <a:spcPts val="0"/>
              </a:spcBef>
              <a:spcAft>
                <a:spcPts val="0"/>
              </a:spcAft>
              <a:buClr>
                <a:srgbClr val="000000"/>
              </a:buClr>
              <a:buSzPts val="1100"/>
              <a:buFont typeface="Arial"/>
              <a:buNone/>
            </a:pPr>
            <a:r>
              <a:rPr b="0" i="0" lang="en-US" spc="0" sz="1875" u="none" cap="none" strike="noStrike">
                <a:solidFill>
                  <a:srgbClr val="3D3D3D"/>
                </a:solidFill>
                <a:latin typeface="Montserrat"/>
                <a:ea typeface="Montserrat"/>
                <a:cs typeface="Montserrat"/>
                <a:sym typeface="Montserrat"/>
              </a:rPr>
              <a:t>• </a:t>
            </a:r>
            <a:r>
              <a:rPr lang="en-US" sz="1875">
                <a:solidFill>
                  <a:srgbClr val="3D3D3D"/>
                </a:solidFill>
                <a:latin typeface="Montserrat"/>
                <a:ea typeface="Montserrat"/>
                <a:cs typeface="Montserrat"/>
                <a:sym typeface="Montserrat"/>
              </a:rPr>
              <a:t>Everyone joined the Sunday meetings and stayed engaged.</a:t>
            </a:r>
            <a:endParaRPr b="0" i="0" spc="0" sz="1875" u="none" cap="none" strike="noStrike">
              <a:solidFill>
                <a:srgbClr val="3D3D3D"/>
              </a:solidFill>
              <a:latin typeface="Montserrat"/>
              <a:ea typeface="Montserrat"/>
              <a:cs typeface="Montserrat"/>
              <a:sym typeface="Montserrat"/>
            </a:endParaRPr>
          </a:p>
          <a:p>
            <a:pPr indent="0" lvl="0" marL="0" marR="0" rtl="0" algn="l">
              <a:lnSpc>
                <a:spcPct val="118852"/>
              </a:lnSpc>
              <a:spcBef>
                <a:spcPts val="0"/>
              </a:spcBef>
              <a:spcAft>
                <a:spcPts val="0"/>
              </a:spcAft>
              <a:buClr>
                <a:srgbClr val="000000"/>
              </a:buClr>
              <a:buSzPts val="1100"/>
              <a:buFont typeface="Arial"/>
              <a:buNone/>
            </a:pPr>
            <a:r>
              <a:rPr b="0" i="0" lang="en-US" spc="0" sz="1875" u="none" cap="none" strike="noStrike">
                <a:solidFill>
                  <a:srgbClr val="3D3D3D"/>
                </a:solidFill>
                <a:latin typeface="Montserrat"/>
                <a:ea typeface="Montserrat"/>
                <a:cs typeface="Montserrat"/>
                <a:sym typeface="Montserrat"/>
              </a:rPr>
              <a:t>• </a:t>
            </a:r>
            <a:r>
              <a:rPr lang="en-US" sz="1875">
                <a:solidFill>
                  <a:srgbClr val="3D3D3D"/>
                </a:solidFill>
                <a:latin typeface="Montserrat"/>
                <a:ea typeface="Montserrat"/>
                <a:cs typeface="Montserrat"/>
                <a:sym typeface="Montserrat"/>
              </a:rPr>
              <a:t>We finished the data pipeline, the training code and all nine ablation models.</a:t>
            </a:r>
            <a:endParaRPr b="0" i="0" spc="0" sz="1875" u="none" cap="none" strike="noStrike">
              <a:solidFill>
                <a:srgbClr val="3D3D3D"/>
              </a:solidFill>
              <a:latin typeface="Montserrat"/>
              <a:ea typeface="Montserrat"/>
              <a:cs typeface="Montserrat"/>
              <a:sym typeface="Montserrat"/>
            </a:endParaRPr>
          </a:p>
          <a:p>
            <a:pPr indent="0" lvl="0" marL="0" marR="0" rtl="0" algn="l">
              <a:lnSpc>
                <a:spcPct val="118852"/>
              </a:lnSpc>
              <a:spcBef>
                <a:spcPts val="0"/>
              </a:spcBef>
              <a:spcAft>
                <a:spcPts val="0"/>
              </a:spcAft>
              <a:buClr>
                <a:srgbClr val="000000"/>
              </a:buClr>
              <a:buSzPts val="1100"/>
              <a:buFont typeface="Arial"/>
              <a:buNone/>
            </a:pPr>
            <a:r>
              <a:t/>
            </a:r>
            <a:endParaRPr b="0" i="0" spc="0" sz="1875" u="none" cap="none" strike="noStrike">
              <a:solidFill>
                <a:srgbClr val="3D3D3D"/>
              </a:solidFill>
              <a:latin typeface="Montserrat"/>
              <a:ea typeface="Montserrat"/>
              <a:cs typeface="Montserrat"/>
              <a:sym typeface="Montserrat"/>
            </a:endParaRPr>
          </a:p>
        </p:txBody>
      </p:sp>
      <p:sp>
        <p:nvSpPr>
          <p:cNvPr id="938" name="Google Shape;938;h582754c433727a4c_0_10"/>
          <p:cNvSpPr/>
          <p:nvPr/>
        </p:nvSpPr>
        <p:spPr>
          <a:xfrm>
            <a:off x="6325195" y="2324100"/>
            <a:ext cx="5124900" cy="7200900"/>
          </a:xfrm>
          <a:prstGeom prst="roundRect">
            <a:avLst>
              <a:gd fmla="val 2974" name="adj"/>
            </a:avLst>
          </a:prstGeom>
          <a:noFill/>
          <a:ln cap="flat" cmpd="sng" w="9525">
            <a:solidFill>
              <a:srgbClr val="C7D2D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9" name="Google Shape;939;h582754c433727a4c_0_10"/>
          <p:cNvSpPr/>
          <p:nvPr/>
        </p:nvSpPr>
        <p:spPr>
          <a:xfrm>
            <a:off x="6601420" y="2600325"/>
            <a:ext cx="5029800" cy="362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100"/>
              <a:buFont typeface="Montserrat"/>
              <a:buNone/>
            </a:pPr>
            <a:r>
              <a:rPr b="1" i="0" lang="en-US" spc="0" sz="2100" u="none" cap="none" strike="noStrike">
                <a:solidFill>
                  <a:srgbClr val="111111"/>
                </a:solidFill>
                <a:latin typeface="Montserrat"/>
                <a:ea typeface="Montserrat"/>
                <a:cs typeface="Montserrat"/>
                <a:sym typeface="Montserrat"/>
              </a:rPr>
              <a:t>What can improve</a:t>
            </a:r>
            <a:endParaRPr b="0" i="0" spc="0" sz="2100" u="none" cap="none" strike="noStrike">
              <a:solidFill>
                <a:srgbClr val="000000"/>
              </a:solidFill>
              <a:latin typeface="Calibri"/>
              <a:ea typeface="Calibri"/>
              <a:cs typeface="Calibri"/>
              <a:sym typeface="Calibri"/>
            </a:endParaRPr>
          </a:p>
        </p:txBody>
      </p:sp>
      <p:sp>
        <p:nvSpPr>
          <p:cNvPr id="940" name="Google Shape;940;h582754c433727a4c_0_10"/>
          <p:cNvSpPr/>
          <p:nvPr/>
        </p:nvSpPr>
        <p:spPr>
          <a:xfrm>
            <a:off x="6601425" y="3057525"/>
            <a:ext cx="4709700" cy="3789600"/>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000000"/>
              </a:buClr>
              <a:buSzPts val="1100"/>
              <a:buFont typeface="Arial"/>
              <a:buNone/>
            </a:pPr>
            <a:r>
              <a:rPr i="0" lang="en-US" spc="0" sz="1850" u="none" cap="none" strike="noStrike">
                <a:solidFill>
                  <a:srgbClr val="3D3D3D"/>
                </a:solidFill>
                <a:latin typeface="Montserrat"/>
                <a:ea typeface="Montserrat"/>
                <a:cs typeface="Montserrat"/>
                <a:sym typeface="Montserrat"/>
              </a:rPr>
              <a:t>•</a:t>
            </a:r>
            <a:r>
              <a:rPr i="0" lang="en-US" spc="0" sz="1850" u="none" cap="none" strike="noStrike">
                <a:solidFill>
                  <a:srgbClr val="3D3D3D"/>
                </a:solidFill>
                <a:latin typeface="Montserrat"/>
                <a:ea typeface="Montserrat"/>
                <a:cs typeface="Montserrat"/>
                <a:sym typeface="Montserrat"/>
              </a:rPr>
              <a:t> </a:t>
            </a:r>
            <a:r>
              <a:rPr lang="en-US" sz="1850">
                <a:solidFill>
                  <a:srgbClr val="3D3D3D"/>
                </a:solidFill>
                <a:latin typeface="Montserrat"/>
                <a:ea typeface="Montserrat"/>
                <a:cs typeface="Montserrat"/>
                <a:sym typeface="Montserrat"/>
              </a:rPr>
              <a:t>Code went in without a pull request or a review. Some work was pushed straight to main or develop, and one PR was merged without a submitted review.</a:t>
            </a:r>
            <a:endParaRPr i="0" spc="0" sz="1850" u="none" cap="none" strike="noStrike">
              <a:solidFill>
                <a:srgbClr val="3D3D3D"/>
              </a:solidFill>
              <a:latin typeface="Montserrat"/>
              <a:ea typeface="Montserrat"/>
              <a:cs typeface="Montserrat"/>
              <a:sym typeface="Montserrat"/>
            </a:endParaRPr>
          </a:p>
          <a:p>
            <a:pPr indent="0" lvl="0" marL="0" marR="0" rtl="0" algn="l">
              <a:lnSpc>
                <a:spcPct val="118852"/>
              </a:lnSpc>
              <a:spcBef>
                <a:spcPts val="0"/>
              </a:spcBef>
              <a:spcAft>
                <a:spcPts val="0"/>
              </a:spcAft>
              <a:buNone/>
            </a:pPr>
            <a:r>
              <a:rPr lang="en-US" sz="1850">
                <a:solidFill>
                  <a:srgbClr val="3D3D3D"/>
                </a:solidFill>
                <a:latin typeface="Montserrat"/>
                <a:ea typeface="Montserrat"/>
                <a:cs typeface="Montserrat"/>
                <a:sym typeface="Montserrat"/>
              </a:rPr>
              <a:t>• Jira didn’t match the real status. Statuses were updated in bulk, so the Jira burndown was wrong and finished work still showed “To Do”.</a:t>
            </a:r>
            <a:endParaRPr i="0" spc="0" sz="1850" u="none" cap="none" strike="noStrike">
              <a:solidFill>
                <a:srgbClr val="3D3D3D"/>
              </a:solidFill>
              <a:latin typeface="Montserrat"/>
              <a:ea typeface="Montserrat"/>
              <a:cs typeface="Montserrat"/>
              <a:sym typeface="Montserrat"/>
            </a:endParaRPr>
          </a:p>
          <a:p>
            <a:pPr indent="0" lvl="0" marL="0" marR="0" rtl="0" algn="l">
              <a:lnSpc>
                <a:spcPct val="118852"/>
              </a:lnSpc>
              <a:spcBef>
                <a:spcPts val="0"/>
              </a:spcBef>
              <a:spcAft>
                <a:spcPts val="0"/>
              </a:spcAft>
              <a:buClr>
                <a:srgbClr val="3D3D3D"/>
              </a:buClr>
              <a:buSzPts val="1875"/>
              <a:buFont typeface="Montserrat"/>
              <a:buNone/>
            </a:pPr>
            <a:r>
              <a:t/>
            </a:r>
            <a:endParaRPr i="0" spc="0" sz="1850" u="none" cap="none" strike="noStrike">
              <a:solidFill>
                <a:srgbClr val="3D3D3D"/>
              </a:solidFill>
              <a:latin typeface="Montserrat"/>
              <a:ea typeface="Montserrat"/>
              <a:cs typeface="Montserrat"/>
              <a:sym typeface="Montserrat"/>
            </a:endParaRPr>
          </a:p>
        </p:txBody>
      </p:sp>
      <p:sp>
        <p:nvSpPr>
          <p:cNvPr id="941" name="Google Shape;941;h582754c433727a4c_0_10"/>
          <p:cNvSpPr/>
          <p:nvPr/>
        </p:nvSpPr>
        <p:spPr>
          <a:xfrm>
            <a:off x="11697891" y="2324100"/>
            <a:ext cx="5637600" cy="3505200"/>
          </a:xfrm>
          <a:prstGeom prst="roundRect">
            <a:avLst>
              <a:gd fmla="val 4348" name="adj"/>
            </a:avLst>
          </a:prstGeom>
          <a:solidFill>
            <a:srgbClr val="FDF4F1"/>
          </a:solidFill>
          <a:ln cap="flat" cmpd="sng" w="19050">
            <a:solidFill>
              <a:srgbClr val="B557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2" name="Google Shape;942;h582754c433727a4c_0_10"/>
          <p:cNvSpPr/>
          <p:nvPr/>
        </p:nvSpPr>
        <p:spPr>
          <a:xfrm>
            <a:off x="11974116" y="2600325"/>
            <a:ext cx="55938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9D4531"/>
              </a:buClr>
              <a:buSzPts val="1800"/>
              <a:buFont typeface="Montserrat"/>
              <a:buNone/>
            </a:pPr>
            <a:r>
              <a:rPr b="1" i="0" lang="en-US" spc="0" sz="1800" u="none" cap="none" strike="noStrike">
                <a:solidFill>
                  <a:srgbClr val="9D4531"/>
                </a:solidFill>
                <a:latin typeface="Montserrat"/>
                <a:ea typeface="Montserrat"/>
                <a:cs typeface="Montserrat"/>
                <a:sym typeface="Montserrat"/>
              </a:rPr>
              <a:t>ACTION 1 → SPRINT 2 </a:t>
            </a:r>
            <a:endParaRPr b="0" i="0" spc="0" sz="1800" u="none" cap="none" strike="noStrike">
              <a:solidFill>
                <a:srgbClr val="000000"/>
              </a:solidFill>
              <a:latin typeface="Calibri"/>
              <a:ea typeface="Calibri"/>
              <a:cs typeface="Calibri"/>
              <a:sym typeface="Calibri"/>
            </a:endParaRPr>
          </a:p>
        </p:txBody>
      </p:sp>
      <p:sp>
        <p:nvSpPr>
          <p:cNvPr id="943" name="Google Shape;943;h582754c433727a4c_0_10"/>
          <p:cNvSpPr/>
          <p:nvPr/>
        </p:nvSpPr>
        <p:spPr>
          <a:xfrm>
            <a:off x="11974125" y="2990850"/>
            <a:ext cx="5237700" cy="609600"/>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000000"/>
              </a:buClr>
              <a:buSzPts val="1600"/>
              <a:buFont typeface="Arial"/>
              <a:buNone/>
            </a:pPr>
            <a:r>
              <a:rPr b="1" i="0" lang="en-US" spc="0" sz="1600" u="none" cap="none" strike="noStrike">
                <a:solidFill>
                  <a:srgbClr val="9D4531"/>
                </a:solidFill>
                <a:latin typeface="Montserrat"/>
                <a:ea typeface="Montserrat"/>
                <a:cs typeface="Montserrat"/>
                <a:sym typeface="Montserrat"/>
              </a:rPr>
              <a:t>Fixes: </a:t>
            </a:r>
            <a:r>
              <a:rPr b="1" lang="en-US" sz="1600">
                <a:solidFill>
                  <a:srgbClr val="111111"/>
                </a:solidFill>
                <a:latin typeface="Montserrat"/>
                <a:ea typeface="Montserrat"/>
                <a:cs typeface="Montserrat"/>
                <a:sym typeface="Montserrat"/>
              </a:rPr>
              <a:t>code going in without a pull request or review</a:t>
            </a:r>
            <a:endParaRPr b="0" i="0" spc="0" sz="1875" u="none" cap="none" strike="noStrike">
              <a:solidFill>
                <a:srgbClr val="111111"/>
              </a:solidFill>
              <a:latin typeface="Montserrat"/>
              <a:ea typeface="Montserrat"/>
              <a:cs typeface="Montserrat"/>
              <a:sym typeface="Montserrat"/>
            </a:endParaRPr>
          </a:p>
          <a:p>
            <a:pPr indent="0" lvl="0" marL="0" marR="0" rtl="0" algn="l">
              <a:lnSpc>
                <a:spcPct val="118852"/>
              </a:lnSpc>
              <a:spcBef>
                <a:spcPts val="600"/>
              </a:spcBef>
              <a:spcAft>
                <a:spcPts val="0"/>
              </a:spcAft>
              <a:buClr>
                <a:srgbClr val="000000"/>
              </a:buClr>
              <a:buSzPts val="1600"/>
              <a:buFont typeface="Arial"/>
              <a:buNone/>
            </a:pPr>
            <a:r>
              <a:rPr lang="en-US" sz="1600">
                <a:solidFill>
                  <a:srgbClr val="111111"/>
                </a:solidFill>
                <a:latin typeface="Montserrat"/>
                <a:ea typeface="Montserrat"/>
                <a:cs typeface="Montserrat"/>
                <a:sym typeface="Montserrat"/>
              </a:rPr>
              <a:t>All changes go through a pull request into develop, with a named reviewer within 48 hours. No direct pushes to main or develop. A PR open longer is raised at the Sunday meeting.</a:t>
            </a:r>
            <a:endParaRPr b="0" i="0" spc="0" sz="1875" u="none" cap="none" strike="noStrike">
              <a:solidFill>
                <a:srgbClr val="111111"/>
              </a:solidFill>
              <a:latin typeface="Montserrat"/>
              <a:ea typeface="Montserrat"/>
              <a:cs typeface="Montserrat"/>
              <a:sym typeface="Montserrat"/>
            </a:endParaRPr>
          </a:p>
          <a:p>
            <a:pPr indent="0" lvl="0" marL="0" marR="0" rtl="0" algn="l">
              <a:lnSpc>
                <a:spcPct val="118852"/>
              </a:lnSpc>
              <a:spcBef>
                <a:spcPts val="600"/>
              </a:spcBef>
              <a:spcAft>
                <a:spcPts val="0"/>
              </a:spcAft>
              <a:buClr>
                <a:srgbClr val="000000"/>
              </a:buClr>
              <a:buSzPts val="1600"/>
              <a:buFont typeface="Arial"/>
              <a:buNone/>
            </a:pPr>
            <a:r>
              <a:rPr b="1" i="0" lang="en-US" spc="0" sz="1600" u="none" cap="none" strike="noStrike">
                <a:solidFill>
                  <a:srgbClr val="111111"/>
                </a:solidFill>
                <a:latin typeface="Montserrat"/>
                <a:ea typeface="Montserrat"/>
                <a:cs typeface="Montserrat"/>
                <a:sym typeface="Montserrat"/>
              </a:rPr>
              <a:t>Owner: </a:t>
            </a:r>
            <a:r>
              <a:rPr lang="en-US" sz="1600">
                <a:solidFill>
                  <a:srgbClr val="111111"/>
                </a:solidFill>
                <a:latin typeface="Montserrat"/>
                <a:ea typeface="Montserrat"/>
                <a:cs typeface="Montserrat"/>
                <a:sym typeface="Montserrat"/>
              </a:rPr>
              <a:t>Whole team</a:t>
            </a:r>
            <a:endParaRPr b="0" i="0" spc="0" sz="1875" u="none" cap="none" strike="noStrike">
              <a:solidFill>
                <a:srgbClr val="111111"/>
              </a:solidFill>
              <a:latin typeface="Montserrat"/>
              <a:ea typeface="Montserrat"/>
              <a:cs typeface="Montserrat"/>
              <a:sym typeface="Montserrat"/>
            </a:endParaRPr>
          </a:p>
          <a:p>
            <a:pPr indent="0" lvl="0" marL="0" marR="0" rtl="0" algn="l">
              <a:lnSpc>
                <a:spcPct val="118852"/>
              </a:lnSpc>
              <a:spcBef>
                <a:spcPts val="600"/>
              </a:spcBef>
              <a:spcAft>
                <a:spcPts val="0"/>
              </a:spcAft>
              <a:buClr>
                <a:srgbClr val="000000"/>
              </a:buClr>
              <a:buSzPts val="1600"/>
              <a:buFont typeface="Arial"/>
              <a:buNone/>
            </a:pPr>
            <a:r>
              <a:rPr b="1" i="0" lang="en-US" spc="0" sz="1600" u="none" cap="none" strike="noStrike">
                <a:solidFill>
                  <a:srgbClr val="111111"/>
                </a:solidFill>
                <a:latin typeface="Montserrat"/>
                <a:ea typeface="Montserrat"/>
                <a:cs typeface="Montserrat"/>
                <a:sym typeface="Montserrat"/>
              </a:rPr>
              <a:t>Check: </a:t>
            </a:r>
            <a:r>
              <a:rPr lang="en-US" sz="1600">
                <a:solidFill>
                  <a:srgbClr val="111111"/>
                </a:solidFill>
                <a:latin typeface="Montserrat"/>
                <a:ea typeface="Montserrat"/>
                <a:cs typeface="Montserrat"/>
                <a:sym typeface="Montserrat"/>
              </a:rPr>
              <a:t>no direct pushes; no PR waits more than 48 hours</a:t>
            </a:r>
            <a:endParaRPr b="0" i="0" spc="0" sz="1875" u="none" cap="none" strike="noStrike">
              <a:solidFill>
                <a:srgbClr val="111111"/>
              </a:solidFill>
              <a:latin typeface="Montserrat"/>
              <a:ea typeface="Montserrat"/>
              <a:cs typeface="Montserrat"/>
              <a:sym typeface="Montserrat"/>
            </a:endParaRPr>
          </a:p>
        </p:txBody>
      </p:sp>
      <p:sp>
        <p:nvSpPr>
          <p:cNvPr id="944" name="Google Shape;944;h582754c433727a4c_0_10"/>
          <p:cNvSpPr/>
          <p:nvPr/>
        </p:nvSpPr>
        <p:spPr>
          <a:xfrm>
            <a:off x="11697891" y="6019800"/>
            <a:ext cx="5637600" cy="3505200"/>
          </a:xfrm>
          <a:prstGeom prst="roundRect">
            <a:avLst>
              <a:gd fmla="val 4348" name="adj"/>
            </a:avLst>
          </a:prstGeom>
          <a:solidFill>
            <a:srgbClr val="FDF4F1"/>
          </a:solidFill>
          <a:ln cap="flat" cmpd="sng" w="19050">
            <a:solidFill>
              <a:srgbClr val="B5573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5" name="Google Shape;945;h582754c433727a4c_0_10"/>
          <p:cNvSpPr/>
          <p:nvPr/>
        </p:nvSpPr>
        <p:spPr>
          <a:xfrm>
            <a:off x="11974116" y="6296025"/>
            <a:ext cx="55938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9D4531"/>
              </a:buClr>
              <a:buSzPts val="1800"/>
              <a:buFont typeface="Montserrat"/>
              <a:buNone/>
            </a:pPr>
            <a:r>
              <a:rPr b="1" i="0" lang="en-US" spc="0" sz="1800" u="none" cap="none" strike="noStrike">
                <a:solidFill>
                  <a:srgbClr val="9D4531"/>
                </a:solidFill>
                <a:latin typeface="Montserrat"/>
                <a:ea typeface="Montserrat"/>
                <a:cs typeface="Montserrat"/>
                <a:sym typeface="Montserrat"/>
              </a:rPr>
              <a:t>ACTION 2 → SPRINT 2</a:t>
            </a:r>
            <a:endParaRPr b="0" i="0" spc="0" sz="1800" u="none" cap="none" strike="noStrike">
              <a:solidFill>
                <a:srgbClr val="000000"/>
              </a:solidFill>
              <a:latin typeface="Calibri"/>
              <a:ea typeface="Calibri"/>
              <a:cs typeface="Calibri"/>
              <a:sym typeface="Calibri"/>
            </a:endParaRPr>
          </a:p>
        </p:txBody>
      </p:sp>
      <p:sp>
        <p:nvSpPr>
          <p:cNvPr id="946" name="Google Shape;946;h582754c433727a4c_0_10"/>
          <p:cNvSpPr/>
          <p:nvPr/>
        </p:nvSpPr>
        <p:spPr>
          <a:xfrm>
            <a:off x="11974125" y="6686550"/>
            <a:ext cx="52377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18852"/>
              </a:lnSpc>
              <a:spcBef>
                <a:spcPts val="0"/>
              </a:spcBef>
              <a:spcAft>
                <a:spcPts val="0"/>
              </a:spcAft>
              <a:buClr>
                <a:srgbClr val="000000"/>
              </a:buClr>
              <a:buSzPts val="1600"/>
              <a:buFont typeface="Arial"/>
              <a:buNone/>
            </a:pPr>
            <a:r>
              <a:rPr b="1" i="0" lang="en-US" spc="0" sz="1600" u="none" cap="none" strike="noStrike">
                <a:solidFill>
                  <a:srgbClr val="9D4531"/>
                </a:solidFill>
                <a:latin typeface="Montserrat"/>
                <a:ea typeface="Montserrat"/>
                <a:cs typeface="Montserrat"/>
                <a:sym typeface="Montserrat"/>
              </a:rPr>
              <a:t>Fixes: </a:t>
            </a:r>
            <a:r>
              <a:rPr b="1" lang="en-US" sz="1600">
                <a:solidFill>
                  <a:srgbClr val="111111"/>
                </a:solidFill>
                <a:latin typeface="Montserrat"/>
                <a:ea typeface="Montserrat"/>
                <a:cs typeface="Montserrat"/>
                <a:sym typeface="Montserrat"/>
              </a:rPr>
              <a:t>Jira not matching the real status</a:t>
            </a:r>
            <a:endParaRPr b="0" i="0" spc="0" sz="1875" u="none" cap="none" strike="noStrike">
              <a:solidFill>
                <a:srgbClr val="111111"/>
              </a:solidFill>
              <a:latin typeface="Montserrat"/>
              <a:ea typeface="Montserrat"/>
              <a:cs typeface="Montserrat"/>
              <a:sym typeface="Montserrat"/>
            </a:endParaRPr>
          </a:p>
          <a:p>
            <a:pPr indent="0" lvl="0" marL="0" marR="0" rtl="0" algn="l">
              <a:lnSpc>
                <a:spcPct val="118852"/>
              </a:lnSpc>
              <a:spcBef>
                <a:spcPts val="600"/>
              </a:spcBef>
              <a:spcAft>
                <a:spcPts val="0"/>
              </a:spcAft>
              <a:buClr>
                <a:srgbClr val="000000"/>
              </a:buClr>
              <a:buSzPts val="1600"/>
              <a:buFont typeface="Arial"/>
              <a:buNone/>
            </a:pPr>
            <a:r>
              <a:rPr lang="en-US" sz="1600">
                <a:solidFill>
                  <a:srgbClr val="111111"/>
                </a:solidFill>
                <a:latin typeface="Montserrat"/>
                <a:ea typeface="Montserrat"/>
                <a:cs typeface="Montserrat"/>
                <a:sym typeface="Montserrat"/>
              </a:rPr>
              <a:t>Each member moves their Jira items the same day their work changes status. Done means the CLOSED column. We check the board together at the Sunday meeting.</a:t>
            </a:r>
            <a:endParaRPr b="0" i="0" spc="0" sz="1875" u="none" cap="none" strike="noStrike">
              <a:solidFill>
                <a:srgbClr val="111111"/>
              </a:solidFill>
              <a:latin typeface="Montserrat"/>
              <a:ea typeface="Montserrat"/>
              <a:cs typeface="Montserrat"/>
              <a:sym typeface="Montserrat"/>
            </a:endParaRPr>
          </a:p>
          <a:p>
            <a:pPr indent="0" lvl="0" marL="0" marR="0" rtl="0" algn="l">
              <a:lnSpc>
                <a:spcPct val="118852"/>
              </a:lnSpc>
              <a:spcBef>
                <a:spcPts val="600"/>
              </a:spcBef>
              <a:spcAft>
                <a:spcPts val="0"/>
              </a:spcAft>
              <a:buClr>
                <a:srgbClr val="000000"/>
              </a:buClr>
              <a:buSzPts val="1600"/>
              <a:buFont typeface="Arial"/>
              <a:buNone/>
            </a:pPr>
            <a:r>
              <a:rPr b="1" i="0" lang="en-US" spc="0" sz="1600" u="none" cap="none" strike="noStrike">
                <a:solidFill>
                  <a:srgbClr val="111111"/>
                </a:solidFill>
                <a:latin typeface="Montserrat"/>
                <a:ea typeface="Montserrat"/>
                <a:cs typeface="Montserrat"/>
                <a:sym typeface="Montserrat"/>
              </a:rPr>
              <a:t>Owner: </a:t>
            </a:r>
            <a:r>
              <a:rPr lang="en-US" sz="1600">
                <a:solidFill>
                  <a:srgbClr val="111111"/>
                </a:solidFill>
                <a:latin typeface="Montserrat"/>
                <a:ea typeface="Montserrat"/>
                <a:cs typeface="Montserrat"/>
                <a:sym typeface="Montserrat"/>
              </a:rPr>
              <a:t>Whole team</a:t>
            </a:r>
            <a:endParaRPr b="0" i="0" spc="0" sz="1875" u="none" cap="none" strike="noStrike">
              <a:solidFill>
                <a:srgbClr val="111111"/>
              </a:solidFill>
              <a:latin typeface="Montserrat"/>
              <a:ea typeface="Montserrat"/>
              <a:cs typeface="Montserrat"/>
              <a:sym typeface="Montserrat"/>
            </a:endParaRPr>
          </a:p>
          <a:p>
            <a:pPr indent="0" lvl="0" marL="0" marR="0" rtl="0" algn="l">
              <a:lnSpc>
                <a:spcPct val="118852"/>
              </a:lnSpc>
              <a:spcBef>
                <a:spcPts val="600"/>
              </a:spcBef>
              <a:spcAft>
                <a:spcPts val="0"/>
              </a:spcAft>
              <a:buClr>
                <a:srgbClr val="000000"/>
              </a:buClr>
              <a:buSzPts val="1600"/>
              <a:buFont typeface="Arial"/>
              <a:buNone/>
            </a:pPr>
            <a:r>
              <a:rPr b="1" i="0" lang="en-US" spc="0" sz="1600" u="none" cap="none" strike="noStrike">
                <a:solidFill>
                  <a:srgbClr val="111111"/>
                </a:solidFill>
                <a:latin typeface="Montserrat"/>
                <a:ea typeface="Montserrat"/>
                <a:cs typeface="Montserrat"/>
                <a:sym typeface="Montserrat"/>
              </a:rPr>
              <a:t>Check: </a:t>
            </a:r>
            <a:r>
              <a:rPr lang="en-US" sz="1600">
                <a:solidFill>
                  <a:srgbClr val="111111"/>
                </a:solidFill>
                <a:latin typeface="Montserrat"/>
                <a:ea typeface="Montserrat"/>
                <a:cs typeface="Montserrat"/>
                <a:sym typeface="Montserrat"/>
              </a:rPr>
              <a:t>the Jira burndown matches GitHub; no finished work left in To Do</a:t>
            </a:r>
            <a:endParaRPr sz="1600">
              <a:solidFill>
                <a:srgbClr val="111111"/>
              </a:solidFill>
              <a:latin typeface="Montserrat"/>
              <a:ea typeface="Montserrat"/>
              <a:cs typeface="Montserrat"/>
              <a:sym typeface="Montserrat"/>
            </a:endParaRPr>
          </a:p>
        </p:txBody>
      </p:sp>
      <p:sp>
        <p:nvSpPr>
          <p:cNvPr id="947" name="Google Shape;947;h582754c433727a4c_0_10"/>
          <p:cNvSpPr/>
          <p:nvPr/>
        </p:nvSpPr>
        <p:spPr>
          <a:xfrm>
            <a:off x="13335420" y="875745"/>
            <a:ext cx="3154800" cy="384000"/>
          </a:xfrm>
          <a:prstGeom prst="roundRect">
            <a:avLst>
              <a:gd fmla="val 50000" name="adj"/>
            </a:avLst>
          </a:prstGeom>
          <a:solidFill>
            <a:srgbClr val="FBEEEA"/>
          </a:solidFill>
          <a:ln cap="flat" cmpd="sng" w="12700">
            <a:solidFill>
              <a:srgbClr val="9D453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100" u="none" cap="none" strike="noStrike">
                <a:solidFill>
                  <a:srgbClr val="9D4531"/>
                </a:solidFill>
                <a:latin typeface="Montserrat"/>
                <a:ea typeface="Montserrat"/>
                <a:cs typeface="Montserrat"/>
                <a:sym typeface="Montserrat"/>
              </a:rPr>
              <a:t>UPDATED AFTER SPRINT 0 FEEDBACK</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111"/>
        </a:solidFill>
      </p:bgPr>
    </p:bg>
    <p:spTree>
      <p:nvGrpSpPr>
        <p:cNvPr id="952" name="Shape 952"/>
        <p:cNvGrpSpPr/>
        <p:nvPr/>
      </p:nvGrpSpPr>
      <p:grpSpPr>
        <a:xfrm>
          <a:off x="0" y="0"/>
          <a:ext cx="0" cy="0"/>
          <a:chOff x="0" y="0"/>
          <a:chExt cx="0" cy="0"/>
        </a:xfrm>
      </p:grpSpPr>
      <p:pic>
        <p:nvPicPr>
          <p:cNvPr descr="preencoded.png" id="953" name="Google Shape;953;h582754c433727a4c_0_254"/>
          <p:cNvPicPr preferRelativeResize="0"/>
          <p:nvPr/>
        </p:nvPicPr>
        <p:blipFill rotWithShape="1">
          <a:blip r:embed="rId3">
            <a:alphaModFix/>
          </a:blip>
          <a:srcRect b="-3810" l="0" r="0" t="-3810"/>
          <a:stretch/>
        </p:blipFill>
        <p:spPr>
          <a:xfrm>
            <a:off x="8572500" y="3355181"/>
            <a:ext cx="1143000" cy="1143001"/>
          </a:xfrm>
          <a:prstGeom prst="rect">
            <a:avLst/>
          </a:prstGeom>
          <a:noFill/>
          <a:ln>
            <a:noFill/>
          </a:ln>
        </p:spPr>
      </p:pic>
      <p:sp>
        <p:nvSpPr>
          <p:cNvPr id="954" name="Google Shape;954;h582754c433727a4c_0_254"/>
          <p:cNvSpPr/>
          <p:nvPr/>
        </p:nvSpPr>
        <p:spPr>
          <a:xfrm>
            <a:off x="1371600" y="4879181"/>
            <a:ext cx="15544800" cy="952500"/>
          </a:xfrm>
          <a:prstGeom prst="rect">
            <a:avLst/>
          </a:prstGeom>
          <a:noFill/>
          <a:ln>
            <a:noFill/>
          </a:ln>
        </p:spPr>
        <p:txBody>
          <a:bodyPr anchorCtr="0" anchor="t" bIns="25400" lIns="25400" spcFirstLastPara="1" rIns="25400" wrap="square" tIns="25400">
            <a:noAutofit/>
          </a:bodyPr>
          <a:lstStyle/>
          <a:p>
            <a:pPr indent="0" lvl="0" marL="0" marR="0" rtl="0" algn="ctr">
              <a:lnSpc>
                <a:spcPct val="82051"/>
              </a:lnSpc>
              <a:spcBef>
                <a:spcPts val="0"/>
              </a:spcBef>
              <a:spcAft>
                <a:spcPts val="0"/>
              </a:spcAft>
              <a:buClr>
                <a:srgbClr val="FFFFFF"/>
              </a:buClr>
              <a:buSzPts val="7200"/>
              <a:buFont typeface="Montserrat"/>
              <a:buNone/>
            </a:pPr>
            <a:r>
              <a:rPr b="1" i="0" lang="en-US" sz="7200" u="none" cap="none" strike="noStrike">
                <a:solidFill>
                  <a:srgbClr val="FFFFFF"/>
                </a:solidFill>
                <a:latin typeface="Montserrat"/>
                <a:ea typeface="Montserrat"/>
                <a:cs typeface="Montserrat"/>
                <a:sym typeface="Montserrat"/>
              </a:rPr>
              <a:t>Sprint 2 plan and demo</a:t>
            </a:r>
            <a:endParaRPr b="0" i="0" sz="7200" u="none" cap="none" strike="noStrike">
              <a:solidFill>
                <a:schemeClr val="dk1"/>
              </a:solidFill>
              <a:latin typeface="Calibri"/>
              <a:ea typeface="Calibri"/>
              <a:cs typeface="Calibri"/>
              <a:sym typeface="Calibri"/>
            </a:endParaRPr>
          </a:p>
        </p:txBody>
      </p:sp>
      <p:sp>
        <p:nvSpPr>
          <p:cNvPr id="955" name="Google Shape;955;h582754c433727a4c_0_254"/>
          <p:cNvSpPr/>
          <p:nvPr/>
        </p:nvSpPr>
        <p:spPr>
          <a:xfrm>
            <a:off x="8572500" y="6174581"/>
            <a:ext cx="1143000" cy="28500"/>
          </a:xfrm>
          <a:prstGeom prst="rect">
            <a:avLst/>
          </a:prstGeom>
          <a:solidFill>
            <a:srgbClr val="7DB7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h582754c433727a4c_0_254"/>
          <p:cNvSpPr/>
          <p:nvPr/>
        </p:nvSpPr>
        <p:spPr>
          <a:xfrm>
            <a:off x="2286000" y="6584156"/>
            <a:ext cx="13716000" cy="1463100"/>
          </a:xfrm>
          <a:prstGeom prst="rect">
            <a:avLst/>
          </a:prstGeom>
          <a:noFill/>
          <a:ln>
            <a:noFill/>
          </a:ln>
        </p:spPr>
        <p:txBody>
          <a:bodyPr anchorCtr="0" anchor="t" bIns="25400" lIns="25400" spcFirstLastPara="1" rIns="25400" wrap="square" tIns="25400">
            <a:noAutofit/>
          </a:bodyPr>
          <a:lstStyle/>
          <a:p>
            <a:pPr indent="0" lvl="0" marL="0" marR="0" rtl="0" algn="ctr">
              <a:lnSpc>
                <a:spcPct val="100000"/>
              </a:lnSpc>
              <a:spcBef>
                <a:spcPts val="0"/>
              </a:spcBef>
              <a:spcAft>
                <a:spcPts val="0"/>
              </a:spcAft>
              <a:buClr>
                <a:srgbClr val="E5E5E5"/>
              </a:buClr>
              <a:buSzPts val="2250"/>
              <a:buFont typeface="Montserrat"/>
              <a:buNone/>
            </a:pPr>
            <a:r>
              <a:rPr b="1" i="0" lang="en-US" sz="1800" u="none" cap="none" strike="noStrike">
                <a:solidFill>
                  <a:srgbClr val="7DB7F6"/>
                </a:solidFill>
                <a:latin typeface="Montserrat"/>
                <a:ea typeface="Montserrat"/>
                <a:cs typeface="Montserrat"/>
                <a:sym typeface="Montserrat"/>
              </a:rPr>
              <a:t>PART 4 OF 4</a:t>
            </a:r>
            <a:endParaRPr b="0" i="0" sz="2250" u="none" cap="none" strike="noStrike">
              <a:solidFill>
                <a:schemeClr val="dk1"/>
              </a:solidFill>
              <a:latin typeface="Calibri"/>
              <a:ea typeface="Calibri"/>
              <a:cs typeface="Calibri"/>
              <a:sym typeface="Calibri"/>
            </a:endParaRPr>
          </a:p>
          <a:p>
            <a:pPr indent="0" lvl="0" marL="0" marR="0" rtl="0" algn="ctr">
              <a:lnSpc>
                <a:spcPct val="100000"/>
              </a:lnSpc>
              <a:spcBef>
                <a:spcPts val="1000"/>
              </a:spcBef>
              <a:spcAft>
                <a:spcPts val="0"/>
              </a:spcAft>
              <a:buClr>
                <a:srgbClr val="E5E5E5"/>
              </a:buClr>
              <a:buSzPts val="2250"/>
              <a:buFont typeface="Montserrat"/>
              <a:buNone/>
            </a:pPr>
            <a:r>
              <a:rPr b="0" i="0" lang="en-US" sz="2250" u="none" cap="none" strike="noStrike">
                <a:solidFill>
                  <a:srgbClr val="E5E5E5"/>
                </a:solidFill>
                <a:latin typeface="Montserrat"/>
                <a:ea typeface="Montserrat"/>
                <a:cs typeface="Montserrat"/>
                <a:sym typeface="Montserrat"/>
              </a:rPr>
              <a:t>14 Sprint 2 stories and capacity · 15 App, API, GitHub and wiki</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0" name="Shape 960"/>
        <p:cNvGrpSpPr/>
        <p:nvPr/>
      </p:nvGrpSpPr>
      <p:grpSpPr>
        <a:xfrm>
          <a:off x="0" y="0"/>
          <a:ext cx="0" cy="0"/>
          <a:chOff x="0" y="0"/>
          <a:chExt cx="0" cy="0"/>
        </a:xfrm>
      </p:grpSpPr>
      <p:sp>
        <p:nvSpPr>
          <p:cNvPr id="961" name="Google Shape;961;h14c0d8afbf1f53da_13_0"/>
          <p:cNvSpPr/>
          <p:nvPr/>
        </p:nvSpPr>
        <p:spPr>
          <a:xfrm>
            <a:off x="1047750" y="857250"/>
            <a:ext cx="14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14 · SPRINT 2 PLAN</a:t>
            </a:r>
            <a:endParaRPr b="0" i="0" sz="1800" u="none" cap="none" strike="noStrike">
              <a:solidFill>
                <a:schemeClr val="dk1"/>
              </a:solidFill>
              <a:latin typeface="Montserrat"/>
              <a:ea typeface="Montserrat"/>
              <a:cs typeface="Montserrat"/>
              <a:sym typeface="Montserrat"/>
            </a:endParaRPr>
          </a:p>
        </p:txBody>
      </p:sp>
      <p:sp>
        <p:nvSpPr>
          <p:cNvPr id="962" name="Google Shape;962;h14c0d8afbf1f53da_13_0"/>
          <p:cNvSpPr/>
          <p:nvPr/>
        </p:nvSpPr>
        <p:spPr>
          <a:xfrm>
            <a:off x="1047750" y="1266825"/>
            <a:ext cx="140000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Stories planned for Sprint 2</a:t>
            </a:r>
            <a:endParaRPr b="0" i="0" sz="4200" u="none" cap="none" strike="noStrike">
              <a:solidFill>
                <a:schemeClr val="dk1"/>
              </a:solidFill>
              <a:latin typeface="Montserrat"/>
              <a:ea typeface="Montserrat"/>
              <a:cs typeface="Montserrat"/>
              <a:sym typeface="Montserrat"/>
            </a:endParaRPr>
          </a:p>
        </p:txBody>
      </p:sp>
      <p:pic>
        <p:nvPicPr>
          <p:cNvPr descr="preencoded.png" id="963" name="Google Shape;963;h14c0d8afbf1f53da_13_0"/>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pic>
        <p:nvPicPr>
          <p:cNvPr id="964" name="Google Shape;964;h14c0d8afbf1f53da_13_0" title="Screenshot 2026-10-18 at 1.00.55 AM.png"/>
          <p:cNvPicPr preferRelativeResize="0"/>
          <p:nvPr/>
        </p:nvPicPr>
        <p:blipFill rotWithShape="1">
          <a:blip r:embed="rId4">
            <a:alphaModFix/>
          </a:blip>
          <a:srcRect b="0" l="0" r="0" t="-1399"/>
          <a:stretch/>
        </p:blipFill>
        <p:spPr>
          <a:xfrm>
            <a:off x="1047750" y="2166975"/>
            <a:ext cx="16009400" cy="79679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8" name="Shape 968"/>
        <p:cNvGrpSpPr/>
        <p:nvPr/>
      </p:nvGrpSpPr>
      <p:grpSpPr>
        <a:xfrm>
          <a:off x="0" y="0"/>
          <a:ext cx="0" cy="0"/>
          <a:chOff x="0" y="0"/>
          <a:chExt cx="0" cy="0"/>
        </a:xfrm>
      </p:grpSpPr>
      <p:sp>
        <p:nvSpPr>
          <p:cNvPr id="969" name="Google Shape;969;h5f1514c4b633525f_1_14"/>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h5f1514c4b633525f_1_14"/>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15 · DEMO</a:t>
            </a:r>
            <a:endParaRPr b="0" i="0" sz="1800" u="none" cap="none" strike="noStrike">
              <a:solidFill>
                <a:schemeClr val="dk1"/>
              </a:solidFill>
              <a:latin typeface="Montserrat"/>
              <a:ea typeface="Montserrat"/>
              <a:cs typeface="Montserrat"/>
              <a:sym typeface="Montserrat"/>
            </a:endParaRPr>
          </a:p>
        </p:txBody>
      </p:sp>
      <p:sp>
        <p:nvSpPr>
          <p:cNvPr id="971" name="Google Shape;971;h5f1514c4b633525f_1_14"/>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App screenshots: Home screen</a:t>
            </a:r>
            <a:endParaRPr sz="42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972" name="Google Shape;972;h5f1514c4b633525f_1_14"/>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973" name="Google Shape;973;h5f1514c4b633525f_1_14"/>
          <p:cNvPicPr preferRelativeResize="0"/>
          <p:nvPr/>
        </p:nvPicPr>
        <p:blipFill>
          <a:blip r:embed="rId4">
            <a:alphaModFix/>
          </a:blip>
          <a:stretch>
            <a:fillRect/>
          </a:stretch>
        </p:blipFill>
        <p:spPr>
          <a:xfrm>
            <a:off x="569126" y="2398175"/>
            <a:ext cx="8449056" cy="7778643"/>
          </a:xfrm>
          <a:prstGeom prst="rect">
            <a:avLst/>
          </a:prstGeom>
          <a:noFill/>
          <a:ln>
            <a:noFill/>
          </a:ln>
        </p:spPr>
      </p:pic>
      <p:pic>
        <p:nvPicPr>
          <p:cNvPr id="974" name="Google Shape;974;h5f1514c4b633525f_1_14"/>
          <p:cNvPicPr preferRelativeResize="0"/>
          <p:nvPr/>
        </p:nvPicPr>
        <p:blipFill>
          <a:blip r:embed="rId5">
            <a:alphaModFix/>
          </a:blip>
          <a:stretch>
            <a:fillRect/>
          </a:stretch>
        </p:blipFill>
        <p:spPr>
          <a:xfrm>
            <a:off x="9303557" y="2267125"/>
            <a:ext cx="8449056" cy="777864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8" name="Shape 978"/>
        <p:cNvGrpSpPr/>
        <p:nvPr/>
      </p:nvGrpSpPr>
      <p:grpSpPr>
        <a:xfrm>
          <a:off x="0" y="0"/>
          <a:ext cx="0" cy="0"/>
          <a:chOff x="0" y="0"/>
          <a:chExt cx="0" cy="0"/>
        </a:xfrm>
      </p:grpSpPr>
      <p:sp>
        <p:nvSpPr>
          <p:cNvPr id="979" name="Google Shape;979;p26"/>
          <p:cNvSpPr/>
          <p:nvPr/>
        </p:nvSpPr>
        <p:spPr>
          <a:xfrm>
            <a:off x="1047750" y="2162175"/>
            <a:ext cx="16192500" cy="9525"/>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26"/>
          <p:cNvSpPr/>
          <p:nvPr/>
        </p:nvSpPr>
        <p:spPr>
          <a:xfrm>
            <a:off x="1047750" y="857250"/>
            <a:ext cx="1400000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15 · DEMO</a:t>
            </a:r>
            <a:endParaRPr b="0" i="0" sz="1800" u="none" cap="none" strike="noStrike">
              <a:solidFill>
                <a:schemeClr val="dk1"/>
              </a:solidFill>
              <a:latin typeface="Montserrat"/>
              <a:ea typeface="Montserrat"/>
              <a:cs typeface="Montserrat"/>
              <a:sym typeface="Montserrat"/>
            </a:endParaRPr>
          </a:p>
        </p:txBody>
      </p:sp>
      <p:sp>
        <p:nvSpPr>
          <p:cNvPr id="981" name="Google Shape;981;p26"/>
          <p:cNvSpPr/>
          <p:nvPr/>
        </p:nvSpPr>
        <p:spPr>
          <a:xfrm>
            <a:off x="1047750" y="1266825"/>
            <a:ext cx="14000000" cy="6858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App screenshots: Upload screen</a:t>
            </a:r>
            <a:endParaRPr sz="42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982" name="Google Shape;982;p26"/>
          <p:cNvPicPr preferRelativeResize="0"/>
          <p:nvPr/>
        </p:nvPicPr>
        <p:blipFill rotWithShape="1">
          <a:blip r:embed="rId3">
            <a:alphaModFix/>
          </a:blip>
          <a:srcRect b="-3807" l="0" r="0" t="-3807"/>
          <a:stretch/>
        </p:blipFill>
        <p:spPr>
          <a:xfrm>
            <a:off x="16630650" y="857250"/>
            <a:ext cx="609600" cy="609600"/>
          </a:xfrm>
          <a:prstGeom prst="rect">
            <a:avLst/>
          </a:prstGeom>
          <a:noFill/>
          <a:ln>
            <a:noFill/>
          </a:ln>
        </p:spPr>
      </p:pic>
      <p:pic>
        <p:nvPicPr>
          <p:cNvPr id="983" name="Google Shape;983;p26"/>
          <p:cNvPicPr preferRelativeResize="0"/>
          <p:nvPr/>
        </p:nvPicPr>
        <p:blipFill>
          <a:blip r:embed="rId4">
            <a:alphaModFix/>
          </a:blip>
          <a:stretch>
            <a:fillRect/>
          </a:stretch>
        </p:blipFill>
        <p:spPr>
          <a:xfrm>
            <a:off x="545225" y="3015150"/>
            <a:ext cx="8447299" cy="5657924"/>
          </a:xfrm>
          <a:prstGeom prst="rect">
            <a:avLst/>
          </a:prstGeom>
          <a:noFill/>
          <a:ln>
            <a:noFill/>
          </a:ln>
        </p:spPr>
      </p:pic>
      <p:pic>
        <p:nvPicPr>
          <p:cNvPr id="984" name="Google Shape;984;p26"/>
          <p:cNvPicPr preferRelativeResize="0"/>
          <p:nvPr/>
        </p:nvPicPr>
        <p:blipFill>
          <a:blip r:embed="rId5">
            <a:alphaModFix/>
          </a:blip>
          <a:stretch>
            <a:fillRect/>
          </a:stretch>
        </p:blipFill>
        <p:spPr>
          <a:xfrm>
            <a:off x="9366624" y="3001463"/>
            <a:ext cx="8488152" cy="568529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8" name="Shape 988"/>
        <p:cNvGrpSpPr/>
        <p:nvPr/>
      </p:nvGrpSpPr>
      <p:grpSpPr>
        <a:xfrm>
          <a:off x="0" y="0"/>
          <a:ext cx="0" cy="0"/>
          <a:chOff x="0" y="0"/>
          <a:chExt cx="0" cy="0"/>
        </a:xfrm>
      </p:grpSpPr>
      <p:sp>
        <p:nvSpPr>
          <p:cNvPr id="989" name="Google Shape;989;h582754c433727a4c_0_126"/>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0" name="Google Shape;990;h582754c433727a4c_0_126"/>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15 · DEMO</a:t>
            </a:r>
            <a:endParaRPr b="0" i="0" sz="1800" u="none" cap="none" strike="noStrike">
              <a:solidFill>
                <a:schemeClr val="dk1"/>
              </a:solidFill>
              <a:latin typeface="Montserrat"/>
              <a:ea typeface="Montserrat"/>
              <a:cs typeface="Montserrat"/>
              <a:sym typeface="Montserrat"/>
            </a:endParaRPr>
          </a:p>
        </p:txBody>
      </p:sp>
      <p:sp>
        <p:nvSpPr>
          <p:cNvPr id="991" name="Google Shape;991;h582754c433727a4c_0_126"/>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App screenshots: Result screen</a:t>
            </a:r>
            <a:endParaRPr sz="42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992" name="Google Shape;992;h582754c433727a4c_0_126"/>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993" name="Google Shape;993;h582754c433727a4c_0_126"/>
          <p:cNvPicPr preferRelativeResize="0"/>
          <p:nvPr/>
        </p:nvPicPr>
        <p:blipFill>
          <a:blip r:embed="rId4">
            <a:alphaModFix/>
          </a:blip>
          <a:stretch>
            <a:fillRect/>
          </a:stretch>
        </p:blipFill>
        <p:spPr>
          <a:xfrm>
            <a:off x="9411950" y="2989275"/>
            <a:ext cx="8449056" cy="5960259"/>
          </a:xfrm>
          <a:prstGeom prst="rect">
            <a:avLst/>
          </a:prstGeom>
          <a:noFill/>
          <a:ln>
            <a:noFill/>
          </a:ln>
        </p:spPr>
      </p:pic>
      <p:pic>
        <p:nvPicPr>
          <p:cNvPr id="994" name="Google Shape;994;h582754c433727a4c_0_126"/>
          <p:cNvPicPr preferRelativeResize="0"/>
          <p:nvPr/>
        </p:nvPicPr>
        <p:blipFill>
          <a:blip r:embed="rId5">
            <a:alphaModFix/>
          </a:blip>
          <a:stretch>
            <a:fillRect/>
          </a:stretch>
        </p:blipFill>
        <p:spPr>
          <a:xfrm>
            <a:off x="669675" y="2989275"/>
            <a:ext cx="8449056" cy="5960259"/>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8" name="Shape 998"/>
        <p:cNvGrpSpPr/>
        <p:nvPr/>
      </p:nvGrpSpPr>
      <p:grpSpPr>
        <a:xfrm>
          <a:off x="0" y="0"/>
          <a:ext cx="0" cy="0"/>
          <a:chOff x="0" y="0"/>
          <a:chExt cx="0" cy="0"/>
        </a:xfrm>
      </p:grpSpPr>
      <p:sp>
        <p:nvSpPr>
          <p:cNvPr id="999" name="Google Shape;999;h582754c433727a4c_0_133"/>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h582754c433727a4c_0_133"/>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15 · DEMO</a:t>
            </a:r>
            <a:endParaRPr b="0" i="0" sz="1800" u="none" cap="none" strike="noStrike">
              <a:solidFill>
                <a:schemeClr val="dk1"/>
              </a:solidFill>
              <a:latin typeface="Montserrat"/>
              <a:ea typeface="Montserrat"/>
              <a:cs typeface="Montserrat"/>
              <a:sym typeface="Montserrat"/>
            </a:endParaRPr>
          </a:p>
        </p:txBody>
      </p:sp>
      <p:sp>
        <p:nvSpPr>
          <p:cNvPr id="1001" name="Google Shape;1001;h582754c433727a4c_0_133"/>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App screenshots: History screen</a:t>
            </a:r>
            <a:endParaRPr b="1" sz="4200">
              <a:solidFill>
                <a:srgbClr val="111111"/>
              </a:solidFill>
              <a:latin typeface="Montserrat"/>
              <a:ea typeface="Montserrat"/>
              <a:cs typeface="Montserrat"/>
              <a:sym typeface="Montserrat"/>
            </a:endParaRPr>
          </a:p>
        </p:txBody>
      </p:sp>
      <p:pic>
        <p:nvPicPr>
          <p:cNvPr descr="preencoded.png" id="1002" name="Google Shape;1002;h582754c433727a4c_0_133"/>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1003" name="Google Shape;1003;h582754c433727a4c_0_133"/>
          <p:cNvPicPr preferRelativeResize="0"/>
          <p:nvPr/>
        </p:nvPicPr>
        <p:blipFill>
          <a:blip r:embed="rId4">
            <a:alphaModFix/>
          </a:blip>
          <a:stretch>
            <a:fillRect/>
          </a:stretch>
        </p:blipFill>
        <p:spPr>
          <a:xfrm>
            <a:off x="626138" y="3001850"/>
            <a:ext cx="8449056" cy="5705176"/>
          </a:xfrm>
          <a:prstGeom prst="rect">
            <a:avLst/>
          </a:prstGeom>
          <a:noFill/>
          <a:ln>
            <a:noFill/>
          </a:ln>
        </p:spPr>
      </p:pic>
      <p:pic>
        <p:nvPicPr>
          <p:cNvPr id="1004" name="Google Shape;1004;h582754c433727a4c_0_133"/>
          <p:cNvPicPr preferRelativeResize="0"/>
          <p:nvPr/>
        </p:nvPicPr>
        <p:blipFill>
          <a:blip r:embed="rId5">
            <a:alphaModFix/>
          </a:blip>
          <a:stretch>
            <a:fillRect/>
          </a:stretch>
        </p:blipFill>
        <p:spPr>
          <a:xfrm>
            <a:off x="9212819" y="3026438"/>
            <a:ext cx="8449056" cy="565599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8" name="Shape 1008"/>
        <p:cNvGrpSpPr/>
        <p:nvPr/>
      </p:nvGrpSpPr>
      <p:grpSpPr>
        <a:xfrm>
          <a:off x="0" y="0"/>
          <a:ext cx="0" cy="0"/>
          <a:chOff x="0" y="0"/>
          <a:chExt cx="0" cy="0"/>
        </a:xfrm>
      </p:grpSpPr>
      <p:sp>
        <p:nvSpPr>
          <p:cNvPr id="1009" name="Google Shape;1009;h5f1514c4b633525f_1_25"/>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0" name="Google Shape;1010;h5f1514c4b633525f_1_25"/>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15 · DEMO</a:t>
            </a:r>
            <a:endParaRPr b="0" i="0" sz="1800" u="none" cap="none" strike="noStrike">
              <a:solidFill>
                <a:schemeClr val="dk1"/>
              </a:solidFill>
              <a:latin typeface="Montserrat"/>
              <a:ea typeface="Montserrat"/>
              <a:cs typeface="Montserrat"/>
              <a:sym typeface="Montserrat"/>
            </a:endParaRPr>
          </a:p>
        </p:txBody>
      </p:sp>
      <p:sp>
        <p:nvSpPr>
          <p:cNvPr id="1011" name="Google Shape;1011;h5f1514c4b633525f_1_25"/>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App screenshots: About screen</a:t>
            </a:r>
            <a:endParaRPr sz="42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1012" name="Google Shape;1012;h5f1514c4b633525f_1_25"/>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1013" name="Google Shape;1013;h5f1514c4b633525f_1_25"/>
          <p:cNvPicPr preferRelativeResize="0"/>
          <p:nvPr/>
        </p:nvPicPr>
        <p:blipFill>
          <a:blip r:embed="rId4">
            <a:alphaModFix/>
          </a:blip>
          <a:stretch>
            <a:fillRect/>
          </a:stretch>
        </p:blipFill>
        <p:spPr>
          <a:xfrm>
            <a:off x="574413" y="3162300"/>
            <a:ext cx="8449056" cy="5482704"/>
          </a:xfrm>
          <a:prstGeom prst="rect">
            <a:avLst/>
          </a:prstGeom>
          <a:noFill/>
          <a:ln>
            <a:noFill/>
          </a:ln>
        </p:spPr>
      </p:pic>
      <p:pic>
        <p:nvPicPr>
          <p:cNvPr id="1014" name="Google Shape;1014;h5f1514c4b633525f_1_25"/>
          <p:cNvPicPr preferRelativeResize="0"/>
          <p:nvPr/>
        </p:nvPicPr>
        <p:blipFill>
          <a:blip r:embed="rId5">
            <a:alphaModFix/>
          </a:blip>
          <a:stretch>
            <a:fillRect/>
          </a:stretch>
        </p:blipFill>
        <p:spPr>
          <a:xfrm>
            <a:off x="9264544" y="3162300"/>
            <a:ext cx="8449056" cy="548270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8" name="Shape 1018"/>
        <p:cNvGrpSpPr/>
        <p:nvPr/>
      </p:nvGrpSpPr>
      <p:grpSpPr>
        <a:xfrm>
          <a:off x="0" y="0"/>
          <a:ext cx="0" cy="0"/>
          <a:chOff x="0" y="0"/>
          <a:chExt cx="0" cy="0"/>
        </a:xfrm>
      </p:grpSpPr>
      <p:sp>
        <p:nvSpPr>
          <p:cNvPr id="1019" name="Google Shape;1019;h5f1514c4b633525f_1_36"/>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h5f1514c4b633525f_1_36"/>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15 · DEMO</a:t>
            </a:r>
            <a:endParaRPr b="0" i="0" sz="1800" u="none" cap="none" strike="noStrike">
              <a:solidFill>
                <a:schemeClr val="dk1"/>
              </a:solidFill>
              <a:latin typeface="Montserrat"/>
              <a:ea typeface="Montserrat"/>
              <a:cs typeface="Montserrat"/>
              <a:sym typeface="Montserrat"/>
            </a:endParaRPr>
          </a:p>
        </p:txBody>
      </p:sp>
      <p:sp>
        <p:nvSpPr>
          <p:cNvPr id="1021" name="Google Shape;1021;h5f1514c4b633525f_1_36"/>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App screenshots: Responsive Design</a:t>
            </a:r>
            <a:endParaRPr sz="4200">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111111"/>
              </a:buClr>
              <a:buSzPts val="4200"/>
              <a:buFont typeface="Montserrat"/>
              <a:buNone/>
            </a:pPr>
            <a:r>
              <a:t/>
            </a:r>
            <a:endParaRPr b="1" sz="4200">
              <a:solidFill>
                <a:srgbClr val="111111"/>
              </a:solidFill>
              <a:latin typeface="Montserrat"/>
              <a:ea typeface="Montserrat"/>
              <a:cs typeface="Montserrat"/>
              <a:sym typeface="Montserrat"/>
            </a:endParaRPr>
          </a:p>
        </p:txBody>
      </p:sp>
      <p:pic>
        <p:nvPicPr>
          <p:cNvPr descr="preencoded.png" id="1022" name="Google Shape;1022;h5f1514c4b633525f_1_36"/>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id="1023" name="Google Shape;1023;h5f1514c4b633525f_1_36"/>
          <p:cNvPicPr preferRelativeResize="0"/>
          <p:nvPr/>
        </p:nvPicPr>
        <p:blipFill>
          <a:blip r:embed="rId4">
            <a:alphaModFix/>
          </a:blip>
          <a:stretch>
            <a:fillRect/>
          </a:stretch>
        </p:blipFill>
        <p:spPr>
          <a:xfrm>
            <a:off x="2616350" y="2381325"/>
            <a:ext cx="2492159" cy="7810426"/>
          </a:xfrm>
          <a:prstGeom prst="rect">
            <a:avLst/>
          </a:prstGeom>
          <a:noFill/>
          <a:ln>
            <a:noFill/>
          </a:ln>
        </p:spPr>
      </p:pic>
      <p:pic>
        <p:nvPicPr>
          <p:cNvPr id="1024" name="Google Shape;1024;h5f1514c4b633525f_1_36"/>
          <p:cNvPicPr preferRelativeResize="0"/>
          <p:nvPr/>
        </p:nvPicPr>
        <p:blipFill>
          <a:blip r:embed="rId5">
            <a:alphaModFix/>
          </a:blip>
          <a:stretch>
            <a:fillRect/>
          </a:stretch>
        </p:blipFill>
        <p:spPr>
          <a:xfrm>
            <a:off x="5235000" y="2381325"/>
            <a:ext cx="1778100" cy="7810427"/>
          </a:xfrm>
          <a:prstGeom prst="rect">
            <a:avLst/>
          </a:prstGeom>
          <a:noFill/>
          <a:ln>
            <a:noFill/>
          </a:ln>
        </p:spPr>
      </p:pic>
      <p:pic>
        <p:nvPicPr>
          <p:cNvPr id="1025" name="Google Shape;1025;h5f1514c4b633525f_1_36"/>
          <p:cNvPicPr preferRelativeResize="0"/>
          <p:nvPr/>
        </p:nvPicPr>
        <p:blipFill>
          <a:blip r:embed="rId6">
            <a:alphaModFix/>
          </a:blip>
          <a:stretch>
            <a:fillRect/>
          </a:stretch>
        </p:blipFill>
        <p:spPr>
          <a:xfrm>
            <a:off x="7139600" y="2381325"/>
            <a:ext cx="2279751" cy="7810428"/>
          </a:xfrm>
          <a:prstGeom prst="rect">
            <a:avLst/>
          </a:prstGeom>
          <a:noFill/>
          <a:ln>
            <a:noFill/>
          </a:ln>
        </p:spPr>
      </p:pic>
      <p:pic>
        <p:nvPicPr>
          <p:cNvPr id="1026" name="Google Shape;1026;h5f1514c4b633525f_1_36"/>
          <p:cNvPicPr preferRelativeResize="0"/>
          <p:nvPr/>
        </p:nvPicPr>
        <p:blipFill>
          <a:blip r:embed="rId7">
            <a:alphaModFix/>
          </a:blip>
          <a:stretch>
            <a:fillRect/>
          </a:stretch>
        </p:blipFill>
        <p:spPr>
          <a:xfrm>
            <a:off x="9545852" y="2381325"/>
            <a:ext cx="2532563" cy="7810423"/>
          </a:xfrm>
          <a:prstGeom prst="rect">
            <a:avLst/>
          </a:prstGeom>
          <a:noFill/>
          <a:ln>
            <a:noFill/>
          </a:ln>
        </p:spPr>
      </p:pic>
      <p:pic>
        <p:nvPicPr>
          <p:cNvPr id="1027" name="Google Shape;1027;h5f1514c4b633525f_1_36"/>
          <p:cNvPicPr preferRelativeResize="0"/>
          <p:nvPr/>
        </p:nvPicPr>
        <p:blipFill>
          <a:blip r:embed="rId8">
            <a:alphaModFix/>
          </a:blip>
          <a:stretch>
            <a:fillRect/>
          </a:stretch>
        </p:blipFill>
        <p:spPr>
          <a:xfrm>
            <a:off x="12204914" y="2381325"/>
            <a:ext cx="2136331" cy="7810427"/>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1" name="Shape 1031"/>
        <p:cNvGrpSpPr/>
        <p:nvPr/>
      </p:nvGrpSpPr>
      <p:grpSpPr>
        <a:xfrm>
          <a:off x="0" y="0"/>
          <a:ext cx="0" cy="0"/>
          <a:chOff x="0" y="0"/>
          <a:chExt cx="0" cy="0"/>
        </a:xfrm>
      </p:grpSpPr>
      <p:sp>
        <p:nvSpPr>
          <p:cNvPr id="1032" name="Google Shape;1032;h582754c433727a4c_0_140"/>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h582754c433727a4c_0_140"/>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15 · DEMO</a:t>
            </a:r>
            <a:endParaRPr b="0" i="0" sz="1800" u="none" cap="none" strike="noStrike">
              <a:solidFill>
                <a:schemeClr val="dk1"/>
              </a:solidFill>
              <a:latin typeface="Montserrat"/>
              <a:ea typeface="Montserrat"/>
              <a:cs typeface="Montserrat"/>
              <a:sym typeface="Montserrat"/>
            </a:endParaRPr>
          </a:p>
        </p:txBody>
      </p:sp>
      <p:sp>
        <p:nvSpPr>
          <p:cNvPr id="1034" name="Google Shape;1034;h582754c433727a4c_0_140"/>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API: what the back end offers</a:t>
            </a:r>
            <a:endParaRPr b="1" sz="4200">
              <a:solidFill>
                <a:srgbClr val="111111"/>
              </a:solidFill>
              <a:latin typeface="Montserrat"/>
              <a:ea typeface="Montserrat"/>
              <a:cs typeface="Montserrat"/>
              <a:sym typeface="Montserrat"/>
            </a:endParaRPr>
          </a:p>
        </p:txBody>
      </p:sp>
      <p:pic>
        <p:nvPicPr>
          <p:cNvPr descr="preencoded.png" id="1035" name="Google Shape;1035;h582754c433727a4c_0_140"/>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graphicFrame>
        <p:nvGraphicFramePr>
          <p:cNvPr id="1036" name="Google Shape;1036;h582754c433727a4c_0_140"/>
          <p:cNvGraphicFramePr/>
          <p:nvPr/>
        </p:nvGraphicFramePr>
        <p:xfrm>
          <a:off x="1051560" y="2496312"/>
          <a:ext cx="3000000" cy="3000000"/>
        </p:xfrm>
        <a:graphic>
          <a:graphicData uri="http://schemas.openxmlformats.org/drawingml/2006/table">
            <a:tbl>
              <a:tblPr>
                <a:noFill/>
                <a:tableStyleId>{82023395-B522-4359-B800-2BFD0772FF41}</a:tableStyleId>
              </a:tblPr>
              <a:tblGrid>
                <a:gridCol w="1143000"/>
                <a:gridCol w="3154675"/>
                <a:gridCol w="3611875"/>
              </a:tblGrid>
              <a:tr h="457200">
                <a:tc>
                  <a:txBody>
                    <a:bodyPr/>
                    <a:lstStyle/>
                    <a:p>
                      <a:pPr indent="0" lvl="0" marL="0" marR="0" rtl="0" algn="l">
                        <a:lnSpc>
                          <a:spcPct val="100000"/>
                        </a:lnSpc>
                        <a:spcBef>
                          <a:spcPts val="0"/>
                        </a:spcBef>
                        <a:spcAft>
                          <a:spcPts val="0"/>
                        </a:spcAft>
                        <a:buNone/>
                      </a:pPr>
                      <a:r>
                        <a:rPr b="1" lang="en-US" spc="0" sz="1200" u="none" cap="none" strike="noStrike">
                          <a:solidFill>
                            <a:srgbClr val="FFFFFF"/>
                          </a:solidFill>
                          <a:latin typeface="Montserrat"/>
                          <a:ea typeface="Montserrat"/>
                          <a:cs typeface="Montserrat"/>
                          <a:sym typeface="Montserrat"/>
                        </a:rPr>
                        <a:t>Method</a:t>
                      </a:r>
                      <a:endParaRPr/>
                    </a:p>
                  </a:txBody>
                  <a:tcPr marT="45725" marB="45725" marR="91450" marL="91450" anchor="ctr">
                    <a:solidFill>
                      <a:srgbClr val="1E6FB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FFFFFF"/>
                          </a:solidFill>
                          <a:latin typeface="Montserrat"/>
                          <a:ea typeface="Montserrat"/>
                          <a:cs typeface="Montserrat"/>
                          <a:sym typeface="Montserrat"/>
                        </a:rPr>
                        <a:t>Endpoint</a:t>
                      </a:r>
                      <a:endParaRPr/>
                    </a:p>
                  </a:txBody>
                  <a:tcPr marT="45725" marB="45725" marR="91450" marL="91450" anchor="ctr">
                    <a:solidFill>
                      <a:srgbClr val="1E6FB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FFFFFF"/>
                          </a:solidFill>
                          <a:latin typeface="Montserrat"/>
                          <a:ea typeface="Montserrat"/>
                          <a:cs typeface="Montserrat"/>
                          <a:sym typeface="Montserrat"/>
                        </a:rPr>
                        <a:t>What it does</a:t>
                      </a:r>
                      <a:endParaRPr/>
                    </a:p>
                  </a:txBody>
                  <a:tcPr marT="45725" marB="45725" marR="91450" marL="91450" anchor="ctr">
                    <a:solidFill>
                      <a:srgbClr val="1E6FB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POST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/auth/login</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Sign in; sets a session cookie</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POST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/auth/logout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Sign out</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/auth/me</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Signed-in user</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/patients</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Patients, sorted by last name</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POST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/patients</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Add a patient</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/patients/{id}</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Patient, last visit, latest result per eye</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/patients/{id}/screenings</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A patient's screenings, newest first</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/patients/{id}/export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Patient dossier (PDF)</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/patients/next-id</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ID for the next new patient</a:t>
                      </a:r>
                      <a:endParaRPr/>
                    </a:p>
                  </a:txBody>
                  <a:tcPr marT="45725" marB="45725" marR="91450" marL="91450" anchor="ctr">
                    <a:solidFill>
                      <a:srgbClr val="FFFFFF"/>
                    </a:solidFill>
                  </a:tcPr>
                </a:tc>
              </a:tr>
            </a:tbl>
          </a:graphicData>
        </a:graphic>
      </p:graphicFrame>
      <p:graphicFrame>
        <p:nvGraphicFramePr>
          <p:cNvPr id="1037" name="Google Shape;1037;h582754c433727a4c_0_140"/>
          <p:cNvGraphicFramePr/>
          <p:nvPr/>
        </p:nvGraphicFramePr>
        <p:xfrm>
          <a:off x="9336024" y="2496312"/>
          <a:ext cx="3000000" cy="3000000"/>
        </p:xfrm>
        <a:graphic>
          <a:graphicData uri="http://schemas.openxmlformats.org/drawingml/2006/table">
            <a:tbl>
              <a:tblPr>
                <a:noFill/>
                <a:tableStyleId>{82023395-B522-4359-B800-2BFD0772FF41}</a:tableStyleId>
              </a:tblPr>
              <a:tblGrid>
                <a:gridCol w="1143000"/>
                <a:gridCol w="3154675"/>
                <a:gridCol w="3611875"/>
              </a:tblGrid>
              <a:tr h="457200">
                <a:tc>
                  <a:txBody>
                    <a:bodyPr/>
                    <a:lstStyle/>
                    <a:p>
                      <a:pPr indent="0" lvl="0" marL="0" marR="0" rtl="0" algn="l">
                        <a:lnSpc>
                          <a:spcPct val="100000"/>
                        </a:lnSpc>
                        <a:spcBef>
                          <a:spcPts val="0"/>
                        </a:spcBef>
                        <a:spcAft>
                          <a:spcPts val="0"/>
                        </a:spcAft>
                        <a:buNone/>
                      </a:pPr>
                      <a:r>
                        <a:rPr b="1" lang="en-US" spc="0" sz="1200" u="none" cap="none" strike="noStrike">
                          <a:solidFill>
                            <a:srgbClr val="FFFFFF"/>
                          </a:solidFill>
                          <a:latin typeface="Montserrat"/>
                          <a:ea typeface="Montserrat"/>
                          <a:cs typeface="Montserrat"/>
                          <a:sym typeface="Montserrat"/>
                        </a:rPr>
                        <a:t>Method</a:t>
                      </a:r>
                      <a:endParaRPr/>
                    </a:p>
                  </a:txBody>
                  <a:tcPr marT="45725" marB="45725" marR="91450" marL="91450" anchor="ctr">
                    <a:solidFill>
                      <a:srgbClr val="1E6FB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FFFFFF"/>
                          </a:solidFill>
                          <a:latin typeface="Montserrat"/>
                          <a:ea typeface="Montserrat"/>
                          <a:cs typeface="Montserrat"/>
                          <a:sym typeface="Montserrat"/>
                        </a:rPr>
                        <a:t>Endpoint</a:t>
                      </a:r>
                      <a:endParaRPr/>
                    </a:p>
                  </a:txBody>
                  <a:tcPr marT="45725" marB="45725" marR="91450" marL="91450" anchor="ctr">
                    <a:solidFill>
                      <a:srgbClr val="1E6FB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FFFFFF"/>
                          </a:solidFill>
                          <a:latin typeface="Montserrat"/>
                          <a:ea typeface="Montserrat"/>
                          <a:cs typeface="Montserrat"/>
                          <a:sym typeface="Montserrat"/>
                        </a:rPr>
                        <a:t>What it does</a:t>
                      </a:r>
                      <a:endParaRPr/>
                    </a:p>
                  </a:txBody>
                  <a:tcPr marT="45725" marB="45725" marR="91450" marL="91450" anchor="ctr">
                    <a:solidFill>
                      <a:srgbClr val="1E6FB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POST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/images</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Upload a photo; quality check runs at once</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/images/{id}</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512 x 512 preprocessed photo</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/images/{id}/original</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Photo as uploaded</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DELETE</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/images/{id}</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Discard an unscreened photo (retake)</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/heatmaps/{id}</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Heatmap image (mock for now)</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POST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/screenings</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Screen a photo, or skip an eye</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/screenings</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History, newest first</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/screenings/{id}</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Results of one screening</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/screenings/{id}/export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Screening summary (PDF)</a:t>
                      </a:r>
                      <a:endParaRPr/>
                    </a:p>
                  </a:txBody>
                  <a:tcPr marT="45725" marB="45725" marR="91450" marL="91450" anchor="ctr">
                    <a:solidFill>
                      <a:srgbClr val="FFFFFF"/>
                    </a:solidFill>
                  </a:tcPr>
                </a:tc>
              </a:tr>
              <a:tr h="502925">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GET</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1" lang="en-US" spc="0" sz="1200" u="none" cap="none" strike="noStrike">
                          <a:solidFill>
                            <a:srgbClr val="111111"/>
                          </a:solidFill>
                          <a:latin typeface="Montserrat"/>
                          <a:ea typeface="Montserrat"/>
                          <a:cs typeface="Montserrat"/>
                          <a:sym typeface="Montserrat"/>
                        </a:rPr>
                        <a:t>/model</a:t>
                      </a:r>
                      <a:endParaRPr/>
                    </a:p>
                  </a:txBody>
                  <a:tcPr marT="45725" marB="45725" marR="91450" marL="91450" anchor="ctr">
                    <a:solidFill>
                      <a:srgbClr val="FFFFFF"/>
                    </a:solidFill>
                  </a:tcPr>
                </a:tc>
                <a:tc>
                  <a:txBody>
                    <a:bodyPr/>
                    <a:lstStyle/>
                    <a:p>
                      <a:pPr indent="0" lvl="0" marL="0" marR="0" rtl="0" algn="l">
                        <a:lnSpc>
                          <a:spcPct val="100000"/>
                        </a:lnSpc>
                        <a:spcBef>
                          <a:spcPts val="0"/>
                        </a:spcBef>
                        <a:spcAft>
                          <a:spcPts val="0"/>
                        </a:spcAft>
                        <a:buNone/>
                      </a:pPr>
                      <a:r>
                        <a:rPr b="0" lang="en-US" spc="0" sz="1200" u="none" cap="none" strike="noStrike">
                          <a:solidFill>
                            <a:srgbClr val="3D3D3D"/>
                          </a:solidFill>
                          <a:latin typeface="Montserrat"/>
                          <a:ea typeface="Montserrat"/>
                          <a:cs typeface="Montserrat"/>
                          <a:sym typeface="Montserrat"/>
                        </a:rPr>
                        <a:t>Model version and thresholds</a:t>
                      </a:r>
                      <a:endParaRPr/>
                    </a:p>
                  </a:txBody>
                  <a:tcPr marT="45725" marB="45725" marR="91450" marL="91450" anchor="ctr">
                    <a:solidFill>
                      <a:srgbClr val="FFFFFF"/>
                    </a:solidFill>
                  </a:tcPr>
                </a:tc>
              </a:tr>
            </a:tbl>
          </a:graphicData>
        </a:graphic>
      </p:graphicFrame>
      <p:sp>
        <p:nvSpPr>
          <p:cNvPr id="1038" name="Google Shape;1038;h582754c433727a4c_0_140"/>
          <p:cNvSpPr/>
          <p:nvPr/>
        </p:nvSpPr>
        <p:spPr>
          <a:xfrm>
            <a:off x="1051560" y="8366760"/>
            <a:ext cx="16194000" cy="1005900"/>
          </a:xfrm>
          <a:prstGeom prst="roundRect">
            <a:avLst>
              <a:gd fmla="val 4000" name="adj"/>
            </a:avLst>
          </a:prstGeom>
          <a:solidFill>
            <a:srgbClr val="E8F1F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1039" name="Google Shape;1039;h582754c433727a4c_0_140"/>
          <p:cNvSpPr txBox="1"/>
          <p:nvPr/>
        </p:nvSpPr>
        <p:spPr>
          <a:xfrm>
            <a:off x="1325880" y="8503920"/>
            <a:ext cx="15636300" cy="431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lang="en-US">
                <a:solidFill>
                  <a:srgbClr val="111111"/>
                </a:solidFill>
                <a:latin typeface="Montserrat"/>
                <a:ea typeface="Montserrat"/>
                <a:cs typeface="Montserrat"/>
                <a:sym typeface="Montserrat"/>
              </a:rPr>
              <a:t>FastAPI with Supabase (PostgreSQL and photo storage). </a:t>
            </a:r>
            <a:r>
              <a:rPr lang="en-US">
                <a:solidFill>
                  <a:srgbClr val="111111"/>
                </a:solidFill>
                <a:latin typeface="Montserrat"/>
                <a:ea typeface="Montserrat"/>
                <a:cs typeface="Montserrat"/>
                <a:sym typeface="Montserrat"/>
              </a:rPr>
              <a:t>The endpoints are unchanged. The API tests were written for the earlier SQLite version; updating them for Supabase is planned for Sprint 2.</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3" name="Shape 1043"/>
        <p:cNvGrpSpPr/>
        <p:nvPr/>
      </p:nvGrpSpPr>
      <p:grpSpPr>
        <a:xfrm>
          <a:off x="0" y="0"/>
          <a:ext cx="0" cy="0"/>
          <a:chOff x="0" y="0"/>
          <a:chExt cx="0" cy="0"/>
        </a:xfrm>
      </p:grpSpPr>
      <p:sp>
        <p:nvSpPr>
          <p:cNvPr id="1044" name="Google Shape;1044;h582754c433727a4c_0_151"/>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5" name="Google Shape;1045;h582754c433727a4c_0_151"/>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15 · DEMO</a:t>
            </a:r>
            <a:endParaRPr b="0" i="0" sz="1800" u="none" cap="none" strike="noStrike">
              <a:solidFill>
                <a:schemeClr val="dk1"/>
              </a:solidFill>
              <a:latin typeface="Montserrat"/>
              <a:ea typeface="Montserrat"/>
              <a:cs typeface="Montserrat"/>
              <a:sym typeface="Montserrat"/>
            </a:endParaRPr>
          </a:p>
        </p:txBody>
      </p:sp>
      <p:sp>
        <p:nvSpPr>
          <p:cNvPr id="1046" name="Google Shape;1046;h582754c433727a4c_0_151"/>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rtl="0" algn="l">
              <a:spcBef>
                <a:spcPts val="0"/>
              </a:spcBef>
              <a:spcAft>
                <a:spcPts val="0"/>
              </a:spcAft>
              <a:buClr>
                <a:srgbClr val="111111"/>
              </a:buClr>
              <a:buSzPts val="4200"/>
              <a:buFont typeface="Montserrat"/>
              <a:buNone/>
            </a:pPr>
            <a:r>
              <a:rPr b="1" lang="en-US" sz="4200">
                <a:solidFill>
                  <a:srgbClr val="111111"/>
                </a:solidFill>
                <a:latin typeface="Montserrat"/>
                <a:ea typeface="Montserrat"/>
                <a:cs typeface="Montserrat"/>
                <a:sym typeface="Montserrat"/>
              </a:rPr>
              <a:t>API: what the back end offers</a:t>
            </a:r>
            <a:endParaRPr b="1" sz="4200">
              <a:solidFill>
                <a:srgbClr val="111111"/>
              </a:solidFill>
              <a:latin typeface="Montserrat"/>
              <a:ea typeface="Montserrat"/>
              <a:cs typeface="Montserrat"/>
              <a:sym typeface="Montserrat"/>
            </a:endParaRPr>
          </a:p>
        </p:txBody>
      </p:sp>
      <p:pic>
        <p:nvPicPr>
          <p:cNvPr descr="preencoded.png" id="1047" name="Google Shape;1047;h582754c433727a4c_0_151"/>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descr="crop_api_a.png" id="1048" name="Google Shape;1048;h582754c433727a4c_0_151"/>
          <p:cNvPicPr preferRelativeResize="0"/>
          <p:nvPr/>
        </p:nvPicPr>
        <p:blipFill rotWithShape="1">
          <a:blip r:embed="rId4">
            <a:alphaModFix/>
          </a:blip>
          <a:srcRect b="0" l="0" r="0" t="0"/>
          <a:stretch/>
        </p:blipFill>
        <p:spPr>
          <a:xfrm>
            <a:off x="1051560" y="2496312"/>
            <a:ext cx="7868410" cy="5010090"/>
          </a:xfrm>
          <a:prstGeom prst="rect">
            <a:avLst/>
          </a:prstGeom>
          <a:noFill/>
          <a:ln cap="flat" cmpd="sng" w="12700">
            <a:solidFill>
              <a:srgbClr val="E5E5E5"/>
            </a:solidFill>
            <a:prstDash val="solid"/>
            <a:round/>
            <a:headEnd len="sm" w="sm" type="none"/>
            <a:tailEnd len="sm" w="sm" type="none"/>
          </a:ln>
        </p:spPr>
      </p:pic>
      <p:sp>
        <p:nvSpPr>
          <p:cNvPr id="1049" name="Google Shape;1049;h582754c433727a4c_0_151"/>
          <p:cNvSpPr txBox="1"/>
          <p:nvPr/>
        </p:nvSpPr>
        <p:spPr>
          <a:xfrm>
            <a:off x="1051560" y="7643562"/>
            <a:ext cx="78684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300" u="none" cap="none" strike="noStrike">
                <a:solidFill>
                  <a:srgbClr val="111111"/>
                </a:solidFill>
                <a:latin typeface="Montserrat"/>
                <a:ea typeface="Montserrat"/>
                <a:cs typeface="Montserrat"/>
                <a:sym typeface="Montserrat"/>
              </a:rPr>
              <a:t>Sign-in and patients</a:t>
            </a:r>
            <a:endParaRPr/>
          </a:p>
        </p:txBody>
      </p:sp>
      <p:pic>
        <p:nvPicPr>
          <p:cNvPr descr="crop_api_b.png" id="1050" name="Google Shape;1050;h582754c433727a4c_0_151"/>
          <p:cNvPicPr preferRelativeResize="0"/>
          <p:nvPr/>
        </p:nvPicPr>
        <p:blipFill rotWithShape="1">
          <a:blip r:embed="rId5">
            <a:alphaModFix/>
          </a:blip>
          <a:srcRect b="0" l="0" r="0" t="0"/>
          <a:stretch/>
        </p:blipFill>
        <p:spPr>
          <a:xfrm>
            <a:off x="9377172" y="2496312"/>
            <a:ext cx="7868410" cy="5716641"/>
          </a:xfrm>
          <a:prstGeom prst="rect">
            <a:avLst/>
          </a:prstGeom>
          <a:noFill/>
          <a:ln cap="flat" cmpd="sng" w="12700">
            <a:solidFill>
              <a:srgbClr val="E5E5E5"/>
            </a:solidFill>
            <a:prstDash val="solid"/>
            <a:round/>
            <a:headEnd len="sm" w="sm" type="none"/>
            <a:tailEnd len="sm" w="sm" type="none"/>
          </a:ln>
        </p:spPr>
      </p:pic>
      <p:sp>
        <p:nvSpPr>
          <p:cNvPr id="1051" name="Google Shape;1051;h582754c433727a4c_0_151"/>
          <p:cNvSpPr txBox="1"/>
          <p:nvPr/>
        </p:nvSpPr>
        <p:spPr>
          <a:xfrm>
            <a:off x="9377172" y="8350114"/>
            <a:ext cx="7868400" cy="200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300" u="none" cap="none" strike="noStrike">
                <a:solidFill>
                  <a:srgbClr val="111111"/>
                </a:solidFill>
                <a:latin typeface="Montserrat"/>
                <a:ea typeface="Montserrat"/>
                <a:cs typeface="Montserrat"/>
                <a:sym typeface="Montserrat"/>
              </a:rPr>
              <a:t>Photos, screenings and model</a:t>
            </a:r>
            <a:endParaRPr/>
          </a:p>
        </p:txBody>
      </p:sp>
      <p:sp>
        <p:nvSpPr>
          <p:cNvPr id="1052" name="Google Shape;1052;h582754c433727a4c_0_151"/>
          <p:cNvSpPr txBox="1"/>
          <p:nvPr/>
        </p:nvSpPr>
        <p:spPr>
          <a:xfrm>
            <a:off x="1051560" y="9418320"/>
            <a:ext cx="16194000" cy="1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200" u="none" cap="none" strike="noStrike">
                <a:solidFill>
                  <a:srgbClr val="7A7A7A"/>
                </a:solidFill>
                <a:latin typeface="Montserrat"/>
                <a:ea typeface="Montserrat"/>
                <a:cs typeface="Montserrat"/>
                <a:sym typeface="Montserrat"/>
              </a:rPr>
              <a:t>Generated by FastAPI at http://localhost:8000/docs when the back end runs. Each endpoint can be tried from this page.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6" name="Shape 1056"/>
        <p:cNvGrpSpPr/>
        <p:nvPr/>
      </p:nvGrpSpPr>
      <p:grpSpPr>
        <a:xfrm>
          <a:off x="0" y="0"/>
          <a:ext cx="0" cy="0"/>
          <a:chOff x="0" y="0"/>
          <a:chExt cx="0" cy="0"/>
        </a:xfrm>
      </p:grpSpPr>
      <p:sp>
        <p:nvSpPr>
          <p:cNvPr id="1057" name="Google Shape;1057;h582754c433727a4c_0_119"/>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h582754c433727a4c_0_119"/>
          <p:cNvSpPr/>
          <p:nvPr/>
        </p:nvSpPr>
        <p:spPr>
          <a:xfrm>
            <a:off x="1047750" y="857250"/>
            <a:ext cx="140001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15 · DEMO</a:t>
            </a:r>
            <a:endParaRPr b="0" i="0" sz="1800" u="none" cap="none" strike="noStrike">
              <a:solidFill>
                <a:schemeClr val="dk1"/>
              </a:solidFill>
              <a:latin typeface="Montserrat"/>
              <a:ea typeface="Montserrat"/>
              <a:cs typeface="Montserrat"/>
              <a:sym typeface="Montserrat"/>
            </a:endParaRPr>
          </a:p>
        </p:txBody>
      </p:sp>
      <p:sp>
        <p:nvSpPr>
          <p:cNvPr id="1059" name="Google Shape;1059;h582754c433727a4c_0_119"/>
          <p:cNvSpPr/>
          <p:nvPr/>
        </p:nvSpPr>
        <p:spPr>
          <a:xfrm>
            <a:off x="1047750" y="1266825"/>
            <a:ext cx="14000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Project demo</a:t>
            </a:r>
            <a:endParaRPr b="0" i="0" sz="4200" u="none" cap="none" strike="noStrike">
              <a:solidFill>
                <a:schemeClr val="dk1"/>
              </a:solidFill>
              <a:latin typeface="Montserrat"/>
              <a:ea typeface="Montserrat"/>
              <a:cs typeface="Montserrat"/>
              <a:sym typeface="Montserrat"/>
            </a:endParaRPr>
          </a:p>
        </p:txBody>
      </p:sp>
      <p:pic>
        <p:nvPicPr>
          <p:cNvPr descr="preencoded.png" id="1060" name="Google Shape;1060;h582754c433727a4c_0_119"/>
          <p:cNvPicPr preferRelativeResize="0"/>
          <p:nvPr/>
        </p:nvPicPr>
        <p:blipFill rotWithShape="1">
          <a:blip r:embed="rId3">
            <a:alphaModFix/>
          </a:blip>
          <a:srcRect b="-3810" l="0" r="0" t="-3810"/>
          <a:stretch/>
        </p:blipFill>
        <p:spPr>
          <a:xfrm>
            <a:off x="16630650" y="857250"/>
            <a:ext cx="609600" cy="609600"/>
          </a:xfrm>
          <a:prstGeom prst="rect">
            <a:avLst/>
          </a:prstGeom>
          <a:noFill/>
          <a:ln>
            <a:noFill/>
          </a:ln>
        </p:spPr>
      </p:pic>
      <p:pic>
        <p:nvPicPr>
          <p:cNvPr descr="DUAL is a web app that screens for cataract and glaucoma from a single retinal (fundus) photo per eye. It is a triage tool: it helps decide who should see an eye specialist. It does not give a diagnosis.&#10;&#10;This video shows the Sprint 1 prototype of DUAL, built by Team EyeQ for CS691 at Pace University.&#10;&#10;Notes:&#10;&#10;In Sprint 1 the app runs on a placeholder model, so the scores are not real yet. The trained model is connected in a later sprint.&#10;All patients in the app are made up. No real personal data is used." id="1061" name="Google Shape;1061;h582754c433727a4c_0_119" title="DUAL – Sprint 1 Demo | Team EyeQ (CS691, Pace University)">
            <a:hlinkClick r:id="rId4"/>
          </p:cNvPr>
          <p:cNvPicPr preferRelativeResize="0"/>
          <p:nvPr/>
        </p:nvPicPr>
        <p:blipFill>
          <a:blip r:embed="rId5">
            <a:alphaModFix/>
          </a:blip>
          <a:stretch>
            <a:fillRect/>
          </a:stretch>
        </p:blipFill>
        <p:spPr>
          <a:xfrm>
            <a:off x="2692050" y="2162175"/>
            <a:ext cx="12903900" cy="725846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1"/>
                                        </p:tgtEl>
                                        <p:attrNameLst>
                                          <p:attrName>style.visibility</p:attrName>
                                        </p:attrNameLst>
                                      </p:cBhvr>
                                      <p:to>
                                        <p:strVal val="visible"/>
                                      </p:to>
                                    </p:set>
                                    <p:animEffect filter="fade" transition="in">
                                      <p:cBhvr>
                                        <p:cTn dur="1000"/>
                                        <p:tgtEl>
                                          <p:spTgt spid="10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h28947ce295abaad3_2_0"/>
          <p:cNvSpPr/>
          <p:nvPr/>
        </p:nvSpPr>
        <p:spPr>
          <a:xfrm>
            <a:off x="1047750" y="2162175"/>
            <a:ext cx="16192500" cy="9600"/>
          </a:xfrm>
          <a:prstGeom prst="rect">
            <a:avLst/>
          </a:prstGeom>
          <a:solidFill>
            <a:srgbClr val="E5E5E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h28947ce295abaad3_2_0"/>
          <p:cNvSpPr/>
          <p:nvPr/>
        </p:nvSpPr>
        <p:spPr>
          <a:xfrm>
            <a:off x="1047750" y="857250"/>
            <a:ext cx="9000000" cy="3144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E6FBF"/>
              </a:buClr>
              <a:buSzPts val="1800"/>
              <a:buFont typeface="Montserrat"/>
              <a:buNone/>
            </a:pPr>
            <a:r>
              <a:rPr b="1" i="0" lang="en-US" sz="1800" u="none" cap="none" strike="noStrike">
                <a:solidFill>
                  <a:srgbClr val="1E6FBF"/>
                </a:solidFill>
                <a:latin typeface="Montserrat"/>
                <a:ea typeface="Montserrat"/>
                <a:cs typeface="Montserrat"/>
                <a:sym typeface="Montserrat"/>
              </a:rPr>
              <a:t>AI DISCLOSURE</a:t>
            </a:r>
            <a:endParaRPr b="0" i="0" sz="1800" u="none" cap="none" strike="noStrike">
              <a:solidFill>
                <a:srgbClr val="000000"/>
              </a:solidFill>
              <a:latin typeface="Calibri"/>
              <a:ea typeface="Calibri"/>
              <a:cs typeface="Calibri"/>
              <a:sym typeface="Calibri"/>
            </a:endParaRPr>
          </a:p>
        </p:txBody>
      </p:sp>
      <p:sp>
        <p:nvSpPr>
          <p:cNvPr id="1069" name="Google Shape;1069;h28947ce295abaad3_2_0"/>
          <p:cNvSpPr/>
          <p:nvPr/>
        </p:nvSpPr>
        <p:spPr>
          <a:xfrm>
            <a:off x="1047750" y="1266825"/>
            <a:ext cx="6941100" cy="6858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4200"/>
              <a:buFont typeface="Montserrat"/>
              <a:buNone/>
            </a:pPr>
            <a:r>
              <a:rPr b="1" i="0" lang="en-US" sz="4200" u="none" cap="none" strike="noStrike">
                <a:solidFill>
                  <a:srgbClr val="111111"/>
                </a:solidFill>
                <a:latin typeface="Montserrat"/>
                <a:ea typeface="Montserrat"/>
                <a:cs typeface="Montserrat"/>
                <a:sym typeface="Montserrat"/>
              </a:rPr>
              <a:t>Use of AI tools</a:t>
            </a:r>
            <a:endParaRPr b="0" i="0" sz="4200" u="none" cap="none" strike="noStrike">
              <a:solidFill>
                <a:srgbClr val="000000"/>
              </a:solidFill>
              <a:latin typeface="Calibri"/>
              <a:ea typeface="Calibri"/>
              <a:cs typeface="Calibri"/>
              <a:sym typeface="Calibri"/>
            </a:endParaRPr>
          </a:p>
        </p:txBody>
      </p:sp>
      <p:sp>
        <p:nvSpPr>
          <p:cNvPr id="1070" name="Google Shape;1070;h28947ce295abaad3_2_0"/>
          <p:cNvSpPr/>
          <p:nvPr/>
        </p:nvSpPr>
        <p:spPr>
          <a:xfrm>
            <a:off x="1047750" y="2495550"/>
            <a:ext cx="7972500" cy="3654900"/>
          </a:xfrm>
          <a:prstGeom prst="roundRect">
            <a:avLst>
              <a:gd fmla="val 5124"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h28947ce295abaad3_2_0"/>
          <p:cNvSpPr/>
          <p:nvPr/>
        </p:nvSpPr>
        <p:spPr>
          <a:xfrm>
            <a:off x="1333500" y="2781300"/>
            <a:ext cx="8141100" cy="362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Tools used</a:t>
            </a:r>
            <a:endParaRPr b="0" i="0" sz="2100" u="none" cap="none" strike="noStrike">
              <a:solidFill>
                <a:srgbClr val="000000"/>
              </a:solidFill>
              <a:latin typeface="Calibri"/>
              <a:ea typeface="Calibri"/>
              <a:cs typeface="Calibri"/>
              <a:sym typeface="Calibri"/>
            </a:endParaRPr>
          </a:p>
        </p:txBody>
      </p:sp>
      <p:sp>
        <p:nvSpPr>
          <p:cNvPr id="1072" name="Google Shape;1072;h28947ce295abaad3_2_0"/>
          <p:cNvSpPr/>
          <p:nvPr/>
        </p:nvSpPr>
        <p:spPr>
          <a:xfrm>
            <a:off x="1333500" y="3238500"/>
            <a:ext cx="7623000" cy="776400"/>
          </a:xfrm>
          <a:prstGeom prst="rect">
            <a:avLst/>
          </a:prstGeom>
          <a:noFill/>
          <a:ln>
            <a:noFill/>
          </a:ln>
        </p:spPr>
        <p:txBody>
          <a:bodyPr anchorCtr="0" anchor="t" bIns="25400" lIns="25400" spcFirstLastPara="1" rIns="25400" wrap="square" tIns="25400">
            <a:noAutofit/>
          </a:bodyPr>
          <a:lstStyle/>
          <a:p>
            <a:pPr indent="0" lvl="0" marL="0" marR="0" rtl="0" algn="l">
              <a:lnSpc>
                <a:spcPct val="127049"/>
              </a:lnSpc>
              <a:spcBef>
                <a:spcPts val="0"/>
              </a:spcBef>
              <a:spcAft>
                <a:spcPts val="0"/>
              </a:spcAft>
              <a:buClr>
                <a:srgbClr val="3D3D3D"/>
              </a:buClr>
              <a:buSzPts val="1875"/>
              <a:buFont typeface="Montserrat"/>
              <a:buNone/>
            </a:pPr>
            <a:r>
              <a:rPr b="0" i="0" lang="en-US" sz="1800" u="none" cap="none" strike="noStrike">
                <a:solidFill>
                  <a:srgbClr val="3D3D3D"/>
                </a:solidFill>
                <a:latin typeface="Montserrat"/>
                <a:ea typeface="Montserrat"/>
                <a:cs typeface="Montserrat"/>
                <a:sym typeface="Montserrat"/>
              </a:rPr>
              <a:t>The team used AI assistants as support tools during Sprint 1, as allowed by Professor Wong.</a:t>
            </a:r>
            <a:endParaRPr b="0" i="0" sz="1800" u="none" cap="none" strike="noStrike">
              <a:solidFill>
                <a:srgbClr val="000000"/>
              </a:solidFill>
              <a:latin typeface="Calibri"/>
              <a:ea typeface="Calibri"/>
              <a:cs typeface="Calibri"/>
              <a:sym typeface="Calibri"/>
            </a:endParaRPr>
          </a:p>
        </p:txBody>
      </p:sp>
      <p:sp>
        <p:nvSpPr>
          <p:cNvPr id="1073" name="Google Shape;1073;h28947ce295abaad3_2_0"/>
          <p:cNvSpPr/>
          <p:nvPr/>
        </p:nvSpPr>
        <p:spPr>
          <a:xfrm>
            <a:off x="9267825" y="2495550"/>
            <a:ext cx="7972500" cy="3654900"/>
          </a:xfrm>
          <a:prstGeom prst="roundRect">
            <a:avLst>
              <a:gd fmla="val 5124"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h28947ce295abaad3_2_0"/>
          <p:cNvSpPr/>
          <p:nvPr/>
        </p:nvSpPr>
        <p:spPr>
          <a:xfrm>
            <a:off x="9553575" y="2781300"/>
            <a:ext cx="8141100" cy="362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Where it helped</a:t>
            </a:r>
            <a:endParaRPr b="0" i="0" sz="2100" u="none" cap="none" strike="noStrike">
              <a:solidFill>
                <a:srgbClr val="000000"/>
              </a:solidFill>
              <a:latin typeface="Calibri"/>
              <a:ea typeface="Calibri"/>
              <a:cs typeface="Calibri"/>
              <a:sym typeface="Calibri"/>
            </a:endParaRPr>
          </a:p>
        </p:txBody>
      </p:sp>
      <p:sp>
        <p:nvSpPr>
          <p:cNvPr id="1075" name="Google Shape;1075;h28947ce295abaad3_2_0"/>
          <p:cNvSpPr/>
          <p:nvPr/>
        </p:nvSpPr>
        <p:spPr>
          <a:xfrm>
            <a:off x="9553575" y="3238500"/>
            <a:ext cx="7623000" cy="2805684"/>
          </a:xfrm>
          <a:prstGeom prst="rect">
            <a:avLst/>
          </a:prstGeom>
          <a:noFill/>
          <a:ln>
            <a:noFill/>
          </a:ln>
        </p:spPr>
        <p:txBody>
          <a:bodyPr anchorCtr="0" anchor="t" bIns="25400" lIns="25400" spcFirstLastPara="1" rIns="25400" wrap="square" tIns="25400">
            <a:noAutofit/>
          </a:bodyPr>
          <a:lstStyle/>
          <a:p>
            <a:pPr indent="-285750" lvl="0" marL="285750" marR="0" rtl="0" algn="l">
              <a:lnSpc>
                <a:spcPct val="127049"/>
              </a:lnSpc>
              <a:spcBef>
                <a:spcPts val="0"/>
              </a:spcBef>
              <a:spcAft>
                <a:spcPts val="0"/>
              </a:spcAft>
              <a:buClr>
                <a:srgbClr val="3D3D3D"/>
              </a:buClr>
              <a:buSzPts val="1875"/>
              <a:buFont typeface="Arial"/>
              <a:buChar char="•"/>
            </a:pPr>
            <a:r>
              <a:rPr b="0" i="0" lang="en-US" sz="1800" u="none" cap="none" strike="noStrike">
                <a:solidFill>
                  <a:srgbClr val="3D3D3D"/>
                </a:solidFill>
                <a:latin typeface="Montserrat"/>
                <a:ea typeface="Montserrat"/>
                <a:cs typeface="Montserrat"/>
                <a:sym typeface="Montserrat"/>
              </a:rPr>
              <a:t>First, the app design. We used AI to generate the initial screen mockups and our frontend developer used those as references to build the screens in React.</a:t>
            </a:r>
            <a:endParaRPr/>
          </a:p>
          <a:p>
            <a:pPr indent="-285750" lvl="0" marL="285750" marR="0" rtl="0" algn="l">
              <a:lnSpc>
                <a:spcPct val="127049"/>
              </a:lnSpc>
              <a:spcBef>
                <a:spcPts val="0"/>
              </a:spcBef>
              <a:spcAft>
                <a:spcPts val="0"/>
              </a:spcAft>
              <a:buClr>
                <a:srgbClr val="3D3D3D"/>
              </a:buClr>
              <a:buSzPts val="1875"/>
              <a:buFont typeface="Arial"/>
              <a:buChar char="•"/>
            </a:pPr>
            <a:r>
              <a:rPr b="0" i="0" lang="en-US" sz="1800" u="none" cap="none" strike="noStrike">
                <a:solidFill>
                  <a:srgbClr val="3D3D3D"/>
                </a:solidFill>
                <a:latin typeface="Montserrat"/>
                <a:ea typeface="Montserrat"/>
                <a:cs typeface="Montserrat"/>
                <a:sym typeface="Montserrat"/>
              </a:rPr>
              <a:t>Secondly, Personas. The persona images shown earlier were AI generated and represent fictitious people.</a:t>
            </a:r>
            <a:endParaRPr/>
          </a:p>
          <a:p>
            <a:pPr indent="-285750" lvl="0" marL="285750" marR="0" rtl="0" algn="l">
              <a:lnSpc>
                <a:spcPct val="127049"/>
              </a:lnSpc>
              <a:spcBef>
                <a:spcPts val="0"/>
              </a:spcBef>
              <a:spcAft>
                <a:spcPts val="0"/>
              </a:spcAft>
              <a:buClr>
                <a:srgbClr val="3D3D3D"/>
              </a:buClr>
              <a:buSzPts val="1875"/>
              <a:buFont typeface="Arial"/>
              <a:buChar char="•"/>
            </a:pPr>
            <a:r>
              <a:rPr b="0" i="0" lang="en-US" sz="1800" u="none" cap="none" strike="noStrike">
                <a:solidFill>
                  <a:srgbClr val="3D3D3D"/>
                </a:solidFill>
                <a:latin typeface="Montserrat"/>
                <a:ea typeface="Montserrat"/>
                <a:cs typeface="Montserrat"/>
                <a:sym typeface="Montserrat"/>
              </a:rPr>
              <a:t>Third, project organization. We used AI to check our slides and Wiki against the requirements of the course and to prepare backlog tables and burndown charts using Jira data.</a:t>
            </a:r>
            <a:endParaRPr b="0" i="0" sz="1800" u="none" cap="none" strike="noStrike">
              <a:solidFill>
                <a:srgbClr val="000000"/>
              </a:solidFill>
              <a:latin typeface="Calibri"/>
              <a:ea typeface="Calibri"/>
              <a:cs typeface="Calibri"/>
              <a:sym typeface="Calibri"/>
            </a:endParaRPr>
          </a:p>
        </p:txBody>
      </p:sp>
      <p:sp>
        <p:nvSpPr>
          <p:cNvPr id="1076" name="Google Shape;1076;h28947ce295abaad3_2_0"/>
          <p:cNvSpPr/>
          <p:nvPr/>
        </p:nvSpPr>
        <p:spPr>
          <a:xfrm>
            <a:off x="1047750" y="6503098"/>
            <a:ext cx="7972500" cy="3712500"/>
          </a:xfrm>
          <a:prstGeom prst="roundRect">
            <a:avLst>
              <a:gd fmla="val 4105"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h28947ce295abaad3_2_0"/>
          <p:cNvSpPr/>
          <p:nvPr/>
        </p:nvSpPr>
        <p:spPr>
          <a:xfrm>
            <a:off x="1333500" y="6788848"/>
            <a:ext cx="8141100" cy="362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Human review</a:t>
            </a:r>
            <a:endParaRPr b="0" i="0" sz="2100" u="none" cap="none" strike="noStrike">
              <a:solidFill>
                <a:srgbClr val="000000"/>
              </a:solidFill>
              <a:latin typeface="Calibri"/>
              <a:ea typeface="Calibri"/>
              <a:cs typeface="Calibri"/>
              <a:sym typeface="Calibri"/>
            </a:endParaRPr>
          </a:p>
        </p:txBody>
      </p:sp>
      <p:sp>
        <p:nvSpPr>
          <p:cNvPr id="1078" name="Google Shape;1078;h28947ce295abaad3_2_0"/>
          <p:cNvSpPr/>
          <p:nvPr/>
        </p:nvSpPr>
        <p:spPr>
          <a:xfrm>
            <a:off x="1333500" y="7246048"/>
            <a:ext cx="7623000" cy="1145400"/>
          </a:xfrm>
          <a:prstGeom prst="rect">
            <a:avLst/>
          </a:prstGeom>
          <a:noFill/>
          <a:ln>
            <a:noFill/>
          </a:ln>
        </p:spPr>
        <p:txBody>
          <a:bodyPr anchorCtr="0" anchor="t" bIns="25400" lIns="25400" spcFirstLastPara="1" rIns="25400" wrap="square" tIns="25400">
            <a:noAutofit/>
          </a:bodyPr>
          <a:lstStyle/>
          <a:p>
            <a:pPr indent="0" lvl="0" marL="0" marR="0" rtl="0" algn="l">
              <a:lnSpc>
                <a:spcPct val="127049"/>
              </a:lnSpc>
              <a:spcBef>
                <a:spcPts val="0"/>
              </a:spcBef>
              <a:spcAft>
                <a:spcPts val="0"/>
              </a:spcAft>
              <a:buClr>
                <a:srgbClr val="3D3D3D"/>
              </a:buClr>
              <a:buSzPts val="1875"/>
              <a:buFont typeface="Montserrat"/>
              <a:buNone/>
            </a:pPr>
            <a:r>
              <a:rPr b="0" i="0" lang="en-US" sz="1800" u="none" cap="none" strike="noStrike">
                <a:solidFill>
                  <a:srgbClr val="3D3D3D"/>
                </a:solidFill>
                <a:latin typeface="Montserrat"/>
                <a:ea typeface="Montserrat"/>
                <a:cs typeface="Montserrat"/>
                <a:sym typeface="Montserrat"/>
              </a:rPr>
              <a:t>We reviewed and modified AI assisted work prior to using it with our team. We also validated the project data with Jira and GitHub.</a:t>
            </a:r>
            <a:endParaRPr b="0" i="0" sz="1800" u="none" cap="none" strike="noStrike">
              <a:solidFill>
                <a:srgbClr val="000000"/>
              </a:solidFill>
              <a:latin typeface="Calibri"/>
              <a:ea typeface="Calibri"/>
              <a:cs typeface="Calibri"/>
              <a:sym typeface="Calibri"/>
            </a:endParaRPr>
          </a:p>
        </p:txBody>
      </p:sp>
      <p:sp>
        <p:nvSpPr>
          <p:cNvPr id="1079" name="Google Shape;1079;h28947ce295abaad3_2_0"/>
          <p:cNvSpPr/>
          <p:nvPr/>
        </p:nvSpPr>
        <p:spPr>
          <a:xfrm>
            <a:off x="9267825" y="6503098"/>
            <a:ext cx="7972500" cy="3712500"/>
          </a:xfrm>
          <a:prstGeom prst="roundRect">
            <a:avLst>
              <a:gd fmla="val 4105" name="adj"/>
            </a:avLst>
          </a:prstGeom>
          <a:solidFill>
            <a:srgbClr val="F7F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h28947ce295abaad3_2_0"/>
          <p:cNvSpPr/>
          <p:nvPr/>
        </p:nvSpPr>
        <p:spPr>
          <a:xfrm>
            <a:off x="9553575" y="6788848"/>
            <a:ext cx="8141100" cy="362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111111"/>
              </a:buClr>
              <a:buSzPts val="2100"/>
              <a:buFont typeface="Montserrat"/>
              <a:buNone/>
            </a:pPr>
            <a:r>
              <a:rPr b="1" i="0" lang="en-US" sz="2100" u="none" cap="none" strike="noStrike">
                <a:solidFill>
                  <a:srgbClr val="111111"/>
                </a:solidFill>
                <a:latin typeface="Montserrat"/>
                <a:ea typeface="Montserrat"/>
                <a:cs typeface="Montserrat"/>
                <a:sym typeface="Montserrat"/>
              </a:rPr>
              <a:t>Responsibility</a:t>
            </a:r>
            <a:endParaRPr b="0" i="0" sz="2100" u="none" cap="none" strike="noStrike">
              <a:solidFill>
                <a:srgbClr val="000000"/>
              </a:solidFill>
              <a:latin typeface="Calibri"/>
              <a:ea typeface="Calibri"/>
              <a:cs typeface="Calibri"/>
              <a:sym typeface="Calibri"/>
            </a:endParaRPr>
          </a:p>
        </p:txBody>
      </p:sp>
      <p:sp>
        <p:nvSpPr>
          <p:cNvPr id="1081" name="Google Shape;1081;h28947ce295abaad3_2_0"/>
          <p:cNvSpPr/>
          <p:nvPr/>
        </p:nvSpPr>
        <p:spPr>
          <a:xfrm>
            <a:off x="9553575" y="7246048"/>
            <a:ext cx="7623000" cy="1514400"/>
          </a:xfrm>
          <a:prstGeom prst="rect">
            <a:avLst/>
          </a:prstGeom>
          <a:noFill/>
          <a:ln>
            <a:noFill/>
          </a:ln>
        </p:spPr>
        <p:txBody>
          <a:bodyPr anchorCtr="0" anchor="t" bIns="25400" lIns="25400" spcFirstLastPara="1" rIns="25400" wrap="square" tIns="25400">
            <a:noAutofit/>
          </a:bodyPr>
          <a:lstStyle/>
          <a:p>
            <a:pPr indent="0" lvl="0" marL="0" marR="0" rtl="0" algn="l">
              <a:lnSpc>
                <a:spcPct val="127049"/>
              </a:lnSpc>
              <a:spcBef>
                <a:spcPts val="0"/>
              </a:spcBef>
              <a:spcAft>
                <a:spcPts val="0"/>
              </a:spcAft>
              <a:buClr>
                <a:srgbClr val="3D3D3D"/>
              </a:buClr>
              <a:buSzPts val="1875"/>
              <a:buFont typeface="Montserrat"/>
              <a:buNone/>
            </a:pPr>
            <a:r>
              <a:rPr b="0" i="0" lang="en-US" sz="1800" u="none" cap="none" strike="noStrike">
                <a:solidFill>
                  <a:srgbClr val="3D3D3D"/>
                </a:solidFill>
                <a:latin typeface="Montserrat"/>
                <a:ea typeface="Montserrat"/>
                <a:cs typeface="Montserrat"/>
                <a:sym typeface="Montserrat"/>
              </a:rPr>
              <a:t>We made all the final decisions, and we are responsible for the code, the documentation and the results we present.</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111"/>
        </a:solidFill>
      </p:bgPr>
    </p:bg>
    <p:spTree>
      <p:nvGrpSpPr>
        <p:cNvPr id="1086" name="Shape 1086"/>
        <p:cNvGrpSpPr/>
        <p:nvPr/>
      </p:nvGrpSpPr>
      <p:grpSpPr>
        <a:xfrm>
          <a:off x="0" y="0"/>
          <a:ext cx="0" cy="0"/>
          <a:chOff x="0" y="0"/>
          <a:chExt cx="0" cy="0"/>
        </a:xfrm>
      </p:grpSpPr>
      <p:pic>
        <p:nvPicPr>
          <p:cNvPr descr="preencoded.png" id="1087" name="Google Shape;1087;p27"/>
          <p:cNvPicPr preferRelativeResize="0"/>
          <p:nvPr/>
        </p:nvPicPr>
        <p:blipFill rotWithShape="1">
          <a:blip r:embed="rId3">
            <a:alphaModFix/>
          </a:blip>
          <a:srcRect b="-3807" l="0" r="0" t="-3807"/>
          <a:stretch/>
        </p:blipFill>
        <p:spPr>
          <a:xfrm>
            <a:off x="857250" y="3459956"/>
            <a:ext cx="952500" cy="952500"/>
          </a:xfrm>
          <a:prstGeom prst="rect">
            <a:avLst/>
          </a:prstGeom>
          <a:noFill/>
          <a:ln>
            <a:noFill/>
          </a:ln>
        </p:spPr>
      </p:pic>
      <p:sp>
        <p:nvSpPr>
          <p:cNvPr id="1088" name="Google Shape;1088;p27"/>
          <p:cNvSpPr/>
          <p:nvPr/>
        </p:nvSpPr>
        <p:spPr>
          <a:xfrm>
            <a:off x="857250" y="4736306"/>
            <a:ext cx="8172450" cy="314325"/>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7DB7F6"/>
              </a:buClr>
              <a:buSzPts val="1800"/>
              <a:buFont typeface="Montserrat"/>
              <a:buNone/>
            </a:pPr>
            <a:r>
              <a:rPr b="1" i="0" lang="en-US" sz="1800" u="none" cap="none" strike="noStrike">
                <a:solidFill>
                  <a:srgbClr val="7DB7F6"/>
                </a:solidFill>
                <a:latin typeface="Montserrat"/>
                <a:ea typeface="Montserrat"/>
                <a:cs typeface="Montserrat"/>
                <a:sym typeface="Montserrat"/>
              </a:rPr>
              <a:t>GROUP WIKI</a:t>
            </a:r>
            <a:endParaRPr b="0" i="0" sz="1800" u="none" cap="none" strike="noStrike">
              <a:solidFill>
                <a:schemeClr val="dk1"/>
              </a:solidFill>
              <a:latin typeface="Calibri"/>
              <a:ea typeface="Calibri"/>
              <a:cs typeface="Calibri"/>
              <a:sym typeface="Calibri"/>
            </a:endParaRPr>
          </a:p>
        </p:txBody>
      </p:sp>
      <p:sp>
        <p:nvSpPr>
          <p:cNvPr id="1089" name="Google Shape;1089;p27"/>
          <p:cNvSpPr/>
          <p:nvPr/>
        </p:nvSpPr>
        <p:spPr>
          <a:xfrm>
            <a:off x="857250" y="5612606"/>
            <a:ext cx="6985500" cy="3525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E5E5E5"/>
              </a:buClr>
              <a:buSzPts val="2025"/>
              <a:buFont typeface="Montserrat"/>
              <a:buNone/>
            </a:pPr>
            <a:r>
              <a:rPr b="0" i="0" lang="en-US" sz="2025" u="sng" cap="none" strike="noStrike">
                <a:solidFill>
                  <a:schemeClr val="hlink"/>
                </a:solidFill>
                <a:latin typeface="Montserrat"/>
                <a:ea typeface="Montserrat"/>
                <a:cs typeface="Montserrat"/>
                <a:sym typeface="Montserrat"/>
                <a:hlinkClick r:id="rId4"/>
              </a:rPr>
              <a:t>https://github.com/htmw/F2026-Team1/wiki</a:t>
            </a:r>
            <a:r>
              <a:rPr b="0" i="0" lang="en-US" sz="2025" u="none" cap="none" strike="noStrike">
                <a:solidFill>
                  <a:srgbClr val="E5E5E5"/>
                </a:solidFill>
                <a:latin typeface="Montserrat"/>
                <a:ea typeface="Montserrat"/>
                <a:cs typeface="Montserrat"/>
                <a:sym typeface="Montserrat"/>
              </a:rPr>
              <a:t> </a:t>
            </a:r>
            <a:endParaRPr b="0" i="0" sz="2025" u="none" cap="none" strike="noStrike">
              <a:solidFill>
                <a:schemeClr val="dk1"/>
              </a:solidFill>
              <a:latin typeface="Calibri"/>
              <a:ea typeface="Calibri"/>
              <a:cs typeface="Calibri"/>
              <a:sym typeface="Calibri"/>
            </a:endParaRPr>
          </a:p>
        </p:txBody>
      </p:sp>
      <p:sp>
        <p:nvSpPr>
          <p:cNvPr id="1090" name="Google Shape;1090;p27"/>
          <p:cNvSpPr/>
          <p:nvPr/>
        </p:nvSpPr>
        <p:spPr>
          <a:xfrm>
            <a:off x="857250" y="6527006"/>
            <a:ext cx="8172450" cy="338138"/>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E5E5E5"/>
              </a:buClr>
              <a:buSzPts val="1950"/>
              <a:buFont typeface="Montserrat"/>
              <a:buNone/>
            </a:pPr>
            <a:r>
              <a:rPr b="0" i="0" lang="en-US" sz="1950" u="none" cap="none" strike="noStrike">
                <a:solidFill>
                  <a:srgbClr val="E5E5E5"/>
                </a:solidFill>
                <a:latin typeface="Montserrat"/>
                <a:ea typeface="Montserrat"/>
                <a:cs typeface="Montserrat"/>
                <a:sym typeface="Montserrat"/>
              </a:rPr>
              <a:t>Earlier Detection. Brighter Tomorrows.</a:t>
            </a:r>
            <a:endParaRPr b="0" i="0" sz="1950" u="none" cap="none" strike="noStrike">
              <a:solidFill>
                <a:schemeClr val="dk1"/>
              </a:solidFill>
              <a:latin typeface="Calibri"/>
              <a:ea typeface="Calibri"/>
              <a:cs typeface="Calibri"/>
              <a:sym typeface="Calibri"/>
            </a:endParaRPr>
          </a:p>
        </p:txBody>
      </p:sp>
      <p:sp>
        <p:nvSpPr>
          <p:cNvPr id="1091" name="Google Shape;1091;p27"/>
          <p:cNvSpPr/>
          <p:nvPr/>
        </p:nvSpPr>
        <p:spPr>
          <a:xfrm>
            <a:off x="11163300" y="3933825"/>
            <a:ext cx="2419350" cy="2419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92" name="Google Shape;1092;p27"/>
          <p:cNvPicPr preferRelativeResize="0"/>
          <p:nvPr/>
        </p:nvPicPr>
        <p:blipFill rotWithShape="1">
          <a:blip r:embed="rId5">
            <a:alphaModFix/>
          </a:blip>
          <a:srcRect b="0" l="0" r="0" t="0"/>
          <a:stretch/>
        </p:blipFill>
        <p:spPr>
          <a:xfrm>
            <a:off x="11182350" y="3952875"/>
            <a:ext cx="2381250" cy="2381250"/>
          </a:xfrm>
          <a:prstGeom prst="rect">
            <a:avLst/>
          </a:prstGeom>
          <a:noFill/>
          <a:ln>
            <a:noFill/>
          </a:ln>
        </p:spPr>
      </p:pic>
      <p:sp>
        <p:nvSpPr>
          <p:cNvPr id="1093" name="Google Shape;1093;p27"/>
          <p:cNvSpPr/>
          <p:nvPr/>
        </p:nvSpPr>
        <p:spPr>
          <a:xfrm>
            <a:off x="13849350" y="3933825"/>
            <a:ext cx="2419350" cy="2419350"/>
          </a:xfrm>
          <a:prstGeom prst="ellipse">
            <a:avLst/>
          </a:prstGeom>
          <a:noFill/>
          <a:ln cap="flat" cmpd="sng" w="19050">
            <a:solidFill>
              <a:srgbClr val="3D3D3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94" name="Google Shape;1094;p27"/>
          <p:cNvPicPr preferRelativeResize="0"/>
          <p:nvPr/>
        </p:nvPicPr>
        <p:blipFill rotWithShape="1">
          <a:blip r:embed="rId6">
            <a:alphaModFix/>
          </a:blip>
          <a:srcRect b="0" l="0" r="0" t="0"/>
          <a:stretch/>
        </p:blipFill>
        <p:spPr>
          <a:xfrm>
            <a:off x="13868400" y="3952875"/>
            <a:ext cx="2381250" cy="23812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1111"/>
        </a:solidFill>
      </p:bgPr>
    </p:bg>
    <p:spTree>
      <p:nvGrpSpPr>
        <p:cNvPr id="1099" name="Shape 1099"/>
        <p:cNvGrpSpPr/>
        <p:nvPr/>
      </p:nvGrpSpPr>
      <p:grpSpPr>
        <a:xfrm>
          <a:off x="0" y="0"/>
          <a:ext cx="0" cy="0"/>
          <a:chOff x="0" y="0"/>
          <a:chExt cx="0" cy="0"/>
        </a:xfrm>
      </p:grpSpPr>
      <p:pic>
        <p:nvPicPr>
          <p:cNvPr descr="preencoded.png" id="1100" name="Google Shape;1100;p28"/>
          <p:cNvPicPr preferRelativeResize="0"/>
          <p:nvPr/>
        </p:nvPicPr>
        <p:blipFill rotWithShape="1">
          <a:blip r:embed="rId3">
            <a:alphaModFix/>
          </a:blip>
          <a:srcRect b="-3807" l="0" r="0" t="-3807"/>
          <a:stretch/>
        </p:blipFill>
        <p:spPr>
          <a:xfrm>
            <a:off x="8572500" y="3355181"/>
            <a:ext cx="1143000" cy="1143000"/>
          </a:xfrm>
          <a:prstGeom prst="rect">
            <a:avLst/>
          </a:prstGeom>
          <a:noFill/>
          <a:ln>
            <a:noFill/>
          </a:ln>
        </p:spPr>
      </p:pic>
      <p:sp>
        <p:nvSpPr>
          <p:cNvPr id="1101" name="Google Shape;1101;p28"/>
          <p:cNvSpPr/>
          <p:nvPr/>
        </p:nvSpPr>
        <p:spPr>
          <a:xfrm>
            <a:off x="6520011" y="4879181"/>
            <a:ext cx="5772693" cy="952500"/>
          </a:xfrm>
          <a:prstGeom prst="rect">
            <a:avLst/>
          </a:prstGeom>
          <a:noFill/>
          <a:ln>
            <a:noFill/>
          </a:ln>
        </p:spPr>
        <p:txBody>
          <a:bodyPr anchorCtr="0" anchor="t" bIns="25400" lIns="25400" spcFirstLastPara="1" rIns="25400" wrap="square" tIns="25400">
            <a:noAutofit/>
          </a:bodyPr>
          <a:lstStyle/>
          <a:p>
            <a:pPr indent="0" lvl="0" marL="0" marR="0" rtl="0" algn="l">
              <a:lnSpc>
                <a:spcPct val="82051"/>
              </a:lnSpc>
              <a:spcBef>
                <a:spcPts val="0"/>
              </a:spcBef>
              <a:spcAft>
                <a:spcPts val="0"/>
              </a:spcAft>
              <a:buClr>
                <a:srgbClr val="FFFFFF"/>
              </a:buClr>
              <a:buSzPts val="7200"/>
              <a:buFont typeface="Montserrat"/>
              <a:buNone/>
            </a:pPr>
            <a:r>
              <a:rPr b="1" i="0" lang="en-US" sz="7200" u="none" cap="none" strike="noStrike">
                <a:solidFill>
                  <a:srgbClr val="FFFFFF"/>
                </a:solidFill>
                <a:latin typeface="Montserrat"/>
                <a:ea typeface="Montserrat"/>
                <a:cs typeface="Montserrat"/>
                <a:sym typeface="Montserrat"/>
              </a:rPr>
              <a:t>Thank you</a:t>
            </a:r>
            <a:endParaRPr b="0" i="0" sz="7200" u="none" cap="none" strike="noStrike">
              <a:solidFill>
                <a:schemeClr val="dk1"/>
              </a:solidFill>
              <a:latin typeface="Calibri"/>
              <a:ea typeface="Calibri"/>
              <a:cs typeface="Calibri"/>
              <a:sym typeface="Calibri"/>
            </a:endParaRPr>
          </a:p>
        </p:txBody>
      </p:sp>
      <p:sp>
        <p:nvSpPr>
          <p:cNvPr id="1102" name="Google Shape;1102;p28"/>
          <p:cNvSpPr/>
          <p:nvPr/>
        </p:nvSpPr>
        <p:spPr>
          <a:xfrm>
            <a:off x="8572500" y="6174581"/>
            <a:ext cx="1143000" cy="28575"/>
          </a:xfrm>
          <a:prstGeom prst="rect">
            <a:avLst/>
          </a:prstGeom>
          <a:solidFill>
            <a:srgbClr val="7DB7F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28"/>
          <p:cNvSpPr/>
          <p:nvPr/>
        </p:nvSpPr>
        <p:spPr>
          <a:xfrm>
            <a:off x="8111728" y="6584156"/>
            <a:ext cx="2270916" cy="385763"/>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E5E5E5"/>
              </a:buClr>
              <a:buSzPts val="2250"/>
              <a:buFont typeface="Montserrat"/>
              <a:buNone/>
            </a:pPr>
            <a:r>
              <a:rPr b="0" i="0" lang="en-US" sz="2250" u="none" cap="none" strike="noStrike">
                <a:solidFill>
                  <a:srgbClr val="E5E5E5"/>
                </a:solidFill>
                <a:latin typeface="Montserrat"/>
                <a:ea typeface="Montserrat"/>
                <a:cs typeface="Montserrat"/>
                <a:sym typeface="Montserrat"/>
              </a:rPr>
              <a:t>TEAM EYEQ</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